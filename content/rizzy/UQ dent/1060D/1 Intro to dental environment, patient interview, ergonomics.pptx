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73" r:id="rId2"/>
    <p:sldId id="392" r:id="rId3"/>
    <p:sldId id="394" r:id="rId4"/>
    <p:sldId id="395" r:id="rId5"/>
    <p:sldId id="396" r:id="rId6"/>
    <p:sldId id="397" r:id="rId7"/>
    <p:sldId id="399" r:id="rId8"/>
    <p:sldId id="398" r:id="rId9"/>
    <p:sldId id="400" r:id="rId10"/>
    <p:sldId id="401" r:id="rId11"/>
    <p:sldId id="418" r:id="rId12"/>
    <p:sldId id="420" r:id="rId13"/>
    <p:sldId id="419" r:id="rId14"/>
    <p:sldId id="421" r:id="rId15"/>
    <p:sldId id="422" r:id="rId16"/>
    <p:sldId id="423" r:id="rId17"/>
    <p:sldId id="425" r:id="rId18"/>
    <p:sldId id="424" r:id="rId19"/>
    <p:sldId id="410" r:id="rId20"/>
    <p:sldId id="413" r:id="rId21"/>
    <p:sldId id="402" r:id="rId22"/>
    <p:sldId id="403" r:id="rId23"/>
    <p:sldId id="404" r:id="rId24"/>
    <p:sldId id="417" r:id="rId25"/>
    <p:sldId id="409" r:id="rId26"/>
    <p:sldId id="414" r:id="rId27"/>
    <p:sldId id="415" r:id="rId28"/>
    <p:sldId id="416" r:id="rId29"/>
    <p:sldId id="426" r:id="rId30"/>
    <p:sldId id="429" r:id="rId31"/>
    <p:sldId id="427" r:id="rId32"/>
    <p:sldId id="430" r:id="rId33"/>
    <p:sldId id="431" r:id="rId34"/>
    <p:sldId id="432" r:id="rId35"/>
    <p:sldId id="433" r:id="rId36"/>
    <p:sldId id="435" r:id="rId37"/>
    <p:sldId id="434" r:id="rId38"/>
    <p:sldId id="436" r:id="rId39"/>
    <p:sldId id="393" r:id="rId40"/>
    <p:sldId id="374" r:id="rId41"/>
    <p:sldId id="407" r:id="rId42"/>
    <p:sldId id="406" r:id="rId43"/>
    <p:sldId id="405" r:id="rId44"/>
    <p:sldId id="408" r:id="rId45"/>
    <p:sldId id="36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C800D76-3C72-4CB3-9FC9-AADDB526D820}">
          <p14:sldIdLst>
            <p14:sldId id="373"/>
            <p14:sldId id="392"/>
            <p14:sldId id="394"/>
            <p14:sldId id="395"/>
            <p14:sldId id="396"/>
            <p14:sldId id="397"/>
            <p14:sldId id="399"/>
            <p14:sldId id="398"/>
            <p14:sldId id="400"/>
            <p14:sldId id="401"/>
            <p14:sldId id="418"/>
            <p14:sldId id="420"/>
            <p14:sldId id="419"/>
            <p14:sldId id="421"/>
            <p14:sldId id="422"/>
            <p14:sldId id="423"/>
            <p14:sldId id="425"/>
            <p14:sldId id="424"/>
            <p14:sldId id="410"/>
            <p14:sldId id="413"/>
            <p14:sldId id="402"/>
            <p14:sldId id="403"/>
            <p14:sldId id="404"/>
            <p14:sldId id="417"/>
            <p14:sldId id="409"/>
            <p14:sldId id="414"/>
            <p14:sldId id="415"/>
            <p14:sldId id="416"/>
            <p14:sldId id="426"/>
            <p14:sldId id="429"/>
            <p14:sldId id="427"/>
            <p14:sldId id="430"/>
            <p14:sldId id="431"/>
            <p14:sldId id="432"/>
            <p14:sldId id="433"/>
            <p14:sldId id="435"/>
            <p14:sldId id="434"/>
            <p14:sldId id="436"/>
            <p14:sldId id="393"/>
            <p14:sldId id="374"/>
            <p14:sldId id="407"/>
            <p14:sldId id="406"/>
            <p14:sldId id="405"/>
            <p14:sldId id="408"/>
            <p14:sldId id="3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1CC"/>
    <a:srgbClr val="999490"/>
    <a:srgbClr val="962A8B"/>
    <a:srgbClr val="C8AE73"/>
    <a:srgbClr val="FBB800"/>
    <a:srgbClr val="00539B"/>
    <a:srgbClr val="F01D27"/>
    <a:srgbClr val="D8C726"/>
    <a:srgbClr val="77BD43"/>
    <a:srgbClr val="F08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35" autoAdjust="0"/>
    <p:restoredTop sz="95493" autoAdjust="0"/>
  </p:normalViewPr>
  <p:slideViewPr>
    <p:cSldViewPr showGuides="1">
      <p:cViewPr varScale="1">
        <p:scale>
          <a:sx n="103" d="100"/>
          <a:sy n="103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9/02/2026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to know the difference because:</a:t>
            </a:r>
          </a:p>
          <a:p>
            <a:r>
              <a:rPr lang="en-US" dirty="0"/>
              <a:t>We want to know when sterilization or disinfection is more appropriate for certain equipment.</a:t>
            </a:r>
          </a:p>
          <a:p>
            <a:r>
              <a:rPr lang="en-US" dirty="0"/>
              <a:t>We want to know if sterilization is possible in a patient. But is that possible?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009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this isn’t the correct way to explain water flow as water flow dynamics has a central and peripheral drag component, but the purposes of learning in dental school is to establish a wide understanding of all topics, so we won’t go into specifics.</a:t>
            </a:r>
          </a:p>
          <a:p>
            <a:r>
              <a:rPr lang="en-US" dirty="0"/>
              <a:t>You may have read if you ever looked at the water pipes in car parks or emergency water supplies, they say “non-potable water, unsafe to drink”, that’s what potable is referring to, the CFU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07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5BEF6F-6263-4F8D-8EB5-8791451073CD}"/>
              </a:ext>
            </a:extLst>
          </p:cNvPr>
          <p:cNvSpPr/>
          <p:nvPr userDrawn="1"/>
        </p:nvSpPr>
        <p:spPr bwMode="invGray">
          <a:xfrm>
            <a:off x="0" y="0"/>
            <a:ext cx="12192000" cy="9288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E3223-6328-4488-8A5F-952E87A12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412" t="80198" b="-1"/>
          <a:stretch/>
        </p:blipFill>
        <p:spPr bwMode="ltGray">
          <a:xfrm>
            <a:off x="9852228" y="5499893"/>
            <a:ext cx="2339772" cy="1358107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160745"/>
            <a:ext cx="107382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298" y="2571294"/>
            <a:ext cx="10747200" cy="2675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140420-5D32-4B9D-AAC5-EA821D594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270" r="70475" b="-1"/>
          <a:stretch/>
        </p:blipFill>
        <p:spPr bwMode="ltGray">
          <a:xfrm>
            <a:off x="1" y="4064704"/>
            <a:ext cx="2699772" cy="2793299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1484F3-3D7B-466C-B621-2369AAE0D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4299D2-DE60-4B62-A10B-375899206764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95325" y="1143405"/>
            <a:ext cx="107382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5298" y="2553954"/>
            <a:ext cx="10747200" cy="2675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8" name="Right Triangle 3">
            <a:extLst>
              <a:ext uri="{FF2B5EF4-FFF2-40B4-BE49-F238E27FC236}">
                <a16:creationId xmlns:a16="http://schemas.microsoft.com/office/drawing/2014/main" id="{E49831C3-1265-4B26-84DA-16A7EC28AF57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Graphic 1">
            <a:extLst>
              <a:ext uri="{FF2B5EF4-FFF2-40B4-BE49-F238E27FC236}">
                <a16:creationId xmlns:a16="http://schemas.microsoft.com/office/drawing/2014/main" id="{570549AC-72A0-49C7-B98A-4959B5690850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DF6610-A984-4E2A-B1B8-C6D0294849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143405"/>
            <a:ext cx="10728647" cy="1296144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306" y="2553954"/>
            <a:ext cx="10737592" cy="267524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ltGray">
          <a:xfrm>
            <a:off x="2" y="0"/>
            <a:ext cx="12191999" cy="9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FA41E-EFD5-45E8-BE8D-8CAB28F4BD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4849" y="234886"/>
            <a:ext cx="2988000" cy="452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ADB43-ED09-48C5-A41D-5E4BDF72C85E}"/>
              </a:ext>
            </a:extLst>
          </p:cNvPr>
          <p:cNvSpPr txBox="1"/>
          <p:nvPr userDrawn="1"/>
        </p:nvSpPr>
        <p:spPr>
          <a:xfrm>
            <a:off x="1" y="-1586050"/>
            <a:ext cx="7632171" cy="138499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choose your own image </a:t>
            </a:r>
            <a:br>
              <a:rPr lang="en-AU" sz="1400" dirty="0">
                <a:solidFill>
                  <a:schemeClr val="bg1"/>
                </a:solidFill>
              </a:rPr>
            </a:br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‘Picture’ is already selected</a:t>
            </a:r>
          </a:p>
          <a:p>
            <a:r>
              <a:rPr lang="en-US" sz="1400" dirty="0">
                <a:solidFill>
                  <a:schemeClr val="bg1"/>
                </a:solidFill>
              </a:rPr>
              <a:t>Go to the ‘File’ button and select another image</a:t>
            </a:r>
          </a:p>
          <a:p>
            <a:r>
              <a:rPr lang="en-US" sz="1400" dirty="0">
                <a:solidFill>
                  <a:schemeClr val="bg1"/>
                </a:solidFill>
              </a:rPr>
              <a:t>Change text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as necessary to suit the image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1" name="Right Triangle 3">
            <a:extLst>
              <a:ext uri="{FF2B5EF4-FFF2-40B4-BE49-F238E27FC236}">
                <a16:creationId xmlns:a16="http://schemas.microsoft.com/office/drawing/2014/main" id="{5A5C0481-15B5-4619-B80D-C8C9ABD7F904}"/>
              </a:ext>
            </a:extLst>
          </p:cNvPr>
          <p:cNvSpPr/>
          <p:nvPr userDrawn="1"/>
        </p:nvSpPr>
        <p:spPr bwMode="invGray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Graphic 1">
            <a:extLst>
              <a:ext uri="{FF2B5EF4-FFF2-40B4-BE49-F238E27FC236}">
                <a16:creationId xmlns:a16="http://schemas.microsoft.com/office/drawing/2014/main" id="{84EF10FC-E046-43D3-9897-04BE4FF5A176}"/>
              </a:ext>
            </a:extLst>
          </p:cNvPr>
          <p:cNvSpPr/>
          <p:nvPr userDrawn="1"/>
        </p:nvSpPr>
        <p:spPr bwMode="invGray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8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1A2C22-D4CF-4FE0-AF06-038EB2ACB6D9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751603-5D6A-462B-B9E7-98413BF2C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9692" y="275999"/>
            <a:ext cx="3204000" cy="4724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1" name="Right Triangle 3">
            <a:extLst>
              <a:ext uri="{FF2B5EF4-FFF2-40B4-BE49-F238E27FC236}">
                <a16:creationId xmlns:a16="http://schemas.microsoft.com/office/drawing/2014/main" id="{DBA991DB-C059-4DB2-8D91-33D3F3951887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Graphic 1">
            <a:extLst>
              <a:ext uri="{FF2B5EF4-FFF2-40B4-BE49-F238E27FC236}">
                <a16:creationId xmlns:a16="http://schemas.microsoft.com/office/drawing/2014/main" id="{F070BDDD-4427-48C1-9206-C4CC3FAE8AD1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216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Editable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[Divider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[Divider subtitle]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BE33C2-B581-422F-9FF5-AF660C79D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9692" y="275999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3">
            <a:extLst>
              <a:ext uri="{FF2B5EF4-FFF2-40B4-BE49-F238E27FC236}">
                <a16:creationId xmlns:a16="http://schemas.microsoft.com/office/drawing/2014/main" id="{5E92F574-51E7-47B2-86D2-94DAE288E822}"/>
              </a:ext>
            </a:extLst>
          </p:cNvPr>
          <p:cNvSpPr/>
          <p:nvPr userDrawn="1"/>
        </p:nvSpPr>
        <p:spPr bwMode="invGray">
          <a:xfrm>
            <a:off x="2" y="4076700"/>
            <a:ext cx="3407833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31ECE3F-0C43-444E-9F0C-B23F8D3935D2}"/>
              </a:ext>
            </a:extLst>
          </p:cNvPr>
          <p:cNvSpPr/>
          <p:nvPr userDrawn="1"/>
        </p:nvSpPr>
        <p:spPr bwMode="invGray">
          <a:xfrm>
            <a:off x="9192249" y="5584173"/>
            <a:ext cx="2999415" cy="1273828"/>
          </a:xfrm>
          <a:custGeom>
            <a:avLst/>
            <a:gdLst>
              <a:gd name="connsiteX0" fmla="*/ 0 w 2267490"/>
              <a:gd name="connsiteY0" fmla="*/ 0 h 1132541"/>
              <a:gd name="connsiteX1" fmla="*/ 2267490 w 2267490"/>
              <a:gd name="connsiteY1" fmla="*/ 0 h 1132541"/>
              <a:gd name="connsiteX2" fmla="*/ 2267490 w 2267490"/>
              <a:gd name="connsiteY2" fmla="*/ 1132541 h 1132541"/>
              <a:gd name="connsiteX3" fmla="*/ 0 w 2267490"/>
              <a:gd name="connsiteY3" fmla="*/ 1132541 h 1132541"/>
              <a:gd name="connsiteX4" fmla="*/ 0 w 2267490"/>
              <a:gd name="connsiteY4" fmla="*/ 0 h 1132541"/>
              <a:gd name="connsiteX0" fmla="*/ 0 w 2267490"/>
              <a:gd name="connsiteY0" fmla="*/ 1132541 h 1132541"/>
              <a:gd name="connsiteX1" fmla="*/ 2267490 w 2267490"/>
              <a:gd name="connsiteY1" fmla="*/ 0 h 1132541"/>
              <a:gd name="connsiteX2" fmla="*/ 2267490 w 2267490"/>
              <a:gd name="connsiteY2" fmla="*/ 1132541 h 1132541"/>
              <a:gd name="connsiteX3" fmla="*/ 0 w 2267490"/>
              <a:gd name="connsiteY3" fmla="*/ 1132541 h 1132541"/>
              <a:gd name="connsiteX0" fmla="*/ 0 w 2291396"/>
              <a:gd name="connsiteY0" fmla="*/ 857623 h 1132541"/>
              <a:gd name="connsiteX1" fmla="*/ 2291396 w 2291396"/>
              <a:gd name="connsiteY1" fmla="*/ 0 h 1132541"/>
              <a:gd name="connsiteX2" fmla="*/ 2291396 w 2291396"/>
              <a:gd name="connsiteY2" fmla="*/ 1132541 h 1132541"/>
              <a:gd name="connsiteX3" fmla="*/ 0 w 2291396"/>
              <a:gd name="connsiteY3" fmla="*/ 857623 h 1132541"/>
              <a:gd name="connsiteX0" fmla="*/ 0 w 2249561"/>
              <a:gd name="connsiteY0" fmla="*/ 845670 h 1132541"/>
              <a:gd name="connsiteX1" fmla="*/ 2249561 w 2249561"/>
              <a:gd name="connsiteY1" fmla="*/ 0 h 1132541"/>
              <a:gd name="connsiteX2" fmla="*/ 2249561 w 2249561"/>
              <a:gd name="connsiteY2" fmla="*/ 1132541 h 1132541"/>
              <a:gd name="connsiteX3" fmla="*/ 0 w 2249561"/>
              <a:gd name="connsiteY3" fmla="*/ 845670 h 1132541"/>
              <a:gd name="connsiteX0" fmla="*/ 0 w 2249561"/>
              <a:gd name="connsiteY0" fmla="*/ 944560 h 1231431"/>
              <a:gd name="connsiteX1" fmla="*/ 2249561 w 2249561"/>
              <a:gd name="connsiteY1" fmla="*/ 98890 h 1231431"/>
              <a:gd name="connsiteX2" fmla="*/ 2249561 w 2249561"/>
              <a:gd name="connsiteY2" fmla="*/ 1231431 h 1231431"/>
              <a:gd name="connsiteX3" fmla="*/ 0 w 2249561"/>
              <a:gd name="connsiteY3" fmla="*/ 944560 h 1231431"/>
              <a:gd name="connsiteX0" fmla="*/ 0 w 2249561"/>
              <a:gd name="connsiteY0" fmla="*/ 1212084 h 1498955"/>
              <a:gd name="connsiteX1" fmla="*/ 2249561 w 2249561"/>
              <a:gd name="connsiteY1" fmla="*/ 366414 h 1498955"/>
              <a:gd name="connsiteX2" fmla="*/ 2249561 w 2249561"/>
              <a:gd name="connsiteY2" fmla="*/ 1498955 h 1498955"/>
              <a:gd name="connsiteX3" fmla="*/ 0 w 2249561"/>
              <a:gd name="connsiteY3" fmla="*/ 1212084 h 1498955"/>
              <a:gd name="connsiteX0" fmla="*/ 0 w 2249561"/>
              <a:gd name="connsiteY0" fmla="*/ 1016618 h 1303489"/>
              <a:gd name="connsiteX1" fmla="*/ 2249561 w 2249561"/>
              <a:gd name="connsiteY1" fmla="*/ 170948 h 1303489"/>
              <a:gd name="connsiteX2" fmla="*/ 2249561 w 2249561"/>
              <a:gd name="connsiteY2" fmla="*/ 1303489 h 1303489"/>
              <a:gd name="connsiteX3" fmla="*/ 0 w 2249561"/>
              <a:gd name="connsiteY3" fmla="*/ 1016618 h 1303489"/>
              <a:gd name="connsiteX0" fmla="*/ 0 w 2249561"/>
              <a:gd name="connsiteY0" fmla="*/ 1002505 h 1289376"/>
              <a:gd name="connsiteX1" fmla="*/ 2249561 w 2249561"/>
              <a:gd name="connsiteY1" fmla="*/ 156835 h 1289376"/>
              <a:gd name="connsiteX2" fmla="*/ 2249561 w 2249561"/>
              <a:gd name="connsiteY2" fmla="*/ 1289376 h 1289376"/>
              <a:gd name="connsiteX3" fmla="*/ 0 w 2249561"/>
              <a:gd name="connsiteY3" fmla="*/ 1002505 h 1289376"/>
              <a:gd name="connsiteX0" fmla="*/ 0 w 2249561"/>
              <a:gd name="connsiteY0" fmla="*/ 985444 h 1272315"/>
              <a:gd name="connsiteX1" fmla="*/ 2249561 w 2249561"/>
              <a:gd name="connsiteY1" fmla="*/ 139774 h 1272315"/>
              <a:gd name="connsiteX2" fmla="*/ 2249561 w 2249561"/>
              <a:gd name="connsiteY2" fmla="*/ 1272315 h 1272315"/>
              <a:gd name="connsiteX3" fmla="*/ 0 w 2249561"/>
              <a:gd name="connsiteY3" fmla="*/ 985444 h 1272315"/>
              <a:gd name="connsiteX0" fmla="*/ 0 w 2249561"/>
              <a:gd name="connsiteY0" fmla="*/ 979690 h 1266561"/>
              <a:gd name="connsiteX1" fmla="*/ 2249561 w 2249561"/>
              <a:gd name="connsiteY1" fmla="*/ 134020 h 1266561"/>
              <a:gd name="connsiteX2" fmla="*/ 2249561 w 2249561"/>
              <a:gd name="connsiteY2" fmla="*/ 1266561 h 1266561"/>
              <a:gd name="connsiteX3" fmla="*/ 0 w 2249561"/>
              <a:gd name="connsiteY3" fmla="*/ 979690 h 1266561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  <a:gd name="connsiteX0" fmla="*/ 0 w 2249561"/>
              <a:gd name="connsiteY0" fmla="*/ 986957 h 1273828"/>
              <a:gd name="connsiteX1" fmla="*/ 2249561 w 2249561"/>
              <a:gd name="connsiteY1" fmla="*/ 141287 h 1273828"/>
              <a:gd name="connsiteX2" fmla="*/ 2249561 w 2249561"/>
              <a:gd name="connsiteY2" fmla="*/ 1273828 h 1273828"/>
              <a:gd name="connsiteX3" fmla="*/ 0 w 2249561"/>
              <a:gd name="connsiteY3" fmla="*/ 986957 h 127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9561" h="1273828">
                <a:moveTo>
                  <a:pt x="0" y="986957"/>
                </a:moveTo>
                <a:cubicBezTo>
                  <a:pt x="690087" y="358432"/>
                  <a:pt x="1188931" y="-294000"/>
                  <a:pt x="2249561" y="141287"/>
                </a:cubicBezTo>
                <a:lnTo>
                  <a:pt x="2249561" y="1273828"/>
                </a:lnTo>
                <a:cubicBezTo>
                  <a:pt x="1762671" y="1220039"/>
                  <a:pt x="570560" y="550676"/>
                  <a:pt x="0" y="9869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800" dirty="0">
                <a:noFill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06B291-BD26-4DBD-A912-E9396BA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700811"/>
            <a:ext cx="10768680" cy="1224137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2AC3715-D94B-4A73-8E94-CAC9D5806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6" y="3113744"/>
            <a:ext cx="10768680" cy="2043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240"/>
              </a:lnSpc>
              <a:buNone/>
              <a:defRPr sz="2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E7FD6-C4AB-456C-8186-F8E8B285CBB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CEDD3B-B2C6-4C8F-88C7-30EB2A949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5400BA-682A-4644-881E-9D9BA0DAB8F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DB10F3-61E9-4E77-9DC7-82D405E3EBB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10801350" cy="4608512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Bef>
                <a:spcPts val="1200"/>
              </a:spcBef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66B75CD-5CD6-4D07-B08A-ACCB61480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099731-84D7-49CC-91E0-CE4B073467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CA4A0C-C5B9-45ED-9D64-B274EE980802}"/>
              </a:ext>
            </a:extLst>
          </p:cNvPr>
          <p:cNvSpPr txBox="1"/>
          <p:nvPr userDrawn="1"/>
        </p:nvSpPr>
        <p:spPr>
          <a:xfrm>
            <a:off x="8096810" y="6518190"/>
            <a:ext cx="2391677" cy="24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AU" sz="800" dirty="0"/>
              <a:t>CRICOS code 00025B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BA0F0A-82FA-4477-B553-959A8EFB7E8F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695325" y="151136"/>
            <a:ext cx="3384549" cy="241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E617285-D1B4-4CCD-B438-9B032C51AF7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5325" y="1700213"/>
            <a:ext cx="5218859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sz="2400" dirty="0"/>
            </a:lvl5pPr>
            <a:lvl6pPr>
              <a:defRPr lang="en-AU" sz="2000" dirty="0"/>
            </a:lvl6pPr>
            <a:lvl7pPr>
              <a:defRPr lang="en-AU" dirty="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8619" y="1700213"/>
            <a:ext cx="5220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 lang="en-AU" dirty="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9C4661F-54FC-4886-BD67-85311864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8CF3B12-4A8B-4A18-B3B1-784A4DEDEF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275DB1-C9CB-4BE5-B284-7833AD9028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261A5-F8C2-49CF-AE4B-80932D43C55C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DE9F9C2-C2B0-4B19-9F8F-A1280EA275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276872"/>
            <a:ext cx="10801350" cy="4031853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Bef>
                <a:spcPts val="1200"/>
              </a:spcBef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D6D02D-851A-425B-9382-05F6C6A21A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1700808"/>
            <a:ext cx="10801350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7739A71-8D07-4132-9F5A-AE8E3A1B32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8DC2F2-9186-47D8-9B5E-AD01B90E6DD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CDB56B-4EE8-4A95-A470-557D6FBBEB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C6DF2CA-8642-47E7-98D3-A7019416A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B2684-2D18-4E6D-8AA2-AD850CFD2770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F89E8-AEA0-41B7-97D7-227B19E804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2279553"/>
            <a:ext cx="5220000" cy="3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lang="en-AU" dirty="0"/>
            </a:lvl5pPr>
            <a:lvl6pPr>
              <a:defRPr b="0"/>
            </a:lvl6pPr>
          </a:lstStyle>
          <a:p>
            <a:pPr lvl="5"/>
            <a:r>
              <a:rPr lang="en-US" dirty="0"/>
              <a:t>[Graph title]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3F161-17EB-4DA5-BE00-069D1277B92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95326" y="2696388"/>
            <a:ext cx="5220000" cy="3612337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324DF9C-3E8A-469C-8FC9-4938DAA322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9511" y="2279553"/>
            <a:ext cx="5220000" cy="3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accent1"/>
                </a:solidFill>
              </a:defRPr>
            </a:lvl1pPr>
            <a:lvl2pPr>
              <a:defRPr sz="1200">
                <a:solidFill>
                  <a:schemeClr val="accent1"/>
                </a:solidFill>
              </a:defRPr>
            </a:lvl2pPr>
            <a:lvl3pPr>
              <a:defRPr sz="12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lang="en-AU" dirty="0"/>
            </a:lvl5pPr>
            <a:lvl6pPr>
              <a:defRPr b="0"/>
            </a:lvl6pPr>
          </a:lstStyle>
          <a:p>
            <a:pPr lvl="5"/>
            <a:r>
              <a:rPr lang="en-US" dirty="0"/>
              <a:t>[Graph title]</a:t>
            </a:r>
            <a:endParaRPr lang="en-AU" dirty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A027F0FB-D735-4865-B5EA-A50B34F47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79511" y="2696388"/>
            <a:ext cx="5220000" cy="3612337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E7F11A-C7DA-440F-83D7-3571E1FAF1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7" y="1699200"/>
            <a:ext cx="10772776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7ABDCDB-C6CD-4C8C-A5E2-31920BCF5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7154F-DE85-4B92-BE63-FC9C5B0FC14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08FAE1-741A-4147-AD4A-766CC098B7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701168E-769B-45DB-AFDD-B10DB12B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B90A4-353C-48E3-A991-1B0A2B9809C7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700212"/>
            <a:ext cx="10801350" cy="21600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95325" y="4149320"/>
            <a:ext cx="10801350" cy="21600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4204264-ED99-42CA-9AA0-998A63609F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99E85-067E-4D25-84D4-D21BC7C23B71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C68E48-49B8-418B-BA86-C6FED8002F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21DDE5F-D7FC-442F-B28B-E2BE2051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04F0F0-FDFF-43C7-9188-2DB30D5D1563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FF82D3-6289-409B-A057-3D813BA14F7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1700213"/>
            <a:ext cx="3384342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F6BB689-6536-431A-8821-1D05F11A490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06607" y="1700213"/>
            <a:ext cx="3384000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E3EE136-4551-4345-9B3F-12045A92B8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12597" y="1700213"/>
            <a:ext cx="3384000" cy="460851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0070F8D-A181-4941-8E6E-89B3B6A12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13AAF-B990-435A-8393-8A687098057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E32DE4-D188-4655-B345-81AD0F7B8A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9DCCA-7638-41AF-BB97-E7C1ADB94B43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506DFC-3F02-4673-B3B1-41D5834D75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F26CCD0-EFB3-4E19-A77F-85F3E0F3366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075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049" y="1700213"/>
            <a:ext cx="7089626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95325" y="1698659"/>
            <a:ext cx="3384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819475F-5544-4974-AE9E-4B8F82C06A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ADCB3-94A1-487D-85FB-8FFC9CDD03A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98469F-EA11-46C7-AAEC-1DCCFFCDF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CD0CC0B-EDBE-4119-B030-67B59342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E031C-D81B-4218-94A1-8E617EC68AED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6" y="1700213"/>
            <a:ext cx="7092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8112676" y="1700213"/>
            <a:ext cx="3384000" cy="46085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9C00F56-0B94-47B9-B665-E10A225FC2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415799-71FD-449D-8349-3495B06EE871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DEB36B-7D7C-483E-8547-AC6A66877E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739D336-33BA-494B-81D0-9D8B47FD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EF3A4-7665-47FA-8B69-9A4F31C18B06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624880"/>
            <a:ext cx="12191999" cy="6233119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lang="en-AU" dirty="0"/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83528B-5613-4179-BFD8-DFE24675A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D19A3-55E4-4A3E-B43F-B4D3EFBE1E1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B58DF6-309B-4BE3-BBE4-1BA28FFD90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D515-B4C3-44B8-9BAA-EEF692FA5A57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1700213"/>
            <a:ext cx="10801349" cy="424910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83528B-5613-4179-BFD8-DFE24675A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FA6F18-A6B9-4002-9AF5-5A621B0ECEA9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667976-37E5-419D-871B-FF7F3279A8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C86CC-8E6A-4F6A-BC10-D9D4BF0CE880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8" y="630979"/>
            <a:ext cx="7784951" cy="6234196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8916" h="5593381">
                <a:moveTo>
                  <a:pt x="454" y="629"/>
                </a:moveTo>
                <a:lnTo>
                  <a:pt x="5198916" y="0"/>
                </a:lnTo>
                <a:lnTo>
                  <a:pt x="5198916" y="5587822"/>
                </a:lnTo>
                <a:lnTo>
                  <a:pt x="1718207" y="5593381"/>
                </a:lnTo>
                <a:cubicBezTo>
                  <a:pt x="689093" y="5283249"/>
                  <a:pt x="-8821" y="3998617"/>
                  <a:pt x="1791" y="3144946"/>
                </a:cubicBezTo>
                <a:cubicBezTo>
                  <a:pt x="3783" y="1941683"/>
                  <a:pt x="-1538" y="1203892"/>
                  <a:pt x="454" y="62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1548D-4CF2-410E-9EAF-5FFD92B8BD25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FFD650-D01F-491D-B510-1C0C7A868A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FCBBC-8906-4BED-9DB4-F37D4356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C9ED7-6517-494A-9E4C-6DF78B8356C4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9776" y="619522"/>
            <a:ext cx="6096132" cy="6238324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1095" h="5597085">
                <a:moveTo>
                  <a:pt x="454" y="4333"/>
                </a:moveTo>
                <a:lnTo>
                  <a:pt x="4070582" y="0"/>
                </a:lnTo>
                <a:cubicBezTo>
                  <a:pt x="4072539" y="1865237"/>
                  <a:pt x="4068136" y="3729906"/>
                  <a:pt x="4070093" y="5595143"/>
                </a:cubicBezTo>
                <a:lnTo>
                  <a:pt x="1718207" y="5597085"/>
                </a:lnTo>
                <a:cubicBezTo>
                  <a:pt x="689093" y="5286953"/>
                  <a:pt x="-8821" y="4002321"/>
                  <a:pt x="1791" y="3148650"/>
                </a:cubicBezTo>
                <a:cubicBezTo>
                  <a:pt x="3783" y="1945387"/>
                  <a:pt x="-1538" y="1207596"/>
                  <a:pt x="454" y="4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939388E-DE68-4319-9112-7BA5E2C40E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5208588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Aft>
                <a:spcPts val="600"/>
              </a:spcAft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D1E0F1-AFFA-42EB-BA75-DA2D4500467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E6FC7D-C34E-46C7-8941-E28D2138AB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80EDC1B-18C6-4124-ACB9-D441CF15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5208587" cy="468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16337-F2DC-4078-961D-7B3BDA5209EB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7980" y="619866"/>
            <a:ext cx="4065161" cy="6239970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0093"/>
              <a:gd name="connsiteY0" fmla="*/ 0 h 5592752"/>
              <a:gd name="connsiteX1" fmla="*/ 2714232 w 4070093"/>
              <a:gd name="connsiteY1" fmla="*/ 3644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2714242"/>
              <a:gd name="connsiteY0" fmla="*/ 0 h 5592752"/>
              <a:gd name="connsiteX1" fmla="*/ 2714232 w 2714242"/>
              <a:gd name="connsiteY1" fmla="*/ 3644 h 5592752"/>
              <a:gd name="connsiteX2" fmla="*/ 2455391 w 2714242"/>
              <a:gd name="connsiteY2" fmla="*/ 5590810 h 5592752"/>
              <a:gd name="connsiteX3" fmla="*/ 1718207 w 2714242"/>
              <a:gd name="connsiteY3" fmla="*/ 5592752 h 5592752"/>
              <a:gd name="connsiteX4" fmla="*/ 1791 w 2714242"/>
              <a:gd name="connsiteY4" fmla="*/ 3144317 h 5592752"/>
              <a:gd name="connsiteX5" fmla="*/ 454 w 2714242"/>
              <a:gd name="connsiteY5" fmla="*/ 0 h 5592752"/>
              <a:gd name="connsiteX0" fmla="*/ 454 w 2714778"/>
              <a:gd name="connsiteY0" fmla="*/ 0 h 5596508"/>
              <a:gd name="connsiteX1" fmla="*/ 2714232 w 2714778"/>
              <a:gd name="connsiteY1" fmla="*/ 3644 h 5596508"/>
              <a:gd name="connsiteX2" fmla="*/ 2714070 w 2714778"/>
              <a:gd name="connsiteY2" fmla="*/ 5596508 h 5596508"/>
              <a:gd name="connsiteX3" fmla="*/ 1718207 w 2714778"/>
              <a:gd name="connsiteY3" fmla="*/ 5592752 h 5596508"/>
              <a:gd name="connsiteX4" fmla="*/ 1791 w 2714778"/>
              <a:gd name="connsiteY4" fmla="*/ 3144317 h 5596508"/>
              <a:gd name="connsiteX5" fmla="*/ 454 w 2714778"/>
              <a:gd name="connsiteY5" fmla="*/ 0 h 5596508"/>
              <a:gd name="connsiteX0" fmla="*/ 454 w 2714070"/>
              <a:gd name="connsiteY0" fmla="*/ 0 h 5596508"/>
              <a:gd name="connsiteX1" fmla="*/ 2709992 w 2714070"/>
              <a:gd name="connsiteY1" fmla="*/ 3644 h 5596508"/>
              <a:gd name="connsiteX2" fmla="*/ 2714070 w 2714070"/>
              <a:gd name="connsiteY2" fmla="*/ 5596508 h 5596508"/>
              <a:gd name="connsiteX3" fmla="*/ 1718207 w 2714070"/>
              <a:gd name="connsiteY3" fmla="*/ 5592752 h 5596508"/>
              <a:gd name="connsiteX4" fmla="*/ 1791 w 2714070"/>
              <a:gd name="connsiteY4" fmla="*/ 3144317 h 5596508"/>
              <a:gd name="connsiteX5" fmla="*/ 454 w 2714070"/>
              <a:gd name="connsiteY5" fmla="*/ 0 h 5596508"/>
              <a:gd name="connsiteX0" fmla="*/ 454 w 2714779"/>
              <a:gd name="connsiteY0" fmla="*/ 2054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2054 h 5598562"/>
              <a:gd name="connsiteX0" fmla="*/ 454 w 2714779"/>
              <a:gd name="connsiteY0" fmla="*/ 7751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7751 h 5598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4779" h="5598562">
                <a:moveTo>
                  <a:pt x="454" y="7751"/>
                </a:moveTo>
                <a:lnTo>
                  <a:pt x="2714233" y="0"/>
                </a:lnTo>
                <a:cubicBezTo>
                  <a:pt x="2716190" y="1865237"/>
                  <a:pt x="2712113" y="3733325"/>
                  <a:pt x="2714070" y="5598562"/>
                </a:cubicBezTo>
                <a:lnTo>
                  <a:pt x="1718207" y="5594806"/>
                </a:lnTo>
                <a:cubicBezTo>
                  <a:pt x="689093" y="5284674"/>
                  <a:pt x="-8821" y="4000042"/>
                  <a:pt x="1791" y="3146371"/>
                </a:cubicBezTo>
                <a:cubicBezTo>
                  <a:pt x="3783" y="1943108"/>
                  <a:pt x="-1538" y="1211014"/>
                  <a:pt x="454" y="7751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939388E-DE68-4319-9112-7BA5E2C40E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7089890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spcAft>
                <a:spcPts val="600"/>
              </a:spcAft>
              <a:defRPr lang="en-US" dirty="0" smtClean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2A31D-86B6-46B8-BB44-FE4A0151AFEC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DB1757-F26E-4E87-887C-D21CB8F0D4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322A0C3-D06A-4B53-BF2D-7247BE3F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708989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D441B-BAF3-4DDF-A5CD-A8E786E8FAAC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9550" y="-3115"/>
            <a:ext cx="7782449" cy="6868289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586635 h 6179387"/>
              <a:gd name="connsiteX1" fmla="*/ 5198916 w 5198916"/>
              <a:gd name="connsiteY1" fmla="*/ 0 h 6179387"/>
              <a:gd name="connsiteX2" fmla="*/ 5198916 w 5198916"/>
              <a:gd name="connsiteY2" fmla="*/ 6173828 h 6179387"/>
              <a:gd name="connsiteX3" fmla="*/ 1718207 w 5198916"/>
              <a:gd name="connsiteY3" fmla="*/ 6179387 h 6179387"/>
              <a:gd name="connsiteX4" fmla="*/ 1791 w 5198916"/>
              <a:gd name="connsiteY4" fmla="*/ 3730952 h 6179387"/>
              <a:gd name="connsiteX5" fmla="*/ 454 w 5198916"/>
              <a:gd name="connsiteY5" fmla="*/ 586635 h 6179387"/>
              <a:gd name="connsiteX0" fmla="*/ 8476 w 5197245"/>
              <a:gd name="connsiteY0" fmla="*/ 39696 h 6179387"/>
              <a:gd name="connsiteX1" fmla="*/ 5197245 w 5197245"/>
              <a:gd name="connsiteY1" fmla="*/ 0 h 6179387"/>
              <a:gd name="connsiteX2" fmla="*/ 5197245 w 5197245"/>
              <a:gd name="connsiteY2" fmla="*/ 6173828 h 6179387"/>
              <a:gd name="connsiteX3" fmla="*/ 1716536 w 5197245"/>
              <a:gd name="connsiteY3" fmla="*/ 6179387 h 6179387"/>
              <a:gd name="connsiteX4" fmla="*/ 120 w 5197245"/>
              <a:gd name="connsiteY4" fmla="*/ 3730952 h 6179387"/>
              <a:gd name="connsiteX5" fmla="*/ 8476 w 5197245"/>
              <a:gd name="connsiteY5" fmla="*/ 39696 h 6179387"/>
              <a:gd name="connsiteX0" fmla="*/ 8476 w 5197245"/>
              <a:gd name="connsiteY0" fmla="*/ 0 h 6139691"/>
              <a:gd name="connsiteX1" fmla="*/ 5146357 w 5197245"/>
              <a:gd name="connsiteY1" fmla="*/ 191044 h 6139691"/>
              <a:gd name="connsiteX2" fmla="*/ 5197245 w 5197245"/>
              <a:gd name="connsiteY2" fmla="*/ 6134132 h 6139691"/>
              <a:gd name="connsiteX3" fmla="*/ 1716536 w 5197245"/>
              <a:gd name="connsiteY3" fmla="*/ 6139691 h 6139691"/>
              <a:gd name="connsiteX4" fmla="*/ 120 w 5197245"/>
              <a:gd name="connsiteY4" fmla="*/ 3691256 h 6139691"/>
              <a:gd name="connsiteX5" fmla="*/ 8476 w 5197245"/>
              <a:gd name="connsiteY5" fmla="*/ 0 h 6139691"/>
              <a:gd name="connsiteX0" fmla="*/ 8476 w 5197245"/>
              <a:gd name="connsiteY0" fmla="*/ 22604 h 6162295"/>
              <a:gd name="connsiteX1" fmla="*/ 5197245 w 5197245"/>
              <a:gd name="connsiteY1" fmla="*/ 0 h 6162295"/>
              <a:gd name="connsiteX2" fmla="*/ 5197245 w 5197245"/>
              <a:gd name="connsiteY2" fmla="*/ 6156736 h 6162295"/>
              <a:gd name="connsiteX3" fmla="*/ 1716536 w 5197245"/>
              <a:gd name="connsiteY3" fmla="*/ 6162295 h 6162295"/>
              <a:gd name="connsiteX4" fmla="*/ 120 w 5197245"/>
              <a:gd name="connsiteY4" fmla="*/ 3713860 h 6162295"/>
              <a:gd name="connsiteX5" fmla="*/ 8476 w 5197245"/>
              <a:gd name="connsiteY5" fmla="*/ 22604 h 6162295"/>
              <a:gd name="connsiteX0" fmla="*/ 2115 w 5197245"/>
              <a:gd name="connsiteY0" fmla="*/ 5512 h 6162295"/>
              <a:gd name="connsiteX1" fmla="*/ 5197245 w 5197245"/>
              <a:gd name="connsiteY1" fmla="*/ 0 h 6162295"/>
              <a:gd name="connsiteX2" fmla="*/ 5197245 w 5197245"/>
              <a:gd name="connsiteY2" fmla="*/ 6156736 h 6162295"/>
              <a:gd name="connsiteX3" fmla="*/ 1716536 w 5197245"/>
              <a:gd name="connsiteY3" fmla="*/ 6162295 h 6162295"/>
              <a:gd name="connsiteX4" fmla="*/ 120 w 5197245"/>
              <a:gd name="connsiteY4" fmla="*/ 3713860 h 6162295"/>
              <a:gd name="connsiteX5" fmla="*/ 2115 w 5197245"/>
              <a:gd name="connsiteY5" fmla="*/ 5512 h 616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7245" h="6162295">
                <a:moveTo>
                  <a:pt x="2115" y="5512"/>
                </a:moveTo>
                <a:lnTo>
                  <a:pt x="5197245" y="0"/>
                </a:lnTo>
                <a:lnTo>
                  <a:pt x="5197245" y="6156736"/>
                </a:lnTo>
                <a:lnTo>
                  <a:pt x="1716536" y="6162295"/>
                </a:lnTo>
                <a:cubicBezTo>
                  <a:pt x="687422" y="5852163"/>
                  <a:pt x="-10492" y="4567531"/>
                  <a:pt x="120" y="3713860"/>
                </a:cubicBezTo>
                <a:cubicBezTo>
                  <a:pt x="2112" y="2510597"/>
                  <a:pt x="123" y="1208775"/>
                  <a:pt x="2115" y="551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D0FAE-3953-4EE5-ADCD-BB5BCA72CF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[Entity Name]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45073E-2992-405B-AB05-A3E6ADD2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02278" y="-2778"/>
            <a:ext cx="6093632" cy="6860624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  <a:gd name="connsiteX0" fmla="*/ 454 w 4070093"/>
              <a:gd name="connsiteY0" fmla="*/ 562667 h 6155419"/>
              <a:gd name="connsiteX1" fmla="*/ 4062101 w 4070093"/>
              <a:gd name="connsiteY1" fmla="*/ 0 h 6155419"/>
              <a:gd name="connsiteX2" fmla="*/ 4070093 w 4070093"/>
              <a:gd name="connsiteY2" fmla="*/ 6153477 h 6155419"/>
              <a:gd name="connsiteX3" fmla="*/ 1718207 w 4070093"/>
              <a:gd name="connsiteY3" fmla="*/ 6155419 h 6155419"/>
              <a:gd name="connsiteX4" fmla="*/ 1791 w 4070093"/>
              <a:gd name="connsiteY4" fmla="*/ 3706984 h 6155419"/>
              <a:gd name="connsiteX5" fmla="*/ 454 w 4070093"/>
              <a:gd name="connsiteY5" fmla="*/ 562667 h 6155419"/>
              <a:gd name="connsiteX0" fmla="*/ 7264 w 4068422"/>
              <a:gd name="connsiteY0" fmla="*/ 15728 h 6155419"/>
              <a:gd name="connsiteX1" fmla="*/ 4060430 w 4068422"/>
              <a:gd name="connsiteY1" fmla="*/ 0 h 6155419"/>
              <a:gd name="connsiteX2" fmla="*/ 4068422 w 4068422"/>
              <a:gd name="connsiteY2" fmla="*/ 6153477 h 6155419"/>
              <a:gd name="connsiteX3" fmla="*/ 1716536 w 4068422"/>
              <a:gd name="connsiteY3" fmla="*/ 6155419 h 6155419"/>
              <a:gd name="connsiteX4" fmla="*/ 120 w 4068422"/>
              <a:gd name="connsiteY4" fmla="*/ 3706984 h 6155419"/>
              <a:gd name="connsiteX5" fmla="*/ 7264 w 4068422"/>
              <a:gd name="connsiteY5" fmla="*/ 15728 h 6155419"/>
              <a:gd name="connsiteX0" fmla="*/ 7264 w 4069425"/>
              <a:gd name="connsiteY0" fmla="*/ 15728 h 6155419"/>
              <a:gd name="connsiteX1" fmla="*/ 4068912 w 4069425"/>
              <a:gd name="connsiteY1" fmla="*/ 0 h 6155419"/>
              <a:gd name="connsiteX2" fmla="*/ 4068422 w 4069425"/>
              <a:gd name="connsiteY2" fmla="*/ 6153477 h 6155419"/>
              <a:gd name="connsiteX3" fmla="*/ 1716536 w 4069425"/>
              <a:gd name="connsiteY3" fmla="*/ 6155419 h 6155419"/>
              <a:gd name="connsiteX4" fmla="*/ 120 w 4069425"/>
              <a:gd name="connsiteY4" fmla="*/ 3706984 h 6155419"/>
              <a:gd name="connsiteX5" fmla="*/ 7264 w 4069425"/>
              <a:gd name="connsiteY5" fmla="*/ 15728 h 6155419"/>
              <a:gd name="connsiteX0" fmla="*/ 3023 w 4069425"/>
              <a:gd name="connsiteY0" fmla="*/ 4334 h 6155419"/>
              <a:gd name="connsiteX1" fmla="*/ 4068912 w 4069425"/>
              <a:gd name="connsiteY1" fmla="*/ 0 h 6155419"/>
              <a:gd name="connsiteX2" fmla="*/ 4068422 w 4069425"/>
              <a:gd name="connsiteY2" fmla="*/ 6153477 h 6155419"/>
              <a:gd name="connsiteX3" fmla="*/ 1716536 w 4069425"/>
              <a:gd name="connsiteY3" fmla="*/ 6155419 h 6155419"/>
              <a:gd name="connsiteX4" fmla="*/ 120 w 4069425"/>
              <a:gd name="connsiteY4" fmla="*/ 3706984 h 6155419"/>
              <a:gd name="connsiteX5" fmla="*/ 3023 w 4069425"/>
              <a:gd name="connsiteY5" fmla="*/ 4334 h 615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425" h="6155419">
                <a:moveTo>
                  <a:pt x="3023" y="4334"/>
                </a:moveTo>
                <a:lnTo>
                  <a:pt x="4068912" y="0"/>
                </a:lnTo>
                <a:cubicBezTo>
                  <a:pt x="4070869" y="1865237"/>
                  <a:pt x="4066465" y="4288240"/>
                  <a:pt x="4068422" y="6153477"/>
                </a:cubicBezTo>
                <a:lnTo>
                  <a:pt x="1716536" y="6155419"/>
                </a:lnTo>
                <a:cubicBezTo>
                  <a:pt x="687422" y="5845287"/>
                  <a:pt x="-10492" y="4560655"/>
                  <a:pt x="120" y="3706984"/>
                </a:cubicBezTo>
                <a:cubicBezTo>
                  <a:pt x="2112" y="2503721"/>
                  <a:pt x="1031" y="1207597"/>
                  <a:pt x="3023" y="43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4E8D8-7819-4122-838F-7CED981EC3B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[Entity Name]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06BD81E-48A0-488B-B875-7D993A64CC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700213"/>
            <a:ext cx="5208587" cy="4598075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7296C6-F9EC-4B3A-9119-76D6C670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5208586" cy="468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4FA68DC-FEFE-4790-B4A5-75AF5CDBE1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0" y="0"/>
            <a:ext cx="10704513" cy="6869113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AU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0C548-DD10-4ED1-BA05-293A119D2A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851" y="-8784"/>
            <a:ext cx="4083149" cy="6868620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0093"/>
              <a:gd name="connsiteY0" fmla="*/ 0 h 5592752"/>
              <a:gd name="connsiteX1" fmla="*/ 2714232 w 4070093"/>
              <a:gd name="connsiteY1" fmla="*/ 3644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2714242"/>
              <a:gd name="connsiteY0" fmla="*/ 0 h 5592752"/>
              <a:gd name="connsiteX1" fmla="*/ 2714232 w 2714242"/>
              <a:gd name="connsiteY1" fmla="*/ 3644 h 5592752"/>
              <a:gd name="connsiteX2" fmla="*/ 2455391 w 2714242"/>
              <a:gd name="connsiteY2" fmla="*/ 5590810 h 5592752"/>
              <a:gd name="connsiteX3" fmla="*/ 1718207 w 2714242"/>
              <a:gd name="connsiteY3" fmla="*/ 5592752 h 5592752"/>
              <a:gd name="connsiteX4" fmla="*/ 1791 w 2714242"/>
              <a:gd name="connsiteY4" fmla="*/ 3144317 h 5592752"/>
              <a:gd name="connsiteX5" fmla="*/ 454 w 2714242"/>
              <a:gd name="connsiteY5" fmla="*/ 0 h 5592752"/>
              <a:gd name="connsiteX0" fmla="*/ 454 w 2714778"/>
              <a:gd name="connsiteY0" fmla="*/ 0 h 5596508"/>
              <a:gd name="connsiteX1" fmla="*/ 2714232 w 2714778"/>
              <a:gd name="connsiteY1" fmla="*/ 3644 h 5596508"/>
              <a:gd name="connsiteX2" fmla="*/ 2714070 w 2714778"/>
              <a:gd name="connsiteY2" fmla="*/ 5596508 h 5596508"/>
              <a:gd name="connsiteX3" fmla="*/ 1718207 w 2714778"/>
              <a:gd name="connsiteY3" fmla="*/ 5592752 h 5596508"/>
              <a:gd name="connsiteX4" fmla="*/ 1791 w 2714778"/>
              <a:gd name="connsiteY4" fmla="*/ 3144317 h 5596508"/>
              <a:gd name="connsiteX5" fmla="*/ 454 w 2714778"/>
              <a:gd name="connsiteY5" fmla="*/ 0 h 5596508"/>
              <a:gd name="connsiteX0" fmla="*/ 454 w 2714070"/>
              <a:gd name="connsiteY0" fmla="*/ 0 h 5596508"/>
              <a:gd name="connsiteX1" fmla="*/ 2709992 w 2714070"/>
              <a:gd name="connsiteY1" fmla="*/ 3644 h 5596508"/>
              <a:gd name="connsiteX2" fmla="*/ 2714070 w 2714070"/>
              <a:gd name="connsiteY2" fmla="*/ 5596508 h 5596508"/>
              <a:gd name="connsiteX3" fmla="*/ 1718207 w 2714070"/>
              <a:gd name="connsiteY3" fmla="*/ 5592752 h 5596508"/>
              <a:gd name="connsiteX4" fmla="*/ 1791 w 2714070"/>
              <a:gd name="connsiteY4" fmla="*/ 3144317 h 5596508"/>
              <a:gd name="connsiteX5" fmla="*/ 454 w 2714070"/>
              <a:gd name="connsiteY5" fmla="*/ 0 h 5596508"/>
              <a:gd name="connsiteX0" fmla="*/ 454 w 2714779"/>
              <a:gd name="connsiteY0" fmla="*/ 2054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2054 h 5598562"/>
              <a:gd name="connsiteX0" fmla="*/ 454 w 2714779"/>
              <a:gd name="connsiteY0" fmla="*/ 7751 h 5598562"/>
              <a:gd name="connsiteX1" fmla="*/ 2714233 w 2714779"/>
              <a:gd name="connsiteY1" fmla="*/ 0 h 5598562"/>
              <a:gd name="connsiteX2" fmla="*/ 2714070 w 2714779"/>
              <a:gd name="connsiteY2" fmla="*/ 5598562 h 5598562"/>
              <a:gd name="connsiteX3" fmla="*/ 1718207 w 2714779"/>
              <a:gd name="connsiteY3" fmla="*/ 5594806 h 5598562"/>
              <a:gd name="connsiteX4" fmla="*/ 1791 w 2714779"/>
              <a:gd name="connsiteY4" fmla="*/ 3146371 h 5598562"/>
              <a:gd name="connsiteX5" fmla="*/ 454 w 2714779"/>
              <a:gd name="connsiteY5" fmla="*/ 7751 h 5598562"/>
              <a:gd name="connsiteX0" fmla="*/ 454 w 2714070"/>
              <a:gd name="connsiteY0" fmla="*/ 571782 h 6162593"/>
              <a:gd name="connsiteX1" fmla="*/ 2707872 w 2714070"/>
              <a:gd name="connsiteY1" fmla="*/ 0 h 6162593"/>
              <a:gd name="connsiteX2" fmla="*/ 2714070 w 2714070"/>
              <a:gd name="connsiteY2" fmla="*/ 6162593 h 6162593"/>
              <a:gd name="connsiteX3" fmla="*/ 1718207 w 2714070"/>
              <a:gd name="connsiteY3" fmla="*/ 6158837 h 6162593"/>
              <a:gd name="connsiteX4" fmla="*/ 1791 w 2714070"/>
              <a:gd name="connsiteY4" fmla="*/ 3710402 h 6162593"/>
              <a:gd name="connsiteX5" fmla="*/ 454 w 2714070"/>
              <a:gd name="connsiteY5" fmla="*/ 571782 h 6162593"/>
              <a:gd name="connsiteX0" fmla="*/ 454 w 2714070"/>
              <a:gd name="connsiteY0" fmla="*/ 7751 h 6162593"/>
              <a:gd name="connsiteX1" fmla="*/ 2707872 w 2714070"/>
              <a:gd name="connsiteY1" fmla="*/ 0 h 6162593"/>
              <a:gd name="connsiteX2" fmla="*/ 2714070 w 2714070"/>
              <a:gd name="connsiteY2" fmla="*/ 6162593 h 6162593"/>
              <a:gd name="connsiteX3" fmla="*/ 1718207 w 2714070"/>
              <a:gd name="connsiteY3" fmla="*/ 6158837 h 6162593"/>
              <a:gd name="connsiteX4" fmla="*/ 1791 w 2714070"/>
              <a:gd name="connsiteY4" fmla="*/ 3710402 h 6162593"/>
              <a:gd name="connsiteX5" fmla="*/ 454 w 2714070"/>
              <a:gd name="connsiteY5" fmla="*/ 7751 h 6162593"/>
              <a:gd name="connsiteX0" fmla="*/ 454 w 2720839"/>
              <a:gd name="connsiteY0" fmla="*/ 7751 h 6162593"/>
              <a:gd name="connsiteX1" fmla="*/ 2720594 w 2720839"/>
              <a:gd name="connsiteY1" fmla="*/ 0 h 6162593"/>
              <a:gd name="connsiteX2" fmla="*/ 2714070 w 2720839"/>
              <a:gd name="connsiteY2" fmla="*/ 6162593 h 6162593"/>
              <a:gd name="connsiteX3" fmla="*/ 1718207 w 2720839"/>
              <a:gd name="connsiteY3" fmla="*/ 6158837 h 6162593"/>
              <a:gd name="connsiteX4" fmla="*/ 1791 w 2720839"/>
              <a:gd name="connsiteY4" fmla="*/ 3710402 h 6162593"/>
              <a:gd name="connsiteX5" fmla="*/ 454 w 2720839"/>
              <a:gd name="connsiteY5" fmla="*/ 7751 h 6162593"/>
              <a:gd name="connsiteX0" fmla="*/ 454 w 2726792"/>
              <a:gd name="connsiteY0" fmla="*/ 7751 h 6162593"/>
              <a:gd name="connsiteX1" fmla="*/ 2720594 w 2726792"/>
              <a:gd name="connsiteY1" fmla="*/ 0 h 6162593"/>
              <a:gd name="connsiteX2" fmla="*/ 2726792 w 2726792"/>
              <a:gd name="connsiteY2" fmla="*/ 6162593 h 6162593"/>
              <a:gd name="connsiteX3" fmla="*/ 1718207 w 2726792"/>
              <a:gd name="connsiteY3" fmla="*/ 6158837 h 6162593"/>
              <a:gd name="connsiteX4" fmla="*/ 1791 w 2726792"/>
              <a:gd name="connsiteY4" fmla="*/ 3710402 h 6162593"/>
              <a:gd name="connsiteX5" fmla="*/ 454 w 2726792"/>
              <a:gd name="connsiteY5" fmla="*/ 7751 h 616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6792" h="6162593">
                <a:moveTo>
                  <a:pt x="454" y="7751"/>
                </a:moveTo>
                <a:lnTo>
                  <a:pt x="2720594" y="0"/>
                </a:lnTo>
                <a:cubicBezTo>
                  <a:pt x="2722551" y="1865237"/>
                  <a:pt x="2724835" y="4297356"/>
                  <a:pt x="2726792" y="6162593"/>
                </a:cubicBezTo>
                <a:lnTo>
                  <a:pt x="1718207" y="6158837"/>
                </a:lnTo>
                <a:cubicBezTo>
                  <a:pt x="689093" y="5848705"/>
                  <a:pt x="-8821" y="4564073"/>
                  <a:pt x="1791" y="3710402"/>
                </a:cubicBezTo>
                <a:cubicBezTo>
                  <a:pt x="3783" y="2507139"/>
                  <a:pt x="-1538" y="1211014"/>
                  <a:pt x="454" y="7751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5BD460-2E08-418B-9ED2-FED7577890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68C9D50-7928-4CA0-BFA2-1AB0032BF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white">
          <a:xfrm>
            <a:off x="695325" y="1700213"/>
            <a:ext cx="7089891" cy="4598075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  <a:lvl6pPr>
              <a:defRPr lang="en-AU" dirty="0"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87536-1667-4319-A130-CF6578DB2C8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95326" y="1052736"/>
            <a:ext cx="7096124" cy="4690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D53B17-CFA2-4153-BA9B-6F2B6C1F6005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>
          <a:xfrm>
            <a:off x="695325" y="151136"/>
            <a:ext cx="2376000" cy="24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[Presentation Title] | [Date]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630978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945E3-14E3-4804-9C19-FEC6CFB9A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6" y="2204864"/>
            <a:ext cx="3384000" cy="4093424"/>
          </a:xfrm>
          <a:prstGeom prst="rect">
            <a:avLst/>
          </a:prstGeom>
        </p:spPr>
        <p:txBody>
          <a:bodyPr/>
          <a:lstStyle>
            <a:lvl1pPr>
              <a:buNone/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8ABAA8-126B-459D-B960-B85E22F49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85752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04000" y="630978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04000" y="3485752"/>
            <a:ext cx="3888000" cy="2844000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7D8A62-4A58-4C23-B0E5-AEF193611E4D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EB74D7-CB6B-47FE-A2A8-7AE5F1DED9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061BA70-9BEA-4AF5-8B24-03EBB3F28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1052736"/>
            <a:ext cx="3384549" cy="10081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A8BB8-1B5E-4246-8A55-FAB9C1E84DFA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5326" y="3447000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9626" y="3447000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676" y="3446253"/>
            <a:ext cx="3384000" cy="286172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9626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2676" y="1700212"/>
            <a:ext cx="3384000" cy="17287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C1E423-DB93-432A-8BB7-4B2613DBF942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590DBB-90A7-43BF-BDD1-CF1C6212F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C1DC6-F03F-4189-B5B9-2FF38EB9C0E6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91720" y="1700808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8" y="2996952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8" y="3271090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49164FB8-D4B8-4D90-B308-464FB278E9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376051" y="1700808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3999" y="2996952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ADAC2D7-6D0E-46B8-9F7A-B4DB99B890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03999" y="3271090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EFE4D8B1-EBB1-4B03-B440-81D22A8A033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063158" y="1700907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FADD90A-0B64-4F90-9B57-FE13E0FCA2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91106" y="299705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ABE4C7F0-C749-4520-AA04-DB6CA99155A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1106" y="3271189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0240862-4D4B-4BB9-8F4B-AA856CD17F5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691720" y="4077242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8" y="537338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477189D-83D5-4749-BD7C-CADC0D1471D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19668" y="5647524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6618C35F-5F01-46A6-BF04-0CA9BDBAAB65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376051" y="4077242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3999" y="537338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AB7F5300-022A-4183-A132-AA8EB6534A6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03999" y="5647524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CE2DF1AF-9EAD-40B3-B73C-07649220B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063158" y="4077341"/>
            <a:ext cx="1439897" cy="119957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icon</a:t>
            </a:r>
          </a:p>
          <a:p>
            <a:endParaRPr lang="en-AU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6" y="537348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B722C2B9-2C83-4877-A90D-0CA01537B0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091106" y="5647623"/>
            <a:ext cx="3384000" cy="648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F019EB-FA99-486B-BA02-92BE7601299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1882F53-3639-4FFE-AFD1-5428267B6B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7AECD-2D0A-4301-9CB8-B765D71F0B6B}"/>
              </a:ext>
            </a:extLst>
          </p:cNvPr>
          <p:cNvSpPr>
            <a:spLocks noGrp="1"/>
          </p:cNvSpPr>
          <p:nvPr>
            <p:ph type="dt" sz="half" idx="38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170" y="1917008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532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BBC08AD-280F-4174-A0CE-490AAFB979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32120" y="1917008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4827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4827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6160" y="1917008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2316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02316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14768" y="1917008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30924" y="3861048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30924" y="4135186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5140AB-DCE2-4DB2-81B5-60470D8E34C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BF142C-8B85-4BCA-8B54-67CC7F92FF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88FC7-59B6-4EA9-ABA6-E3BB2E23FF81}"/>
              </a:ext>
            </a:extLst>
          </p:cNvPr>
          <p:cNvSpPr>
            <a:spLocks noGrp="1"/>
          </p:cNvSpPr>
          <p:nvPr>
            <p:ph type="dt" sz="half" idx="39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3"/>
            <a:ext cx="5400673" cy="4608515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7F97712-4CC3-452D-A157-BEE84E8057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700213"/>
            <a:ext cx="5197808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spcAft>
                <a:spcPts val="600"/>
              </a:spcAft>
              <a:defRPr lang="en-US" dirty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5F6752E-685A-46CF-8D29-A5D4E0013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D1DFD8-8A09-48BC-87A4-4F57F6D6FE1B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6C9786-9794-4BE5-BBFE-4B339825F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 edit Master title style</a:t>
            </a:r>
            <a:endParaRPr lang="en-AU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AFECAB-12EA-4AAC-BBB9-72070BF5947B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2"/>
            <a:ext cx="5400673" cy="4608513"/>
          </a:xfrm>
          <a:prstGeom prst="rect">
            <a:avLst/>
          </a:prstGeom>
          <a:solidFill>
            <a:srgbClr val="962A8B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500BB1C-3C6B-46AF-8AA4-A4BA72712C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2"/>
            <a:ext cx="5209113" cy="460851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74EA24-97F9-47A1-937E-B8E4F5327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11690AC-7C51-47ED-9DD6-4A98D2E79B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CACF9F-55D3-4152-BDFF-84674C07B2B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574170D-AC78-463A-B8E0-8E87954EAB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BA455-94D3-4DB8-AAFA-811D610E138C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3" y="1700213"/>
            <a:ext cx="5400672" cy="4608515"/>
          </a:xfrm>
          <a:prstGeom prst="rect">
            <a:avLst/>
          </a:prstGeom>
          <a:solidFill>
            <a:srgbClr val="D7D1CC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43BCE34-49B7-4BA0-8263-6432C37E47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3"/>
            <a:ext cx="5209113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45A20B-3961-4824-8B5F-42956340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B36345A-6B2C-4967-909A-6BAA4D16DE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A7A291-5EAC-486D-928E-F46ED8B55AD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6EAF7D-7C9B-4789-AC1C-A7AF349D1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5C78F-E1DA-41DF-B969-597539E60F5D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2" y="1700213"/>
            <a:ext cx="5400673" cy="4608512"/>
          </a:xfrm>
          <a:prstGeom prst="rect">
            <a:avLst/>
          </a:prstGeom>
          <a:solidFill>
            <a:srgbClr val="999490"/>
          </a:solidFill>
        </p:spPr>
        <p:txBody>
          <a:bodyPr anchor="ctr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D8A284-12F0-43E7-820E-1E72AC40E1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1700212"/>
            <a:ext cx="5209113" cy="46085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255835-9B81-4FE6-A19A-BDEACE6D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E5F36F7-9D4E-4EA5-882E-DEDD94B59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00394-8C62-4535-AFCB-49065079CFAF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739123-EB1E-4E5F-B70D-F7DEE2CEE7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F0C86-E17F-4FB6-93F4-7CD03DCBD834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7" y="1700213"/>
            <a:ext cx="3384548" cy="4615710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0070F8D-A181-4941-8E6E-89B3B6A12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700213"/>
            <a:ext cx="3384548" cy="4615710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5" y="1692905"/>
            <a:ext cx="3384548" cy="4615710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1AC039-02E7-49D5-B557-F29BDF128A9E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E48569-D32E-4698-B1DF-F6D3A1B42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18496-7854-4AD0-8A2D-922EA1AA164D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6D0029-C709-49E4-ADBE-DE71FBF91E1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4800" y="3593712"/>
            <a:ext cx="5198533" cy="2715015"/>
          </a:xfrm>
          <a:prstGeom prst="rect">
            <a:avLst/>
          </a:prstGeo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 smtClean="0"/>
            </a:lvl5pPr>
            <a:lvl6pPr>
              <a:defRPr lang="en-AU" dirty="0"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42AA681-0A5C-4843-AFF7-8900ED2A6D6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88618" y="2024810"/>
            <a:ext cx="5198400" cy="24278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8619" y="4602158"/>
            <a:ext cx="5198533" cy="1700191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BFF14A-9BDE-42F0-AA14-E13CCFE3E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4800" y="1700808"/>
            <a:ext cx="5198532" cy="17434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47FC4A52-417F-4863-97DD-E656EA43AC9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88619" y="1700809"/>
            <a:ext cx="5198533" cy="324000"/>
          </a:xfrm>
          <a:prstGeom prst="rect">
            <a:avLst/>
          </a:prstGeom>
        </p:spPr>
        <p:txBody>
          <a:bodyPr>
            <a:normAutofit/>
          </a:bodyPr>
          <a:lstStyle>
            <a:lvl5pPr>
              <a:defRPr lang="en-AU" sz="2000" b="1" dirty="0"/>
            </a:lvl5pPr>
          </a:lstStyle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4229EC4-696A-4791-8EB0-396DF61F7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B4A2E-6294-4DC9-8779-3231A7E9B5C2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CAB502-16F2-4A19-97A1-C081D2265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506F8-588F-4C50-8AA3-03099347931D}"/>
              </a:ext>
            </a:extLst>
          </p:cNvPr>
          <p:cNvSpPr>
            <a:spLocks noGrp="1"/>
          </p:cNvSpPr>
          <p:nvPr>
            <p:ph type="dt" sz="half" idx="24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86500" y="2677684"/>
            <a:ext cx="5219998" cy="16154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86500" y="4694142"/>
            <a:ext cx="5219996" cy="161517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7EF0A71-527C-4177-BD73-0A32F4F3B7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6500" y="227965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2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6500" y="4401144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2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279196"/>
            <a:ext cx="5183717" cy="2013899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800" y="4401144"/>
            <a:ext cx="5183717" cy="1908176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AU" dirty="0"/>
            </a:lvl5pPr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688F5021-D4C3-4888-A4D5-06E996CC21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F3FBD-B2FA-4ECC-94B3-AE0A46E7AD40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D1DA3F-F774-45EB-B6E3-EB3EBFC56B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9483DB6-35E8-41E9-930B-445C4EFE7A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700808"/>
            <a:ext cx="10801350" cy="504825"/>
          </a:xfrm>
        </p:spPr>
        <p:txBody>
          <a:bodyPr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382FB-62F4-4C2A-91A5-943967894D42}"/>
              </a:ext>
            </a:extLst>
          </p:cNvPr>
          <p:cNvSpPr>
            <a:spLocks noGrp="1"/>
          </p:cNvSpPr>
          <p:nvPr>
            <p:ph type="dt" sz="half" idx="32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7132BB-77E6-4CDB-BD22-890A94E030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0550" y="6524625"/>
            <a:ext cx="3384667" cy="241300"/>
          </a:xfrm>
        </p:spPr>
        <p:txBody>
          <a:bodyPr anchor="ctr">
            <a:normAutofit/>
          </a:bodyPr>
          <a:lstStyle>
            <a:lvl1pPr algn="ctr">
              <a:defRPr sz="1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#[Hashtag 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FA311-E5C8-49FB-A70D-B5D69EF896F4}"/>
              </a:ext>
            </a:extLst>
          </p:cNvPr>
          <p:cNvSpPr/>
          <p:nvPr userDrawn="1"/>
        </p:nvSpPr>
        <p:spPr bwMode="invGray">
          <a:xfrm flipH="1">
            <a:off x="0" y="0"/>
            <a:ext cx="12192000" cy="630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7DAC2F-25B2-40B2-B3C3-AEDF3893C1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7935" y="152896"/>
            <a:ext cx="1210684" cy="324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3B7EB-0921-47FC-BB02-41C5175DD7EB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white"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070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50E81-A697-4D2A-9C73-3BBE321DFC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2155"/>
          <a:stretch/>
        </p:blipFill>
        <p:spPr>
          <a:xfrm>
            <a:off x="10271272" y="152896"/>
            <a:ext cx="1237347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39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D1DEA-6C0B-48CD-8886-623BD6330C76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694800" y="1082188"/>
            <a:ext cx="10744005" cy="720081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694800" y="1876346"/>
            <a:ext cx="3254263" cy="832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0758AADB-42F9-44FF-A436-0031B6B26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1087509" y="2852939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EB3BAB6-8B24-4F70-BDDC-75B91A4FB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087509" y="3125021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Right Triangle 3">
            <a:extLst>
              <a:ext uri="{FF2B5EF4-FFF2-40B4-BE49-F238E27FC236}">
                <a16:creationId xmlns:a16="http://schemas.microsoft.com/office/drawing/2014/main" id="{98BF4DE5-D126-4077-BBC8-5F3A09BC0E5C}"/>
              </a:ext>
            </a:extLst>
          </p:cNvPr>
          <p:cNvSpPr/>
          <p:nvPr userDrawn="1"/>
        </p:nvSpPr>
        <p:spPr bwMode="white">
          <a:xfrm>
            <a:off x="1" y="4076700"/>
            <a:ext cx="2555875" cy="2781300"/>
          </a:xfrm>
          <a:custGeom>
            <a:avLst/>
            <a:gdLst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  <a:gd name="connsiteX0" fmla="*/ 0 w 2555875"/>
              <a:gd name="connsiteY0" fmla="*/ 2781300 h 2781300"/>
              <a:gd name="connsiteX1" fmla="*/ 0 w 2555875"/>
              <a:gd name="connsiteY1" fmla="*/ 0 h 2781300"/>
              <a:gd name="connsiteX2" fmla="*/ 2555875 w 2555875"/>
              <a:gd name="connsiteY2" fmla="*/ 2781300 h 2781300"/>
              <a:gd name="connsiteX3" fmla="*/ 0 w 2555875"/>
              <a:gd name="connsiteY3" fmla="*/ 278130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5875" h="2781300">
                <a:moveTo>
                  <a:pt x="0" y="2781300"/>
                </a:moveTo>
                <a:lnTo>
                  <a:pt x="0" y="0"/>
                </a:lnTo>
                <a:cubicBezTo>
                  <a:pt x="158687" y="1674158"/>
                  <a:pt x="1584388" y="2511611"/>
                  <a:pt x="2555875" y="2781300"/>
                </a:cubicBezTo>
                <a:lnTo>
                  <a:pt x="0" y="2781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8A2EB93-6CF0-469A-B44D-3B50AF0CEE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087509" y="3415094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1CEC2A5-BF8B-405F-BFB8-A7AC93A346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087509" y="3687176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91147DD-03AA-4BA3-AFAA-F070EDBA9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1087509" y="3957493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Graphic 1">
            <a:extLst>
              <a:ext uri="{FF2B5EF4-FFF2-40B4-BE49-F238E27FC236}">
                <a16:creationId xmlns:a16="http://schemas.microsoft.com/office/drawing/2014/main" id="{6B4A31B5-8366-4D72-B33B-C4528CEC8D4B}"/>
              </a:ext>
            </a:extLst>
          </p:cNvPr>
          <p:cNvSpPr/>
          <p:nvPr userDrawn="1"/>
        </p:nvSpPr>
        <p:spPr bwMode="white">
          <a:xfrm>
            <a:off x="9912424" y="5571759"/>
            <a:ext cx="2279576" cy="1286241"/>
          </a:xfrm>
          <a:custGeom>
            <a:avLst/>
            <a:gdLst>
              <a:gd name="connsiteX0" fmla="*/ 1704499 w 1704975"/>
              <a:gd name="connsiteY0" fmla="*/ 961382 h 962025"/>
              <a:gd name="connsiteX1" fmla="*/ 1172051 w 1704975"/>
              <a:gd name="connsiteY1" fmla="*/ 803267 h 962025"/>
              <a:gd name="connsiteX2" fmla="*/ 589121 w 1704975"/>
              <a:gd name="connsiteY2" fmla="*/ 611815 h 962025"/>
              <a:gd name="connsiteX3" fmla="*/ 7144 w 1704975"/>
              <a:gd name="connsiteY3" fmla="*/ 768977 h 962025"/>
              <a:gd name="connsiteX4" fmla="*/ 764381 w 1704975"/>
              <a:gd name="connsiteY4" fmla="*/ 128897 h 962025"/>
              <a:gd name="connsiteX5" fmla="*/ 1614011 w 1704975"/>
              <a:gd name="connsiteY5" fmla="*/ 72700 h 962025"/>
              <a:gd name="connsiteX6" fmla="*/ 1705451 w 1704975"/>
              <a:gd name="connsiteY6" fmla="*/ 104132 h 962025"/>
              <a:gd name="connsiteX7" fmla="*/ 1704499 w 1704975"/>
              <a:gd name="connsiteY7" fmla="*/ 961382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4975" h="962025">
                <a:moveTo>
                  <a:pt x="1704499" y="961382"/>
                </a:moveTo>
                <a:cubicBezTo>
                  <a:pt x="1523524" y="935665"/>
                  <a:pt x="1348264" y="859465"/>
                  <a:pt x="1172051" y="803267"/>
                </a:cubicBezTo>
                <a:cubicBezTo>
                  <a:pt x="976789" y="741355"/>
                  <a:pt x="788194" y="654677"/>
                  <a:pt x="589121" y="611815"/>
                </a:cubicBezTo>
                <a:cubicBezTo>
                  <a:pt x="301466" y="550855"/>
                  <a:pt x="224314" y="585145"/>
                  <a:pt x="7144" y="768977"/>
                </a:cubicBezTo>
                <a:cubicBezTo>
                  <a:pt x="50006" y="717542"/>
                  <a:pt x="525304" y="253675"/>
                  <a:pt x="764381" y="128897"/>
                </a:cubicBezTo>
                <a:cubicBezTo>
                  <a:pt x="1040606" y="-14930"/>
                  <a:pt x="1321594" y="-28265"/>
                  <a:pt x="1614011" y="72700"/>
                </a:cubicBezTo>
                <a:cubicBezTo>
                  <a:pt x="1644491" y="83177"/>
                  <a:pt x="1674971" y="93655"/>
                  <a:pt x="1705451" y="104132"/>
                </a:cubicBezTo>
                <a:lnTo>
                  <a:pt x="1704499" y="96138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64D713-B046-4FE6-BDD7-EE4264F7C4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D9BE05-DABC-48CC-9999-1581840BE656}"/>
              </a:ext>
            </a:extLst>
          </p:cNvPr>
          <p:cNvSpPr/>
          <p:nvPr userDrawn="1"/>
        </p:nvSpPr>
        <p:spPr bwMode="invGray">
          <a:xfrm>
            <a:off x="0" y="0"/>
            <a:ext cx="12192000" cy="928800"/>
          </a:xfrm>
          <a:prstGeom prst="rect">
            <a:avLst/>
          </a:prstGeom>
          <a:gradFill flip="none" rotWithShape="1">
            <a:gsLst>
              <a:gs pos="75000">
                <a:schemeClr val="accent1"/>
              </a:gs>
              <a:gs pos="100000">
                <a:srgbClr val="962A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CE2D37-876C-4C8F-A6C5-0AB063A0B4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4800" y="1876346"/>
            <a:ext cx="3254263" cy="8325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6F77BFB-AD63-495E-A4EA-EE2AFB4F9E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7509" y="2852939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A941B40-7380-40DF-ADBB-0A6ED4F172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7509" y="3125021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02E3968-432E-4834-8F0D-CD2BC42D2E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7509" y="3415094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9F5A590-B6A3-42B3-8477-542088A3B0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7509" y="3687176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4FAE95-A058-4EFD-92C1-90CCC284BF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7509" y="3957493"/>
            <a:ext cx="3418763" cy="2028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spcAft>
                <a:spcPts val="0"/>
              </a:spcAft>
              <a:buNone/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E88B10E-2ED8-4B6E-92E8-70B077E3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00" y="1082188"/>
            <a:ext cx="5209113" cy="720081"/>
          </a:xfrm>
        </p:spPr>
        <p:txBody>
          <a:bodyPr anchor="b">
            <a:noAutofit/>
          </a:bodyPr>
          <a:lstStyle>
            <a:lvl1pPr>
              <a:lnSpc>
                <a:spcPts val="504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ECBBC4F-ECF3-4E50-963A-BDB169C5146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2454" y="923051"/>
            <a:ext cx="6101952" cy="5934795"/>
          </a:xfrm>
          <a:custGeom>
            <a:avLst/>
            <a:gdLst>
              <a:gd name="connsiteX0" fmla="*/ 0 w 5187576"/>
              <a:gd name="connsiteY0" fmla="*/ 0 h 5919694"/>
              <a:gd name="connsiteX1" fmla="*/ 5187576 w 5187576"/>
              <a:gd name="connsiteY1" fmla="*/ 0 h 5919694"/>
              <a:gd name="connsiteX2" fmla="*/ 5187576 w 5187576"/>
              <a:gd name="connsiteY2" fmla="*/ 5919694 h 5919694"/>
              <a:gd name="connsiteX3" fmla="*/ 0 w 5187576"/>
              <a:gd name="connsiteY3" fmla="*/ 5919694 h 5919694"/>
              <a:gd name="connsiteX4" fmla="*/ 0 w 5187576"/>
              <a:gd name="connsiteY4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5977 w 5193553"/>
              <a:gd name="connsiteY3" fmla="*/ 5919694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5977 w 5193553"/>
              <a:gd name="connsiteY4" fmla="*/ 5919694 h 5919694"/>
              <a:gd name="connsiteX5" fmla="*/ 0 w 5193553"/>
              <a:gd name="connsiteY5" fmla="*/ 3609788 h 5919694"/>
              <a:gd name="connsiteX6" fmla="*/ 5977 w 5193553"/>
              <a:gd name="connsiteY6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002119 w 5193553"/>
              <a:gd name="connsiteY3" fmla="*/ 5916706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002121 w 5193555"/>
              <a:gd name="connsiteY3" fmla="*/ 5916706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687921 w 5193555"/>
              <a:gd name="connsiteY3" fmla="*/ 5101592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9 w 5193555"/>
              <a:gd name="connsiteY0" fmla="*/ 0 h 5919694"/>
              <a:gd name="connsiteX1" fmla="*/ 5193555 w 5193555"/>
              <a:gd name="connsiteY1" fmla="*/ 0 h 5919694"/>
              <a:gd name="connsiteX2" fmla="*/ 5193555 w 5193555"/>
              <a:gd name="connsiteY2" fmla="*/ 5919694 h 5919694"/>
              <a:gd name="connsiteX3" fmla="*/ 2537903 w 5193555"/>
              <a:gd name="connsiteY3" fmla="*/ 5916707 h 5919694"/>
              <a:gd name="connsiteX4" fmla="*/ 2 w 5193555"/>
              <a:gd name="connsiteY4" fmla="*/ 3609788 h 5919694"/>
              <a:gd name="connsiteX5" fmla="*/ 5979 w 5193555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5977 w 5193553"/>
              <a:gd name="connsiteY0" fmla="*/ 0 h 5919694"/>
              <a:gd name="connsiteX1" fmla="*/ 5193553 w 5193553"/>
              <a:gd name="connsiteY1" fmla="*/ 0 h 5919694"/>
              <a:gd name="connsiteX2" fmla="*/ 5193553 w 5193553"/>
              <a:gd name="connsiteY2" fmla="*/ 5919694 h 5919694"/>
              <a:gd name="connsiteX3" fmla="*/ 2537901 w 5193553"/>
              <a:gd name="connsiteY3" fmla="*/ 5916707 h 5919694"/>
              <a:gd name="connsiteX4" fmla="*/ 0 w 5193553"/>
              <a:gd name="connsiteY4" fmla="*/ 3609788 h 5919694"/>
              <a:gd name="connsiteX5" fmla="*/ 5977 w 5193553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6692 w 5204268"/>
              <a:gd name="connsiteY0" fmla="*/ 0 h 5919694"/>
              <a:gd name="connsiteX1" fmla="*/ 5204268 w 5204268"/>
              <a:gd name="connsiteY1" fmla="*/ 0 h 5919694"/>
              <a:gd name="connsiteX2" fmla="*/ 5204268 w 5204268"/>
              <a:gd name="connsiteY2" fmla="*/ 5919694 h 5919694"/>
              <a:gd name="connsiteX3" fmla="*/ 2548616 w 5204268"/>
              <a:gd name="connsiteY3" fmla="*/ 5916707 h 5919694"/>
              <a:gd name="connsiteX4" fmla="*/ 0 w 5204268"/>
              <a:gd name="connsiteY4" fmla="*/ 3438185 h 5919694"/>
              <a:gd name="connsiteX5" fmla="*/ 16692 w 5204268"/>
              <a:gd name="connsiteY5" fmla="*/ 0 h 5919694"/>
              <a:gd name="connsiteX0" fmla="*/ 112 w 5187688"/>
              <a:gd name="connsiteY0" fmla="*/ 0 h 5919694"/>
              <a:gd name="connsiteX1" fmla="*/ 5187688 w 5187688"/>
              <a:gd name="connsiteY1" fmla="*/ 0 h 5919694"/>
              <a:gd name="connsiteX2" fmla="*/ 5187688 w 5187688"/>
              <a:gd name="connsiteY2" fmla="*/ 5919694 h 5919694"/>
              <a:gd name="connsiteX3" fmla="*/ 2532036 w 5187688"/>
              <a:gd name="connsiteY3" fmla="*/ 5916707 h 5919694"/>
              <a:gd name="connsiteX4" fmla="*/ 21520 w 5187688"/>
              <a:gd name="connsiteY4" fmla="*/ 3298360 h 5919694"/>
              <a:gd name="connsiteX5" fmla="*/ 112 w 5187688"/>
              <a:gd name="connsiteY5" fmla="*/ 0 h 5919694"/>
              <a:gd name="connsiteX0" fmla="*/ 2405 w 5189981"/>
              <a:gd name="connsiteY0" fmla="*/ 0 h 5919694"/>
              <a:gd name="connsiteX1" fmla="*/ 5189981 w 5189981"/>
              <a:gd name="connsiteY1" fmla="*/ 0 h 5919694"/>
              <a:gd name="connsiteX2" fmla="*/ 5189981 w 5189981"/>
              <a:gd name="connsiteY2" fmla="*/ 5919694 h 5919694"/>
              <a:gd name="connsiteX3" fmla="*/ 2534329 w 5189981"/>
              <a:gd name="connsiteY3" fmla="*/ 5916707 h 5919694"/>
              <a:gd name="connsiteX4" fmla="*/ 0 w 5189981"/>
              <a:gd name="connsiteY4" fmla="*/ 3164891 h 5919694"/>
              <a:gd name="connsiteX5" fmla="*/ 2405 w 5189981"/>
              <a:gd name="connsiteY5" fmla="*/ 0 h 5919694"/>
              <a:gd name="connsiteX0" fmla="*/ 2532 w 5190108"/>
              <a:gd name="connsiteY0" fmla="*/ 0 h 5919694"/>
              <a:gd name="connsiteX1" fmla="*/ 5190108 w 5190108"/>
              <a:gd name="connsiteY1" fmla="*/ 0 h 5919694"/>
              <a:gd name="connsiteX2" fmla="*/ 5190108 w 5190108"/>
              <a:gd name="connsiteY2" fmla="*/ 5919694 h 5919694"/>
              <a:gd name="connsiteX3" fmla="*/ 2534456 w 5190108"/>
              <a:gd name="connsiteY3" fmla="*/ 5916707 h 5919694"/>
              <a:gd name="connsiteX4" fmla="*/ 127 w 5190108"/>
              <a:gd name="connsiteY4" fmla="*/ 3164891 h 5919694"/>
              <a:gd name="connsiteX5" fmla="*/ 2532 w 5190108"/>
              <a:gd name="connsiteY5" fmla="*/ 0 h 5919694"/>
              <a:gd name="connsiteX0" fmla="*/ 2464 w 5190040"/>
              <a:gd name="connsiteY0" fmla="*/ 0 h 5919694"/>
              <a:gd name="connsiteX1" fmla="*/ 5190040 w 5190040"/>
              <a:gd name="connsiteY1" fmla="*/ 0 h 5919694"/>
              <a:gd name="connsiteX2" fmla="*/ 5190040 w 5190040"/>
              <a:gd name="connsiteY2" fmla="*/ 5919694 h 5919694"/>
              <a:gd name="connsiteX3" fmla="*/ 2534388 w 5190040"/>
              <a:gd name="connsiteY3" fmla="*/ 5916707 h 5919694"/>
              <a:gd name="connsiteX4" fmla="*/ 59 w 5190040"/>
              <a:gd name="connsiteY4" fmla="*/ 3164891 h 5919694"/>
              <a:gd name="connsiteX5" fmla="*/ 2464 w 5190040"/>
              <a:gd name="connsiteY5" fmla="*/ 0 h 5919694"/>
              <a:gd name="connsiteX0" fmla="*/ 2512 w 5190088"/>
              <a:gd name="connsiteY0" fmla="*/ 0 h 5919694"/>
              <a:gd name="connsiteX1" fmla="*/ 5190088 w 5190088"/>
              <a:gd name="connsiteY1" fmla="*/ 0 h 5919694"/>
              <a:gd name="connsiteX2" fmla="*/ 5190088 w 5190088"/>
              <a:gd name="connsiteY2" fmla="*/ 5919694 h 5919694"/>
              <a:gd name="connsiteX3" fmla="*/ 2534436 w 5190088"/>
              <a:gd name="connsiteY3" fmla="*/ 5916707 h 5919694"/>
              <a:gd name="connsiteX4" fmla="*/ 107 w 5190088"/>
              <a:gd name="connsiteY4" fmla="*/ 3164891 h 5919694"/>
              <a:gd name="connsiteX5" fmla="*/ 2512 w 5190088"/>
              <a:gd name="connsiteY5" fmla="*/ 0 h 5919694"/>
              <a:gd name="connsiteX0" fmla="*/ 2406 w 5189982"/>
              <a:gd name="connsiteY0" fmla="*/ 0 h 5919694"/>
              <a:gd name="connsiteX1" fmla="*/ 5189982 w 5189982"/>
              <a:gd name="connsiteY1" fmla="*/ 0 h 5919694"/>
              <a:gd name="connsiteX2" fmla="*/ 5189982 w 5189982"/>
              <a:gd name="connsiteY2" fmla="*/ 5919694 h 5919694"/>
              <a:gd name="connsiteX3" fmla="*/ 2534330 w 5189982"/>
              <a:gd name="connsiteY3" fmla="*/ 5916707 h 5919694"/>
              <a:gd name="connsiteX4" fmla="*/ 1 w 5189982"/>
              <a:gd name="connsiteY4" fmla="*/ 3164891 h 5919694"/>
              <a:gd name="connsiteX5" fmla="*/ 2406 w 5189982"/>
              <a:gd name="connsiteY5" fmla="*/ 0 h 5919694"/>
              <a:gd name="connsiteX0" fmla="*/ 216 w 5198678"/>
              <a:gd name="connsiteY0" fmla="*/ 333321 h 5919694"/>
              <a:gd name="connsiteX1" fmla="*/ 5198678 w 5198678"/>
              <a:gd name="connsiteY1" fmla="*/ 0 h 5919694"/>
              <a:gd name="connsiteX2" fmla="*/ 5198678 w 5198678"/>
              <a:gd name="connsiteY2" fmla="*/ 5919694 h 5919694"/>
              <a:gd name="connsiteX3" fmla="*/ 2543026 w 5198678"/>
              <a:gd name="connsiteY3" fmla="*/ 5916707 h 5919694"/>
              <a:gd name="connsiteX4" fmla="*/ 8697 w 5198678"/>
              <a:gd name="connsiteY4" fmla="*/ 3164891 h 5919694"/>
              <a:gd name="connsiteX5" fmla="*/ 216 w 5198678"/>
              <a:gd name="connsiteY5" fmla="*/ 333321 h 5919694"/>
              <a:gd name="connsiteX0" fmla="*/ 216 w 5198678"/>
              <a:gd name="connsiteY0" fmla="*/ 0 h 5586373"/>
              <a:gd name="connsiteX1" fmla="*/ 5198678 w 5198678"/>
              <a:gd name="connsiteY1" fmla="*/ 28985 h 5586373"/>
              <a:gd name="connsiteX2" fmla="*/ 5198678 w 5198678"/>
              <a:gd name="connsiteY2" fmla="*/ 5586373 h 5586373"/>
              <a:gd name="connsiteX3" fmla="*/ 2543026 w 5198678"/>
              <a:gd name="connsiteY3" fmla="*/ 5583386 h 5586373"/>
              <a:gd name="connsiteX4" fmla="*/ 8697 w 5198678"/>
              <a:gd name="connsiteY4" fmla="*/ 2831570 h 5586373"/>
              <a:gd name="connsiteX5" fmla="*/ 216 w 5198678"/>
              <a:gd name="connsiteY5" fmla="*/ 0 h 5586373"/>
              <a:gd name="connsiteX0" fmla="*/ 216 w 5198678"/>
              <a:gd name="connsiteY0" fmla="*/ 0 h 5571881"/>
              <a:gd name="connsiteX1" fmla="*/ 5198678 w 5198678"/>
              <a:gd name="connsiteY1" fmla="*/ 14493 h 5571881"/>
              <a:gd name="connsiteX2" fmla="*/ 5198678 w 5198678"/>
              <a:gd name="connsiteY2" fmla="*/ 5571881 h 5571881"/>
              <a:gd name="connsiteX3" fmla="*/ 2543026 w 5198678"/>
              <a:gd name="connsiteY3" fmla="*/ 5568894 h 5571881"/>
              <a:gd name="connsiteX4" fmla="*/ 8697 w 5198678"/>
              <a:gd name="connsiteY4" fmla="*/ 2817078 h 5571881"/>
              <a:gd name="connsiteX5" fmla="*/ 216 w 5198678"/>
              <a:gd name="connsiteY5" fmla="*/ 0 h 5571881"/>
              <a:gd name="connsiteX0" fmla="*/ 216 w 5198678"/>
              <a:gd name="connsiteY0" fmla="*/ 15941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15941 h 5587822"/>
              <a:gd name="connsiteX0" fmla="*/ 216 w 5198678"/>
              <a:gd name="connsiteY0" fmla="*/ 629 h 5587822"/>
              <a:gd name="connsiteX1" fmla="*/ 5198678 w 5198678"/>
              <a:gd name="connsiteY1" fmla="*/ 0 h 5587822"/>
              <a:gd name="connsiteX2" fmla="*/ 5198678 w 5198678"/>
              <a:gd name="connsiteY2" fmla="*/ 5587822 h 5587822"/>
              <a:gd name="connsiteX3" fmla="*/ 2543026 w 5198678"/>
              <a:gd name="connsiteY3" fmla="*/ 5584835 h 5587822"/>
              <a:gd name="connsiteX4" fmla="*/ 8697 w 5198678"/>
              <a:gd name="connsiteY4" fmla="*/ 2833019 h 5587822"/>
              <a:gd name="connsiteX5" fmla="*/ 216 w 5198678"/>
              <a:gd name="connsiteY5" fmla="*/ 629 h 5587822"/>
              <a:gd name="connsiteX0" fmla="*/ 454 w 5198916"/>
              <a:gd name="connsiteY0" fmla="*/ 629 h 5587822"/>
              <a:gd name="connsiteX1" fmla="*/ 5198916 w 5198916"/>
              <a:gd name="connsiteY1" fmla="*/ 0 h 5587822"/>
              <a:gd name="connsiteX2" fmla="*/ 5198916 w 5198916"/>
              <a:gd name="connsiteY2" fmla="*/ 5587822 h 5587822"/>
              <a:gd name="connsiteX3" fmla="*/ 2543264 w 5198916"/>
              <a:gd name="connsiteY3" fmla="*/ 5584835 h 5587822"/>
              <a:gd name="connsiteX4" fmla="*/ 1791 w 5198916"/>
              <a:gd name="connsiteY4" fmla="*/ 3144946 h 5587822"/>
              <a:gd name="connsiteX5" fmla="*/ 454 w 5198916"/>
              <a:gd name="connsiteY5" fmla="*/ 629 h 5587822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921758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5198916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5198916"/>
              <a:gd name="connsiteY0" fmla="*/ 629 h 5593381"/>
              <a:gd name="connsiteX1" fmla="*/ 4083303 w 5198916"/>
              <a:gd name="connsiteY1" fmla="*/ 0 h 5593381"/>
              <a:gd name="connsiteX2" fmla="*/ 5198916 w 5198916"/>
              <a:gd name="connsiteY2" fmla="*/ 5587822 h 5593381"/>
              <a:gd name="connsiteX3" fmla="*/ 1718207 w 5198916"/>
              <a:gd name="connsiteY3" fmla="*/ 5593381 h 5593381"/>
              <a:gd name="connsiteX4" fmla="*/ 1791 w 5198916"/>
              <a:gd name="connsiteY4" fmla="*/ 3144946 h 5593381"/>
              <a:gd name="connsiteX5" fmla="*/ 454 w 5198916"/>
              <a:gd name="connsiteY5" fmla="*/ 629 h 5593381"/>
              <a:gd name="connsiteX0" fmla="*/ 454 w 4089175"/>
              <a:gd name="connsiteY0" fmla="*/ 629 h 5595711"/>
              <a:gd name="connsiteX1" fmla="*/ 4083303 w 4089175"/>
              <a:gd name="connsiteY1" fmla="*/ 0 h 5595711"/>
              <a:gd name="connsiteX2" fmla="*/ 4089175 w 4089175"/>
              <a:gd name="connsiteY2" fmla="*/ 5595711 h 5595711"/>
              <a:gd name="connsiteX3" fmla="*/ 1718207 w 4089175"/>
              <a:gd name="connsiteY3" fmla="*/ 5593381 h 5595711"/>
              <a:gd name="connsiteX4" fmla="*/ 1791 w 4089175"/>
              <a:gd name="connsiteY4" fmla="*/ 3144946 h 5595711"/>
              <a:gd name="connsiteX5" fmla="*/ 454 w 4089175"/>
              <a:gd name="connsiteY5" fmla="*/ 629 h 5595711"/>
              <a:gd name="connsiteX0" fmla="*/ 454 w 4083340"/>
              <a:gd name="connsiteY0" fmla="*/ 629 h 5593381"/>
              <a:gd name="connsiteX1" fmla="*/ 4083303 w 4083340"/>
              <a:gd name="connsiteY1" fmla="*/ 0 h 5593381"/>
              <a:gd name="connsiteX2" fmla="*/ 4012844 w 4083340"/>
              <a:gd name="connsiteY2" fmla="*/ 5591438 h 5593381"/>
              <a:gd name="connsiteX3" fmla="*/ 1718207 w 4083340"/>
              <a:gd name="connsiteY3" fmla="*/ 5593381 h 5593381"/>
              <a:gd name="connsiteX4" fmla="*/ 1791 w 4083340"/>
              <a:gd name="connsiteY4" fmla="*/ 3144946 h 5593381"/>
              <a:gd name="connsiteX5" fmla="*/ 454 w 4083340"/>
              <a:gd name="connsiteY5" fmla="*/ 629 h 5593381"/>
              <a:gd name="connsiteX0" fmla="*/ 454 w 4083459"/>
              <a:gd name="connsiteY0" fmla="*/ 629 h 5593381"/>
              <a:gd name="connsiteX1" fmla="*/ 4083303 w 4083459"/>
              <a:gd name="connsiteY1" fmla="*/ 0 h 5593381"/>
              <a:gd name="connsiteX2" fmla="*/ 4070093 w 4083459"/>
              <a:gd name="connsiteY2" fmla="*/ 5591439 h 5593381"/>
              <a:gd name="connsiteX3" fmla="*/ 1718207 w 4083459"/>
              <a:gd name="connsiteY3" fmla="*/ 5593381 h 5593381"/>
              <a:gd name="connsiteX4" fmla="*/ 1791 w 4083459"/>
              <a:gd name="connsiteY4" fmla="*/ 3144946 h 5593381"/>
              <a:gd name="connsiteX5" fmla="*/ 454 w 4083459"/>
              <a:gd name="connsiteY5" fmla="*/ 629 h 5593381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3943363 w 4070093"/>
              <a:gd name="connsiteY1" fmla="*/ 324970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10480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5150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14049 w 4069424"/>
              <a:gd name="connsiteY0" fmla="*/ 174112 h 5602782"/>
              <a:gd name="connsiteX1" fmla="*/ 4068911 w 4069424"/>
              <a:gd name="connsiteY1" fmla="*/ 0 h 5602782"/>
              <a:gd name="connsiteX2" fmla="*/ 4068422 w 4069424"/>
              <a:gd name="connsiteY2" fmla="*/ 5600840 h 5602782"/>
              <a:gd name="connsiteX3" fmla="*/ 1716536 w 4069424"/>
              <a:gd name="connsiteY3" fmla="*/ 5602782 h 5602782"/>
              <a:gd name="connsiteX4" fmla="*/ 120 w 4069424"/>
              <a:gd name="connsiteY4" fmla="*/ 3154347 h 5602782"/>
              <a:gd name="connsiteX5" fmla="*/ 14049 w 4069424"/>
              <a:gd name="connsiteY5" fmla="*/ 174112 h 5602782"/>
              <a:gd name="connsiteX0" fmla="*/ 454 w 4071095"/>
              <a:gd name="connsiteY0" fmla="*/ 10030 h 5602782"/>
              <a:gd name="connsiteX1" fmla="*/ 4070582 w 4071095"/>
              <a:gd name="connsiteY1" fmla="*/ 0 h 5602782"/>
              <a:gd name="connsiteX2" fmla="*/ 4070093 w 4071095"/>
              <a:gd name="connsiteY2" fmla="*/ 5600840 h 5602782"/>
              <a:gd name="connsiteX3" fmla="*/ 1718207 w 4071095"/>
              <a:gd name="connsiteY3" fmla="*/ 5602782 h 5602782"/>
              <a:gd name="connsiteX4" fmla="*/ 1791 w 4071095"/>
              <a:gd name="connsiteY4" fmla="*/ 3154347 h 5602782"/>
              <a:gd name="connsiteX5" fmla="*/ 454 w 4071095"/>
              <a:gd name="connsiteY5" fmla="*/ 10030 h 5602782"/>
              <a:gd name="connsiteX0" fmla="*/ 454 w 4070093"/>
              <a:gd name="connsiteY0" fmla="*/ 0 h 5592752"/>
              <a:gd name="connsiteX1" fmla="*/ 4065493 w 4070093"/>
              <a:gd name="connsiteY1" fmla="*/ 51501 h 5592752"/>
              <a:gd name="connsiteX2" fmla="*/ 4070093 w 4070093"/>
              <a:gd name="connsiteY2" fmla="*/ 5590810 h 5592752"/>
              <a:gd name="connsiteX3" fmla="*/ 1718207 w 4070093"/>
              <a:gd name="connsiteY3" fmla="*/ 5592752 h 5592752"/>
              <a:gd name="connsiteX4" fmla="*/ 1791 w 4070093"/>
              <a:gd name="connsiteY4" fmla="*/ 3144317 h 5592752"/>
              <a:gd name="connsiteX5" fmla="*/ 454 w 4070093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3644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0 h 5592752"/>
              <a:gd name="connsiteX1" fmla="*/ 4070582 w 4071095"/>
              <a:gd name="connsiteY1" fmla="*/ 9341 h 5592752"/>
              <a:gd name="connsiteX2" fmla="*/ 4070093 w 4071095"/>
              <a:gd name="connsiteY2" fmla="*/ 5590810 h 5592752"/>
              <a:gd name="connsiteX3" fmla="*/ 1718207 w 4071095"/>
              <a:gd name="connsiteY3" fmla="*/ 5592752 h 5592752"/>
              <a:gd name="connsiteX4" fmla="*/ 1791 w 4071095"/>
              <a:gd name="connsiteY4" fmla="*/ 3144317 h 5592752"/>
              <a:gd name="connsiteX5" fmla="*/ 454 w 4071095"/>
              <a:gd name="connsiteY5" fmla="*/ 0 h 5592752"/>
              <a:gd name="connsiteX0" fmla="*/ 454 w 4071095"/>
              <a:gd name="connsiteY0" fmla="*/ 4333 h 5597085"/>
              <a:gd name="connsiteX1" fmla="*/ 4070582 w 4071095"/>
              <a:gd name="connsiteY1" fmla="*/ 0 h 5597085"/>
              <a:gd name="connsiteX2" fmla="*/ 4070093 w 4071095"/>
              <a:gd name="connsiteY2" fmla="*/ 5595143 h 5597085"/>
              <a:gd name="connsiteX3" fmla="*/ 1718207 w 4071095"/>
              <a:gd name="connsiteY3" fmla="*/ 5597085 h 5597085"/>
              <a:gd name="connsiteX4" fmla="*/ 1791 w 4071095"/>
              <a:gd name="connsiteY4" fmla="*/ 3148650 h 5597085"/>
              <a:gd name="connsiteX5" fmla="*/ 454 w 4071095"/>
              <a:gd name="connsiteY5" fmla="*/ 4333 h 5597085"/>
              <a:gd name="connsiteX0" fmla="*/ 254 w 4075984"/>
              <a:gd name="connsiteY0" fmla="*/ 250455 h 5597085"/>
              <a:gd name="connsiteX1" fmla="*/ 4075471 w 4075984"/>
              <a:gd name="connsiteY1" fmla="*/ 0 h 5597085"/>
              <a:gd name="connsiteX2" fmla="*/ 4074982 w 4075984"/>
              <a:gd name="connsiteY2" fmla="*/ 5595143 h 5597085"/>
              <a:gd name="connsiteX3" fmla="*/ 1723096 w 4075984"/>
              <a:gd name="connsiteY3" fmla="*/ 5597085 h 5597085"/>
              <a:gd name="connsiteX4" fmla="*/ 6680 w 4075984"/>
              <a:gd name="connsiteY4" fmla="*/ 3148650 h 5597085"/>
              <a:gd name="connsiteX5" fmla="*/ 254 w 4075984"/>
              <a:gd name="connsiteY5" fmla="*/ 250455 h 5597085"/>
              <a:gd name="connsiteX0" fmla="*/ 254 w 4080827"/>
              <a:gd name="connsiteY0" fmla="*/ 29 h 5346659"/>
              <a:gd name="connsiteX1" fmla="*/ 4080560 w 4080827"/>
              <a:gd name="connsiteY1" fmla="*/ 50390 h 5346659"/>
              <a:gd name="connsiteX2" fmla="*/ 4074982 w 4080827"/>
              <a:gd name="connsiteY2" fmla="*/ 5344717 h 5346659"/>
              <a:gd name="connsiteX3" fmla="*/ 1723096 w 4080827"/>
              <a:gd name="connsiteY3" fmla="*/ 5346659 h 5346659"/>
              <a:gd name="connsiteX4" fmla="*/ 6680 w 4080827"/>
              <a:gd name="connsiteY4" fmla="*/ 2898224 h 5346659"/>
              <a:gd name="connsiteX5" fmla="*/ 254 w 4080827"/>
              <a:gd name="connsiteY5" fmla="*/ 29 h 5346659"/>
              <a:gd name="connsiteX0" fmla="*/ 254 w 4080827"/>
              <a:gd name="connsiteY0" fmla="*/ 0 h 5346630"/>
              <a:gd name="connsiteX1" fmla="*/ 4080560 w 4080827"/>
              <a:gd name="connsiteY1" fmla="*/ 16177 h 5346630"/>
              <a:gd name="connsiteX2" fmla="*/ 4074982 w 4080827"/>
              <a:gd name="connsiteY2" fmla="*/ 5344688 h 5346630"/>
              <a:gd name="connsiteX3" fmla="*/ 1723096 w 4080827"/>
              <a:gd name="connsiteY3" fmla="*/ 5346630 h 5346630"/>
              <a:gd name="connsiteX4" fmla="*/ 6680 w 4080827"/>
              <a:gd name="connsiteY4" fmla="*/ 2898195 h 5346630"/>
              <a:gd name="connsiteX5" fmla="*/ 254 w 4080827"/>
              <a:gd name="connsiteY5" fmla="*/ 0 h 5346630"/>
              <a:gd name="connsiteX0" fmla="*/ 254 w 4080827"/>
              <a:gd name="connsiteY0" fmla="*/ 0 h 5332957"/>
              <a:gd name="connsiteX1" fmla="*/ 4080560 w 4080827"/>
              <a:gd name="connsiteY1" fmla="*/ 2504 h 5332957"/>
              <a:gd name="connsiteX2" fmla="*/ 4074982 w 4080827"/>
              <a:gd name="connsiteY2" fmla="*/ 5331015 h 5332957"/>
              <a:gd name="connsiteX3" fmla="*/ 1723096 w 4080827"/>
              <a:gd name="connsiteY3" fmla="*/ 5332957 h 5332957"/>
              <a:gd name="connsiteX4" fmla="*/ 6680 w 4080827"/>
              <a:gd name="connsiteY4" fmla="*/ 2884522 h 5332957"/>
              <a:gd name="connsiteX5" fmla="*/ 254 w 4080827"/>
              <a:gd name="connsiteY5" fmla="*/ 0 h 5332957"/>
              <a:gd name="connsiteX0" fmla="*/ 254 w 4080827"/>
              <a:gd name="connsiteY0" fmla="*/ 8891 h 5330453"/>
              <a:gd name="connsiteX1" fmla="*/ 4080560 w 4080827"/>
              <a:gd name="connsiteY1" fmla="*/ 0 h 5330453"/>
              <a:gd name="connsiteX2" fmla="*/ 4074982 w 4080827"/>
              <a:gd name="connsiteY2" fmla="*/ 5328511 h 5330453"/>
              <a:gd name="connsiteX3" fmla="*/ 1723096 w 4080827"/>
              <a:gd name="connsiteY3" fmla="*/ 5330453 h 5330453"/>
              <a:gd name="connsiteX4" fmla="*/ 6680 w 4080827"/>
              <a:gd name="connsiteY4" fmla="*/ 2882018 h 5330453"/>
              <a:gd name="connsiteX5" fmla="*/ 254 w 4080827"/>
              <a:gd name="connsiteY5" fmla="*/ 8891 h 5330453"/>
              <a:gd name="connsiteX0" fmla="*/ 254 w 4080827"/>
              <a:gd name="connsiteY0" fmla="*/ 0 h 5321562"/>
              <a:gd name="connsiteX1" fmla="*/ 4080560 w 4080827"/>
              <a:gd name="connsiteY1" fmla="*/ 8201 h 5321562"/>
              <a:gd name="connsiteX2" fmla="*/ 4074982 w 4080827"/>
              <a:gd name="connsiteY2" fmla="*/ 5319620 h 5321562"/>
              <a:gd name="connsiteX3" fmla="*/ 1723096 w 4080827"/>
              <a:gd name="connsiteY3" fmla="*/ 5321562 h 5321562"/>
              <a:gd name="connsiteX4" fmla="*/ 6680 w 4080827"/>
              <a:gd name="connsiteY4" fmla="*/ 2873127 h 5321562"/>
              <a:gd name="connsiteX5" fmla="*/ 254 w 4080827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8201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2504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6763"/>
              <a:gd name="connsiteY0" fmla="*/ 0 h 5321562"/>
              <a:gd name="connsiteX1" fmla="*/ 4076319 w 4076763"/>
              <a:gd name="connsiteY1" fmla="*/ 8201 h 5321562"/>
              <a:gd name="connsiteX2" fmla="*/ 4074982 w 4076763"/>
              <a:gd name="connsiteY2" fmla="*/ 5319620 h 5321562"/>
              <a:gd name="connsiteX3" fmla="*/ 1723096 w 4076763"/>
              <a:gd name="connsiteY3" fmla="*/ 5321562 h 5321562"/>
              <a:gd name="connsiteX4" fmla="*/ 6680 w 4076763"/>
              <a:gd name="connsiteY4" fmla="*/ 2873127 h 5321562"/>
              <a:gd name="connsiteX5" fmla="*/ 254 w 4076763"/>
              <a:gd name="connsiteY5" fmla="*/ 0 h 5321562"/>
              <a:gd name="connsiteX0" fmla="*/ 254 w 4074982"/>
              <a:gd name="connsiteY0" fmla="*/ 0 h 5321562"/>
              <a:gd name="connsiteX1" fmla="*/ 4050875 w 4074982"/>
              <a:gd name="connsiteY1" fmla="*/ 207606 h 5321562"/>
              <a:gd name="connsiteX2" fmla="*/ 4074982 w 4074982"/>
              <a:gd name="connsiteY2" fmla="*/ 5319620 h 5321562"/>
              <a:gd name="connsiteX3" fmla="*/ 1723096 w 4074982"/>
              <a:gd name="connsiteY3" fmla="*/ 5321562 h 5321562"/>
              <a:gd name="connsiteX4" fmla="*/ 6680 w 4074982"/>
              <a:gd name="connsiteY4" fmla="*/ 2873127 h 5321562"/>
              <a:gd name="connsiteX5" fmla="*/ 254 w 4074982"/>
              <a:gd name="connsiteY5" fmla="*/ 0 h 5321562"/>
              <a:gd name="connsiteX0" fmla="*/ 254 w 4074982"/>
              <a:gd name="connsiteY0" fmla="*/ 3193 h 5324755"/>
              <a:gd name="connsiteX1" fmla="*/ 4072078 w 4074982"/>
              <a:gd name="connsiteY1" fmla="*/ 0 h 5324755"/>
              <a:gd name="connsiteX2" fmla="*/ 4074982 w 4074982"/>
              <a:gd name="connsiteY2" fmla="*/ 5322813 h 5324755"/>
              <a:gd name="connsiteX3" fmla="*/ 1723096 w 4074982"/>
              <a:gd name="connsiteY3" fmla="*/ 5324755 h 5324755"/>
              <a:gd name="connsiteX4" fmla="*/ 6680 w 4074982"/>
              <a:gd name="connsiteY4" fmla="*/ 2876320 h 5324755"/>
              <a:gd name="connsiteX5" fmla="*/ 254 w 4074982"/>
              <a:gd name="connsiteY5" fmla="*/ 3193 h 5324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4982" h="5324755">
                <a:moveTo>
                  <a:pt x="254" y="3193"/>
                </a:moveTo>
                <a:lnTo>
                  <a:pt x="4072078" y="0"/>
                </a:lnTo>
                <a:cubicBezTo>
                  <a:pt x="4074035" y="1865237"/>
                  <a:pt x="4073025" y="3457576"/>
                  <a:pt x="4074982" y="5322813"/>
                </a:cubicBezTo>
                <a:lnTo>
                  <a:pt x="1723096" y="5324755"/>
                </a:lnTo>
                <a:cubicBezTo>
                  <a:pt x="693982" y="5014623"/>
                  <a:pt x="-3932" y="3729991"/>
                  <a:pt x="6680" y="2876320"/>
                </a:cubicBezTo>
                <a:cubicBezTo>
                  <a:pt x="8672" y="1673057"/>
                  <a:pt x="-1738" y="1206456"/>
                  <a:pt x="254" y="319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3753C3-AD71-41CF-A0E3-EDC40D8596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325" y="207631"/>
            <a:ext cx="3204000" cy="4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7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6" y="1052736"/>
            <a:ext cx="10801350" cy="46905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19171"/>
            <a:ext cx="3360109" cy="240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19171"/>
            <a:ext cx="288032" cy="240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8D2AE-3583-4708-BD46-43C74330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700213"/>
            <a:ext cx="10801349" cy="46085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B83A3-A276-43C3-9F27-2B380C414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5324" y="151134"/>
            <a:ext cx="3360109" cy="288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lnSpc>
                <a:spcPct val="8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[Entity Name]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DFD9D-2931-49B5-A376-9D4B93C4960C}"/>
              </a:ext>
            </a:extLst>
          </p:cNvPr>
          <p:cNvSpPr txBox="1"/>
          <p:nvPr userDrawn="1"/>
        </p:nvSpPr>
        <p:spPr>
          <a:xfrm>
            <a:off x="8096810" y="6518190"/>
            <a:ext cx="2391677" cy="24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AU" sz="800" dirty="0"/>
              <a:t>CRICOS code 00025B</a:t>
            </a:r>
          </a:p>
        </p:txBody>
      </p:sp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83" r:id="rId3"/>
    <p:sldLayoutId id="2147483774" r:id="rId4"/>
    <p:sldLayoutId id="2147483792" r:id="rId5"/>
    <p:sldLayoutId id="2147483775" r:id="rId6"/>
    <p:sldLayoutId id="2147483650" r:id="rId7"/>
    <p:sldLayoutId id="2147483652" r:id="rId8"/>
    <p:sldLayoutId id="2147483778" r:id="rId9"/>
    <p:sldLayoutId id="2147483779" r:id="rId10"/>
    <p:sldLayoutId id="2147483728" r:id="rId11"/>
    <p:sldLayoutId id="2147483784" r:id="rId12"/>
    <p:sldLayoutId id="2147483656" r:id="rId13"/>
    <p:sldLayoutId id="2147483732" r:id="rId14"/>
    <p:sldLayoutId id="2147483793" r:id="rId15"/>
    <p:sldLayoutId id="2147483657" r:id="rId16"/>
    <p:sldLayoutId id="2147483765" r:id="rId17"/>
    <p:sldLayoutId id="2147483787" r:id="rId18"/>
    <p:sldLayoutId id="2147483788" r:id="rId19"/>
    <p:sldLayoutId id="2147483794" r:id="rId20"/>
    <p:sldLayoutId id="2147483795" r:id="rId21"/>
    <p:sldLayoutId id="2147483796" r:id="rId22"/>
    <p:sldLayoutId id="2147483791" r:id="rId23"/>
    <p:sldLayoutId id="2147483797" r:id="rId24"/>
    <p:sldLayoutId id="2147483790" r:id="rId25"/>
    <p:sldLayoutId id="2147483798" r:id="rId26"/>
    <p:sldLayoutId id="2147483768" r:id="rId27"/>
    <p:sldLayoutId id="2147483769" r:id="rId28"/>
    <p:sldLayoutId id="2147483770" r:id="rId29"/>
    <p:sldLayoutId id="2147483771" r:id="rId30"/>
    <p:sldLayoutId id="2147483789" r:id="rId31"/>
    <p:sldLayoutId id="2147483776" r:id="rId32"/>
    <p:sldLayoutId id="2147483777" r:id="rId33"/>
    <p:sldLayoutId id="2147483654" r:id="rId34"/>
    <p:sldLayoutId id="2147483785" r:id="rId35"/>
    <p:sldLayoutId id="2147483780" r:id="rId36"/>
    <p:sldLayoutId id="2147483782" r:id="rId3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None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79388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79388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Clr>
          <a:schemeClr val="accent1"/>
        </a:buClr>
        <a:buFont typeface="Arial" panose="020B0604020202020204" pitchFamily="34" charset="0"/>
        <a:buChar char="­"/>
        <a:defRPr lang="en-US" sz="18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79388" algn="l" defTabSz="914400" rtl="0" eaLnBrk="1" latinLnBrk="0" hangingPunct="1">
        <a:lnSpc>
          <a:spcPct val="110000"/>
        </a:lnSpc>
        <a:spcBef>
          <a:spcPts val="100"/>
        </a:spcBef>
        <a:spcAft>
          <a:spcPts val="100"/>
        </a:spcAft>
        <a:buFont typeface="Wingdings" panose="05000000000000000000" pitchFamily="2" charset="2"/>
        <a:buChar char=""/>
        <a:defRPr lang="en-US" sz="18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lang="en-US" sz="2400" kern="1200" baseline="0" dirty="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2000" b="1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663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2987-6E68-47E6-931F-15CD6EAC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 to the safe dental environment,</a:t>
            </a:r>
            <a:br>
              <a:rPr lang="en-AU" dirty="0"/>
            </a:br>
            <a:r>
              <a:rPr lang="en-AU" dirty="0"/>
              <a:t>patient interview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1891B-CDDB-4FE8-9BA2-4CC0FB67B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DENT1060: Dental Practice IA</a:t>
            </a:r>
          </a:p>
        </p:txBody>
      </p:sp>
    </p:spTree>
    <p:extLst>
      <p:ext uri="{BB962C8B-B14F-4D97-AF65-F5344CB8AC3E}">
        <p14:creationId xmlns:p14="http://schemas.microsoft.com/office/powerpoint/2010/main" val="1217444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E401-1483-099B-C01A-45D56428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safe dental environment</a:t>
            </a:r>
            <a:br>
              <a:rPr lang="en-US" dirty="0"/>
            </a:br>
            <a:r>
              <a:rPr lang="en-US" dirty="0"/>
              <a:t>Establishing the baseline for Dentistry</a:t>
            </a:r>
          </a:p>
        </p:txBody>
      </p:sp>
    </p:spTree>
    <p:extLst>
      <p:ext uri="{BB962C8B-B14F-4D97-AF65-F5344CB8AC3E}">
        <p14:creationId xmlns:p14="http://schemas.microsoft.com/office/powerpoint/2010/main" val="273184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CB53A-FC0C-8FE1-CB15-D19897E3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237EA6-373B-2E91-9DFB-7C2894C3F1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Identify risks associated with dental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Define standard precautions and how they translate to the safe practice of dentistry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Describe the process for and rationale underpinning standard precautions &amp; infection control processes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C394BA-D361-5AA5-5256-B47E88EF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objectives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3E28F3-17BF-A169-614F-D550A50C0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EBE18DF-9965-8746-C8C7-A3C2768D03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C52A1D4-2C42-967A-FE1B-441E12B24A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72CF8-B470-5AA5-C4D2-CB417FB2B45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243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6EBD-007F-533D-8BFE-EA11C754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A140B8-18FF-601A-121C-81991BF706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Cross-infection from contaminated hands due to poor compliance with hand hygiene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Exposure to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blood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/body fluids (saliva, blood, vomitus).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Exposure to, and or acquisition of a vaccine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preventable disease 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(hepatitis B, viral influenza, TB, etc).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Cross infection due to poor compliance with cleaning of patient care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equipment 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and/or the</a:t>
            </a:r>
          </a:p>
          <a:p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Cross-infection due to treatment of patients/clients with symptoms of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communicable diseases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, e.g.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Influenza, measles and chicken pox.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Cross-infection due to incorrect or inappropriate cleaning, disinfection or sterilisation of reuseable</a:t>
            </a:r>
          </a:p>
          <a:p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medical devices 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or the re-use of medical devices marked as single-use only.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Preventable patient or staff harm due to the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absence of an infection prevention 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program.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AU" b="1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Non-compliance </a:t>
            </a: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with established policies/procedures resulting in a preventable infection.</a:t>
            </a:r>
          </a:p>
          <a:p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6BB48B0-5A4A-F43D-30BC-65FF6AFE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risks are present in the dental environment?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AA729E-E147-2CC1-E4A4-0AD6C14D07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7AEB1AE-0602-CF86-984B-6083EC8B78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F3ECB1-16A3-927B-67D6-50E71855E7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F5B87D3-49D5-F28A-EAAF-DB9E38E9367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295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F0AA6-6797-5A37-9815-0AB15A1B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2CBFC6-99EB-B105-D03A-CFEEFFE910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Definition: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The creation of safe healthcare environments through the implementation of evidence-based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practices that minimise the risk of transmission of infectious agents (NHMRC, 2019).</a:t>
            </a:r>
          </a:p>
          <a:p>
            <a:endParaRPr lang="en-AU" dirty="0"/>
          </a:p>
          <a:p>
            <a:r>
              <a:rPr lang="en-AU" dirty="0"/>
              <a:t>What does this mean?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prevent and to minimise the transmission of disease-producing agents</a:t>
            </a:r>
          </a:p>
          <a:p>
            <a:pPr marL="465750" lvl="1" indent="-285750"/>
            <a:r>
              <a:rPr lang="en-AU" dirty="0"/>
              <a:t>Bacteria</a:t>
            </a:r>
          </a:p>
          <a:p>
            <a:pPr marL="465750" lvl="1" indent="-285750"/>
            <a:r>
              <a:rPr lang="en-AU" dirty="0"/>
              <a:t>Virus</a:t>
            </a:r>
          </a:p>
          <a:p>
            <a:pPr marL="465750" lvl="1" indent="-285750"/>
            <a:r>
              <a:rPr lang="en-AU" dirty="0"/>
              <a:t>fungi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prevent and to minimise this transmission between:</a:t>
            </a:r>
          </a:p>
          <a:p>
            <a:pPr marL="465750" lvl="1" indent="-285750"/>
            <a:r>
              <a:rPr lang="en-AU" dirty="0"/>
              <a:t>Dentist/staff to patients</a:t>
            </a:r>
          </a:p>
          <a:p>
            <a:pPr marL="465750" lvl="1" indent="-285750"/>
            <a:r>
              <a:rPr lang="en-AU" dirty="0"/>
              <a:t>Patients to dentist/staff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36C55D9-0FFC-49C2-1D96-674E107E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Infection control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805369-2993-BF1D-65A5-ACCCDC8BEB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9C978B7-7384-60B1-727E-5D495991D28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58D3F1-18E4-F6D0-ECFD-D5E2F99A54A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8BB8D9A-DDBF-9762-5825-25518511D03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730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E1A9-353E-DC11-E54D-9C841911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D16D07-8C4C-2E9F-E53C-9E51496016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Transmission of infectious agents within a healthcare setting requires all of the following elements: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1. Causative agent (pathogen)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2. Reservoir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3. Portal of exit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4. Means of transmission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5. Portal of entry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6. A susceptible host</a:t>
            </a:r>
          </a:p>
          <a:p>
            <a:pPr algn="r"/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(NHMRC, 2019)</a:t>
            </a:r>
          </a:p>
          <a:p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1B21EB3-3874-518E-5804-D26BE6128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Requirements for transmission of infection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B80DE2-DA93-7302-E725-A17A7E656F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160891-0EBE-7BE7-1669-F21A6889FB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9B853D9-0A78-7A63-B85C-7022E31987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80363A9-2BE6-E4D7-2157-9CCF382C5C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589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0A62-E7AD-7A77-496F-5C7F29DB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1D4B6E8-6150-437B-6400-12A764F089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Contact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Direct or indirect transmission by touch/contact with bodily substances</a:t>
            </a:r>
          </a:p>
          <a:p>
            <a:pPr marL="465750" lvl="1" indent="-285750"/>
            <a:r>
              <a:rPr lang="en-AU" dirty="0"/>
              <a:t>Direct -&gt; infectious agent is transferred from one individual to another (</a:t>
            </a:r>
            <a:r>
              <a:rPr lang="en-AU" dirty="0" err="1"/>
              <a:t>eg</a:t>
            </a:r>
            <a:r>
              <a:rPr lang="en-AU" dirty="0"/>
              <a:t> patient’s blood invades a practitioner’s open wound)</a:t>
            </a:r>
          </a:p>
          <a:p>
            <a:pPr marL="465750" lvl="1" indent="-285750"/>
            <a:r>
              <a:rPr lang="en-AU" dirty="0"/>
              <a:t>Indirect -&gt; infectious agent is transferred through contaminated object/person (</a:t>
            </a:r>
            <a:r>
              <a:rPr lang="en-AU" dirty="0" err="1"/>
              <a:t>eg</a:t>
            </a:r>
            <a:r>
              <a:rPr lang="en-AU" dirty="0"/>
              <a:t> handshake and direct contact of your hand to your mouth/wound)</a:t>
            </a:r>
          </a:p>
          <a:p>
            <a:endParaRPr lang="en-AU" dirty="0"/>
          </a:p>
          <a:p>
            <a:r>
              <a:rPr lang="en-AU" dirty="0"/>
              <a:t>Droplet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Transmission of infectious agent via respiratory droplets from an infected individual (</a:t>
            </a:r>
            <a:r>
              <a:rPr lang="en-AU" dirty="0" err="1"/>
              <a:t>eg</a:t>
            </a:r>
            <a:r>
              <a:rPr lang="en-AU" dirty="0"/>
              <a:t> coughing)</a:t>
            </a:r>
          </a:p>
          <a:p>
            <a:endParaRPr lang="en-AU" dirty="0"/>
          </a:p>
          <a:p>
            <a:r>
              <a:rPr lang="en-AU" dirty="0"/>
              <a:t>Airborne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Transmission of infectious agents via particles that </a:t>
            </a:r>
            <a:r>
              <a:rPr lang="en-AU" u="sng" dirty="0"/>
              <a:t>remain infectious</a:t>
            </a:r>
            <a:r>
              <a:rPr lang="en-AU" dirty="0"/>
              <a:t> over time and distance (</a:t>
            </a:r>
            <a:r>
              <a:rPr lang="en-AU" dirty="0" err="1"/>
              <a:t>eg</a:t>
            </a:r>
            <a:r>
              <a:rPr lang="en-AU" dirty="0"/>
              <a:t> aerosol generation from dental equipment)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E4D64DC-5401-1E87-22AF-77246D70D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Pathways for transmission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853C9B-4C64-FD3E-CC38-45FE47BD9D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88490ED-0742-611B-194F-3AB5A507020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9E907D-576C-A745-38D5-0671001E07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93B83E-B109-149F-2A87-738D16DA11B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7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37381-1C15-EDD5-615A-1F1004FD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DD24A6-8F91-696D-095A-8EC27B590B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The spread of microorganisms can be reduced by:</a:t>
            </a:r>
          </a:p>
          <a:p>
            <a:r>
              <a:rPr lang="en-AU" u="sng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Adhering to good personal hygiene practices, particularly effective hand hygiene and cough etiquette</a:t>
            </a:r>
          </a:p>
          <a:p>
            <a:r>
              <a:rPr lang="en-AU" u="sng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Using PPE correctly</a:t>
            </a:r>
          </a:p>
          <a:p>
            <a:r>
              <a:rPr lang="en-AU" u="sng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Limiting surface contamination by microorganisms (e.g. disinfecting chairs, equipment, tables)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Using disposable products where appropriate (e.g., paper towels); and</a:t>
            </a:r>
          </a:p>
          <a:p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• Following risk minimisation techniques such as the use of high-volume evacuation, dental dam and pre-procedural mouth rinsing.</a:t>
            </a:r>
          </a:p>
          <a:p>
            <a:pPr algn="r"/>
            <a:r>
              <a:rPr lang="en-AU" dirty="0">
                <a:solidFill>
                  <a:srgbClr val="20152A"/>
                </a:solidFill>
                <a:effectLst/>
                <a:latin typeface="Arial" panose="020B0604020202020204" pitchFamily="34" charset="0"/>
              </a:rPr>
              <a:t>(Australian Dental Association, 2021)</a:t>
            </a:r>
          </a:p>
          <a:p>
            <a:endParaRPr lang="en-AU" dirty="0"/>
          </a:p>
          <a:p>
            <a:r>
              <a:rPr lang="en-AU" dirty="0"/>
              <a:t>Failure to comply with the Dental Board’s guidelines may lead to an investigation by a public health regulator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There is a risk of license restriction or suspension!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319E88-B9C2-0B9B-018E-588C2336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what exactly do we do for infection control?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74E115-AF86-1A4F-205C-9EE796FA80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5CB6FCE-D663-AE6A-A8EE-CA685EAAEA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628F28-9227-AF03-9FB7-F0DC9FA5A0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ADDBCD0-B8AE-2C54-43E1-77AF7B51AA2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553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A972-CFBF-BAC9-3A9E-958C5419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F743EE-01E9-B255-A9C8-2B874862D9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6921843" cy="4608512"/>
          </a:xfrm>
        </p:spPr>
        <p:txBody>
          <a:bodyPr>
            <a:normAutofit/>
          </a:bodyPr>
          <a:lstStyle/>
          <a:p>
            <a:r>
              <a:rPr lang="en-AU" dirty="0"/>
              <a:t>Important rules in cleanliness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Bare below elbows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Proper maintenance and moisturisation of skin</a:t>
            </a:r>
          </a:p>
          <a:p>
            <a:pPr marL="465750" lvl="1" indent="-285750"/>
            <a:r>
              <a:rPr lang="en-AU" dirty="0"/>
              <a:t>Laceration/cracked skin allow entry of microorganisms</a:t>
            </a:r>
          </a:p>
          <a:p>
            <a:pPr marL="465750" lvl="1" indent="-285750"/>
            <a:r>
              <a:rPr lang="en-AU" dirty="0"/>
              <a:t>Open wounds require fluid-proof dressing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When are the 5 moments?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Before seeing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During treatment (sterile treatment)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After exposure to bodily fluids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After discharging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After touching surroundings before disinfection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1C017F-458B-B7D5-B23A-8643AF18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*Hand hygiene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778107-8B71-D1FE-1589-BF1DC36E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32001F7-51D0-F848-4FF7-73C673D6A4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4CAB8B-A255-7F60-9EB8-588BFB2A18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29AF326-59AF-2271-B305-AA4533575C5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pic>
        <p:nvPicPr>
          <p:cNvPr id="1032" name="Picture 8" descr="16.1 – DE 115: Dental Radiography">
            <a:extLst>
              <a:ext uri="{FF2B5EF4-FFF2-40B4-BE49-F238E27FC236}">
                <a16:creationId xmlns:a16="http://schemas.microsoft.com/office/drawing/2014/main" id="{4386AA1D-F9C7-4421-7424-D045C3FF4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544" y="886619"/>
            <a:ext cx="5873455" cy="563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78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D3EB-0580-6AF7-8BFA-22C2D6825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EB244D9-255B-EC16-49E6-9F89220BD8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Gloves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For ALL clinical procedures, especially when coming into contact with mucous membranes</a:t>
            </a:r>
          </a:p>
          <a:p>
            <a:endParaRPr lang="en-AU" dirty="0"/>
          </a:p>
          <a:p>
            <a:r>
              <a:rPr lang="en-AU" dirty="0"/>
              <a:t>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Protects the mucous membranes of the nose and mouth against aerosols, splashes</a:t>
            </a:r>
          </a:p>
          <a:p>
            <a:endParaRPr lang="en-AU" dirty="0"/>
          </a:p>
          <a:p>
            <a:r>
              <a:rPr lang="en-AU" dirty="0"/>
              <a:t>Eye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Protection of mucous membranes of the eyes against aerosols, splatter of blood or saliva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Prescription glasses do </a:t>
            </a:r>
            <a:r>
              <a:rPr lang="en-AU" u="sng" dirty="0"/>
              <a:t>not</a:t>
            </a:r>
            <a:r>
              <a:rPr lang="en-AU" dirty="0"/>
              <a:t> replace eye protective wear, however prescription can be </a:t>
            </a:r>
            <a:r>
              <a:rPr lang="en-AU" u="sng" dirty="0"/>
              <a:t>added</a:t>
            </a:r>
            <a:r>
              <a:rPr lang="en-AU" dirty="0"/>
              <a:t> into some eye protective wear</a:t>
            </a:r>
          </a:p>
          <a:p>
            <a:endParaRPr lang="en-AU" dirty="0"/>
          </a:p>
          <a:p>
            <a:r>
              <a:rPr lang="en-AU" dirty="0"/>
              <a:t>Protective clothing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Protective gown/surgical gown, protective coats -&gt; remove before leaving clinic premises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daily scrubs are to be worn -&gt; another layer of protective clothing on top to </a:t>
            </a:r>
            <a:r>
              <a:rPr lang="en-AU" u="sng" dirty="0"/>
              <a:t>minimise</a:t>
            </a:r>
            <a:r>
              <a:rPr lang="en-AU" dirty="0"/>
              <a:t> contamination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95688EB-2BEA-EC9A-6364-6504C15B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*Personal Protective Equipment (PPE)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7F1861-E4A5-4185-6ADE-E69D5DA26C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526187-D61C-6171-B91F-52EE0C5FCF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315B924-B220-A371-B01E-487BB302731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D2A9AD3-B55D-0D6B-059F-059F005328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078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863A-D5AE-3E2C-BA50-084DBD09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766E19-3DE9-30EC-A1DB-F239950F83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Sterilisation: process of rendering an item free of all forms of viable micro-organisms, including spores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most efficient and simplest method of sterilising </a:t>
            </a:r>
            <a:r>
              <a:rPr lang="en-AU" u="sng" dirty="0"/>
              <a:t>equipment</a:t>
            </a:r>
            <a:r>
              <a:rPr lang="en-AU" dirty="0"/>
              <a:t> is pressurised steam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Known as autoclaving (TGA approved &amp; operated according to AS/NZS 4187 and/or AS/NZS4815)</a:t>
            </a:r>
          </a:p>
          <a:p>
            <a:pPr marL="465750" lvl="1" indent="-285750"/>
            <a:r>
              <a:rPr lang="en-AU" dirty="0"/>
              <a:t>As side a note: even autoclaving cannot achieve </a:t>
            </a:r>
            <a:r>
              <a:rPr lang="en-AU" u="sng" dirty="0"/>
              <a:t>full</a:t>
            </a:r>
            <a:r>
              <a:rPr lang="en-AU" dirty="0"/>
              <a:t> sterilisation, but it does remove microbial load to an acceptable level to be labelled as “sterilised”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Disinfection: process of using chemicals to kill microorganisms on surfaces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This process in itself does not necessarily fully kill </a:t>
            </a:r>
            <a:r>
              <a:rPr lang="en-AU" u="sng" dirty="0"/>
              <a:t>all</a:t>
            </a:r>
            <a:r>
              <a:rPr lang="en-AU" dirty="0"/>
              <a:t> microorganisms or remove them/broken down by products from the surfaces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Reduces the microbial load less than the sterilisation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Why do we need to know the difference?</a:t>
            </a:r>
          </a:p>
          <a:p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42F045F-DCBB-084D-5CAF-AE034B3B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Sterilisation vs Disinfection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D2317E-3D12-3658-7140-6CBC3493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27E05FF-916A-14DF-E3A6-33DF86117C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2F0D16-499E-545A-FB26-52ECCA9FEB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A613B1D-01AA-CB4D-28EA-E7448E98CEF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720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61D8-A58E-735B-7784-90CB7EC3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16D431-9DFC-68E1-C4FE-FF6B789A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Process of sterilisation in Dentistry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7BF004F-E32F-7075-BF2C-299610DAF6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19F5E77-C012-5CAC-0C3D-E430477570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43F28-01AB-BB19-5767-00A1DF3274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E3891A-79DF-B672-B5D9-D32462FDD58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09FB0C-C0EA-BC6A-0F3A-FFAF28030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023" y="1525694"/>
            <a:ext cx="8315977" cy="4782448"/>
          </a:xfrm>
          <a:prstGeom prst="rect">
            <a:avLst/>
          </a:prstGeom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D5EC3A48-1DE0-A0D7-0156-0241DF753A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3384548" cy="460851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AU" dirty="0"/>
              <a:t>Preparation (PPE)</a:t>
            </a:r>
          </a:p>
          <a:p>
            <a:pPr marL="342900" indent="-342900">
              <a:buAutoNum type="arabicPeriod"/>
            </a:pPr>
            <a:r>
              <a:rPr lang="en-AU" dirty="0"/>
              <a:t>Cleaning (detergent solution)</a:t>
            </a:r>
          </a:p>
          <a:p>
            <a:pPr marL="342900" indent="-342900">
              <a:buAutoNum type="arabicPeriod"/>
            </a:pPr>
            <a:r>
              <a:rPr lang="en-AU" dirty="0"/>
              <a:t>Rinsing</a:t>
            </a:r>
          </a:p>
          <a:p>
            <a:pPr marL="342900" indent="-342900">
              <a:buAutoNum type="arabicPeriod"/>
            </a:pPr>
            <a:r>
              <a:rPr lang="en-AU" dirty="0"/>
              <a:t>Drying (lint free towels)</a:t>
            </a:r>
          </a:p>
          <a:p>
            <a:pPr marL="342900" indent="-342900">
              <a:buAutoNum type="arabicPeriod"/>
            </a:pPr>
            <a:r>
              <a:rPr lang="en-AU" dirty="0"/>
              <a:t>Packaging (</a:t>
            </a:r>
            <a:r>
              <a:rPr lang="en-AU" dirty="0" err="1"/>
              <a:t>steri</a:t>
            </a:r>
            <a:r>
              <a:rPr lang="en-AU" dirty="0"/>
              <a:t> pouch)</a:t>
            </a:r>
          </a:p>
          <a:p>
            <a:pPr marL="342900" indent="-342900">
              <a:buAutoNum type="arabicPeriod"/>
            </a:pPr>
            <a:r>
              <a:rPr lang="en-AU" dirty="0"/>
              <a:t>Sterilisation</a:t>
            </a:r>
          </a:p>
          <a:p>
            <a:pPr marL="342900" indent="-342900">
              <a:buAutoNum type="arabicPeriod"/>
            </a:pPr>
            <a:r>
              <a:rPr lang="en-AU" dirty="0"/>
              <a:t>Storage</a:t>
            </a:r>
          </a:p>
          <a:p>
            <a:pPr marL="342900" indent="-342900">
              <a:buAutoNum type="arabicPeriod"/>
            </a:pPr>
            <a:r>
              <a:rPr lang="en-AU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340615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94EA-699B-3BEC-3B89-7E83CCB4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2925724-72BB-5527-39D9-811AD017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Autoclave machine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9A2F16-9534-0AC1-35D2-594B2A3278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098C520-CCFD-273E-C397-88D5EFA28E9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327A16-94FA-1ED0-EA35-E14B6F34C61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EAABF7B-D0C7-9431-3950-C9C4EDE3BA8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8026F7-25D7-F6F7-8296-85F3DE4A5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19" y="1765668"/>
            <a:ext cx="11169562" cy="428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4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E5BDA-DEEB-430D-E6D4-BB976777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B56B79-7055-EB46-9923-4A3C486E63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As alluded to in prior slides, as we are a healthcare profession, we are regulated by standard that we need to uphold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Investigating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Performing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Maintaining/cleaning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Autoclaves are subject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TGA approval for the machine to be allowed to be sold and used in Australia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Operated according to standards (Helix test and Bowie-Dick 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Undergo process of validation upon installation (similar with other equipment such as the </a:t>
            </a:r>
            <a:r>
              <a:rPr lang="en-AU" dirty="0" err="1"/>
              <a:t>xray</a:t>
            </a:r>
            <a:r>
              <a:rPr lang="en-AU" dirty="0"/>
              <a:t> machine)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Regular inspection and performance testing to ensure it is still to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All cycles of autoclaving must have have batch control identification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6FACBE8-4C69-B86B-E920-CC4D128D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Maintenance and testing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D81E61-F131-5C6C-B8B4-F2EC2FADD1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E24B913-C499-8BB4-D6B5-BB15AA3A8DD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20B879-0F01-C307-3BBB-732F07E8C99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37119-9F4E-A181-8B97-6A57DC3CEB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775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2A52-46DB-630C-1803-BE3D1AB6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E1736D-ADDF-FFCB-0CCD-C9FCA6FAF0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The dental unit waterline is a component in the dental chair where water may remain stagnant -&gt; fosters microbial growth!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growth of microbes are counted in Colony Forming Units (CFU)/mL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growth of these microbes can then be produces as aerosols into the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Microbes can still grow in flowing dental unit waterline if the water flows slowly!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CFU requirements for different types of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Surgical procedures -&gt; sterile (0 CFU/mL)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External water (piped water) -&gt; 20~50 CFU/mL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Dent unit handpiece -&gt; &lt;200 CFU/mL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Drink cup water -&gt; potable water (&lt;500CFU/mL)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473A3EA-1F9A-8480-B0C0-5EE43AA9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Dental unit waterline (DUWL)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0E7ECB-BC3B-3348-F145-7E41B84EE9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229889-1A93-F712-DBB8-E126EABB17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54B1F8-BEA2-F585-5352-E0CE5E58F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EE0C272-6DE9-6790-DBF6-02838395A2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067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F053-2476-2FC5-383C-5AFB890B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6470C52-85D4-D445-F4EB-E3921682EF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Some older dental chairs have been found with 100,000 to 1</a:t>
            </a:r>
            <a:r>
              <a:rPr lang="en-AU" u="sng" dirty="0"/>
              <a:t>million</a:t>
            </a:r>
            <a:r>
              <a:rPr lang="en-AU" i="1" dirty="0"/>
              <a:t> </a:t>
            </a:r>
            <a:r>
              <a:rPr lang="en-AU" dirty="0"/>
              <a:t>CFU/mL in the past…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All equipment that supplies water into the oral cavity must be fitted with non-return valves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the chair uses a separate bottled water supply -&gt; chemical disinfection of water (or use sterile water if available) for the dental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Minimum 2 minutes of air + waterlines flush at beginning of day</a:t>
            </a:r>
          </a:p>
          <a:p>
            <a:pPr marL="465750" lvl="1" indent="-285750"/>
            <a:r>
              <a:rPr lang="en-AU" dirty="0"/>
              <a:t>30seconds between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End of day (or end of week depending on chemical) chemical cleansing of suction lines</a:t>
            </a:r>
          </a:p>
          <a:p>
            <a:pPr marL="465750" lvl="1" indent="-285750"/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D4E0CB2-EDE7-F169-00E2-0DD637D9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Managing the waterline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B55C7E-885B-E9B5-8FF1-0E822EA5D6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94A1C4-DA57-3D26-8ADB-F9D3B47F9C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45CAF02-A944-4B82-67D7-B7BD2E83F1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735A045-B5C1-EBB1-D60F-DDA2279D17A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AE74CF-9C64-7F7B-3873-3EB072E8C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40" y="4707973"/>
            <a:ext cx="2216692" cy="20100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B14254-43A3-938B-332D-36021B662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435" y="4038771"/>
            <a:ext cx="9525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6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DE97-D028-F188-8FFD-37FDC4C4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7457F1-BEBF-1E16-9E44-48A29E039A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65750" lvl="1" indent="-285750"/>
            <a:r>
              <a:rPr lang="en-AU" dirty="0"/>
              <a:t>Just within a normal dental chair, the CFU/mL can fluctuate between 0~80,000, with an average of 9,500</a:t>
            </a:r>
          </a:p>
          <a:p>
            <a:pPr marL="465750" lvl="1" indent="-285750"/>
            <a:r>
              <a:rPr lang="en-AU" dirty="0"/>
              <a:t>Patients can be exposed to various microbes:</a:t>
            </a:r>
          </a:p>
          <a:p>
            <a:pPr marL="645750" lvl="2" indent="-285750"/>
            <a:r>
              <a:rPr lang="en-AU" dirty="0"/>
              <a:t>Pseudomonas aeruginosa (survives soap cleaning)</a:t>
            </a:r>
          </a:p>
          <a:p>
            <a:pPr marL="645750" lvl="2" indent="-285750"/>
            <a:r>
              <a:rPr lang="en-AU" dirty="0"/>
              <a:t>Legionella organisms (immunocompromised and smokers at great risk)</a:t>
            </a:r>
          </a:p>
          <a:p>
            <a:pPr marL="645750" lvl="2" indent="-285750"/>
            <a:r>
              <a:rPr lang="en-AU" dirty="0" err="1"/>
              <a:t>Eschericia</a:t>
            </a:r>
            <a:r>
              <a:rPr lang="en-AU" dirty="0"/>
              <a:t> Coli, and others</a:t>
            </a:r>
          </a:p>
          <a:p>
            <a:pPr marL="465750" lvl="1" indent="-285750"/>
            <a:endParaRPr lang="en-AU" dirty="0"/>
          </a:p>
          <a:p>
            <a:pPr lvl="1" indent="0">
              <a:buNone/>
            </a:pPr>
            <a:r>
              <a:rPr lang="en-AU" dirty="0"/>
              <a:t>You don’t want to be the responsible clinician if your immunocompromised </a:t>
            </a:r>
            <a:r>
              <a:rPr lang="en-AU"/>
              <a:t>patient becomes sick</a:t>
            </a: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EFEF9D8-BF13-FFC6-4295-FBC0740B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does this matter?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4374CD-8EFD-7426-6FD0-2271B38E4C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A6C7D29-DF20-1B45-E33D-2C5989E281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7E089-20DF-93A0-7357-181B6C4A50D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17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33E1BBE-4744-E3BF-A67A-94E2060F4D3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365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7605-D65B-E2C5-FA74-7813C936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1588D0-D745-F93D-2D60-5DE31F879E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Do ∫</a:t>
            </a:r>
            <a:r>
              <a:rPr lang="en-AU" b="1" u="sng" dirty="0"/>
              <a:t>NOT</a:t>
            </a:r>
            <a:r>
              <a:rPr lang="en-AU" dirty="0"/>
              <a:t> underestimate the weakness of an immunocompromised (IC)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Every single disease exists in a spectrum of severity</a:t>
            </a:r>
          </a:p>
          <a:p>
            <a:pPr marL="465750" lvl="1" indent="-285750"/>
            <a:r>
              <a:rPr lang="en-AU" dirty="0" err="1"/>
              <a:t>Eg</a:t>
            </a:r>
            <a:r>
              <a:rPr lang="en-AU" dirty="0"/>
              <a:t> think about when you have a cold…</a:t>
            </a:r>
          </a:p>
          <a:p>
            <a:pPr marL="465750" lvl="1" indent="-285750"/>
            <a:r>
              <a:rPr lang="en-AU" dirty="0"/>
              <a:t>The severity of your cold symptoms doesn’t run at 100% for the entire duration of your sickness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One IC patient’s system will not be at the same level as another</a:t>
            </a:r>
          </a:p>
          <a:p>
            <a:pPr marL="465750" lvl="1" indent="-285750"/>
            <a:r>
              <a:rPr lang="en-AU" dirty="0"/>
              <a:t>A single patient’s immunity itself can also have times where it is lower than another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IE, an “immunocompromised” patient and an IMMUNOCOMPROMISED patient will tolerate different levels of exposure</a:t>
            </a:r>
          </a:p>
          <a:p>
            <a:pPr marL="465750" lvl="1" indent="-285750"/>
            <a:r>
              <a:rPr lang="en-AU" dirty="0"/>
              <a:t>Don’t draw an assumption just because that one IC patient you’ve seen “was fine”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A1428DD-C465-EEA7-F4B9-2BBC3A23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word for warning for your career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15F50A-556E-620B-DCFE-3AA3A65996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7A04839-7C29-E0E2-E291-B38CAC659D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035025B-7AD2-22C8-757A-F7FC3FB4A2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18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542DD7A-0854-DDFE-6896-CA5A067D392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266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C40F-B592-A6AA-F831-F601536B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94753FD-52BA-2273-5532-AEA17343E0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Although the treatment room in itself is to be considered contaminated, it is still important to identify which areas in the room are </a:t>
            </a:r>
            <a:r>
              <a:rPr lang="en-AU" u="sng" dirty="0"/>
              <a:t>relatively</a:t>
            </a:r>
            <a:r>
              <a:rPr lang="en-AU" dirty="0"/>
              <a:t> more clean to appropriate distinguish clean and dirty items (and where they can be placed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B32AFF-9457-F22D-EE9C-4262166D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Sterile vs non-sterile (treatment room)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29A118-63B4-7EE0-8781-EC541F66EC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2AA25-BA9C-F9E2-B096-9C57A73C7D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BFD54A9-BF0C-2397-6200-FD65815AC9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19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399C686-459F-6892-6778-43828C7A72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1EC708-D56B-24F5-021E-5C0DAA8C9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100" y="2524125"/>
            <a:ext cx="61595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26AD9-87AE-E72E-00AD-27FCC8F05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842B4FE-4CE0-7AEA-3691-ED8C6A9B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Sterile vs non-sterile (equipment)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910045-344F-F417-8CAE-82FF4CB2CD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CDB0555-73A7-4FF2-B974-21593BD367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E7D970-9A47-9AC8-D6D1-BEFAEDE635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20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CD2CF0D-B834-1522-02C9-87A77EFEF2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1C996C-C82D-E5E0-26DC-1C84809A8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31" y="1503389"/>
            <a:ext cx="9937104" cy="508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9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498A-73C5-B0BC-8FA4-E8C9F324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DCDE01A-B294-7D18-5E47-C3C23F1E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Introduction to sharps management in surgical procedures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6AA31C-E202-7050-64A9-273EAD02AD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B35A0A-8E6F-7EC7-E6B4-4D8340E254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91EF7F-7285-F914-57DB-3035EB58D76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21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49F0E21-56D0-34E6-6D0F-4ADF8093EAF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51386-B713-72AE-C6F3-C340AC83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916832"/>
            <a:ext cx="4201492" cy="32898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CB4ED0-3A33-5DEE-9158-7E530EBE4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822" y="1916832"/>
            <a:ext cx="5736778" cy="247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3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0435-68AE-8E55-5A76-8FBF3DAF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9F23B0-1E27-C765-EE22-B529DDEA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Introduction to sharps management in surgical procedures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FFFDA2-1F2D-DAF1-F1D4-1A250A1ABA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14CA8A-6BB9-0874-504D-C76209780B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C817E5-CB71-3D68-C824-C7C3EDFB0A1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22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9A37AAA-2527-793D-622B-453D32A1DD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4BE535-5EF7-21C3-6A5C-177C79B6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4916"/>
            <a:ext cx="4713808" cy="3075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3E6541-BDC5-428C-A4CA-9D9BB45E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43" y="3440679"/>
            <a:ext cx="4896868" cy="3075472"/>
          </a:xfrm>
          <a:prstGeom prst="rect">
            <a:avLst/>
          </a:prstGeom>
        </p:spPr>
      </p:pic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6A5447D3-D9E7-B65F-9012-C96B03A7E5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10801350" cy="4608512"/>
          </a:xfrm>
        </p:spPr>
        <p:txBody>
          <a:bodyPr/>
          <a:lstStyle/>
          <a:p>
            <a:r>
              <a:rPr lang="en-AU" sz="2000" b="1" u="sng" dirty="0"/>
              <a:t>Do not!</a:t>
            </a:r>
            <a:endParaRPr lang="en-A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Pass around sharps unless sharps component is protected/removed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/>
              <a:t>Resheathe</a:t>
            </a:r>
            <a:r>
              <a:rPr lang="en-AU" dirty="0"/>
              <a:t> needles/sharps unless with proper recapping device/appropriate handling technique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Leave sharps exposed and unattended (</a:t>
            </a:r>
            <a:r>
              <a:rPr lang="en-AU" dirty="0" err="1"/>
              <a:t>resheathed</a:t>
            </a:r>
            <a:r>
              <a:rPr lang="en-AU" dirty="0"/>
              <a:t> </a:t>
            </a:r>
            <a:r>
              <a:rPr lang="en-AU" u="sng" dirty="0"/>
              <a:t>appropriately</a:t>
            </a:r>
            <a:r>
              <a:rPr lang="en-AU" dirty="0"/>
              <a:t> or transported to sterilising room to be binned into sharps waste bin</a:t>
            </a:r>
          </a:p>
        </p:txBody>
      </p:sp>
      <p:pic>
        <p:nvPicPr>
          <p:cNvPr id="5122" name="Picture 2" descr="S22 | Sharpsmart Container for Non ...">
            <a:extLst>
              <a:ext uri="{FF2B5EF4-FFF2-40B4-BE49-F238E27FC236}">
                <a16:creationId xmlns:a16="http://schemas.microsoft.com/office/drawing/2014/main" id="{0600DAEF-0E05-3CF3-304E-35575C64A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11" y="3440679"/>
            <a:ext cx="26035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0AE3-014C-0224-30A4-DBD12F421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4ACB5E-6D5C-DC4B-6115-3CFCD1B26B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It is the clinician’s responsibility to ensure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Equipment is properly sterilised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Sharps are appropriately handled and disposed of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All attending staff also involved with the patient have appropriately disinfected/protected themselves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It is common for private dental practices to delegate this task to staff and trained nurses/assistants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This does </a:t>
            </a:r>
            <a:r>
              <a:rPr lang="en-AU" u="sng" dirty="0"/>
              <a:t>not</a:t>
            </a:r>
            <a:r>
              <a:rPr lang="en-AU" dirty="0"/>
              <a:t> make the responsibility transfer to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clinician who last handles the equipment and onto the patient becomes responsible!!!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653130-885E-29BA-46B6-F8F0DABC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Delegation and responsibilities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D209F4-A5E6-FD31-1FE6-38625BEFDA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75B7009-B507-776D-9B08-8DFC4C67C86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3DDEF8-AC99-2893-D205-3733A57B51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23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4970BA-2077-CECB-981C-7501CBBB27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5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DA32-175C-C34A-D7FE-54962F73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454A874-C26A-3A2B-5E54-2CBABB2A35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The premises of the clinic Is usually divided into distinct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Office areas (clean zone)</a:t>
            </a:r>
          </a:p>
          <a:p>
            <a:pPr marL="465750" lvl="1" indent="-285750"/>
            <a:r>
              <a:rPr lang="en-AU" dirty="0"/>
              <a:t>Reception</a:t>
            </a:r>
          </a:p>
          <a:p>
            <a:pPr marL="465750" lvl="1" indent="-285750"/>
            <a:r>
              <a:rPr lang="en-AU" dirty="0"/>
              <a:t>Staff room</a:t>
            </a:r>
          </a:p>
          <a:p>
            <a:pPr marL="465750" lvl="1" indent="-285750"/>
            <a:r>
              <a:rPr lang="en-AU" dirty="0"/>
              <a:t>Waiting room, and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Contaminated areas</a:t>
            </a:r>
          </a:p>
          <a:p>
            <a:pPr marL="465750" lvl="1" indent="-285750"/>
            <a:r>
              <a:rPr lang="en-AU" dirty="0"/>
              <a:t>Sterilisation room</a:t>
            </a:r>
          </a:p>
          <a:p>
            <a:pPr marL="465750" lvl="1" indent="-285750"/>
            <a:r>
              <a:rPr lang="en-AU" dirty="0"/>
              <a:t>Treatment rooms</a:t>
            </a:r>
          </a:p>
          <a:p>
            <a:endParaRPr lang="en-AU" dirty="0"/>
          </a:p>
          <a:p>
            <a:r>
              <a:rPr lang="en-AU" dirty="0"/>
              <a:t>Treatment 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treatment room is further divided into its relative clean and dirty zones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9DE3DE-0DAF-1A43-BF5C-6E279AD9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Dental environment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0BA636-486D-E0C1-8E60-D3DA81C963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5C164-C389-A99F-D01D-2FA9F192E6F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2D01C66-E632-C81C-F35A-20DF0C4D84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24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8D2CAAA-2FCF-7E26-36E5-258C76800D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908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54BF-1B49-F4EF-0A16-616E64AB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DDB92C-C81D-3ED7-730D-0B8B2582F54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Any incidents where a contaminated or possibly contaminated object/substance breaches the skin or mucous membrane (including contact with eyes)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/>
              <a:t>Eg</a:t>
            </a:r>
            <a:r>
              <a:rPr lang="en-AU" dirty="0"/>
              <a:t> blood/saliva contaminated dental instrument “pokes” the skin of practitioner</a:t>
            </a:r>
          </a:p>
          <a:p>
            <a:endParaRPr lang="en-AU" dirty="0"/>
          </a:p>
          <a:p>
            <a:r>
              <a:rPr lang="en-AU" dirty="0"/>
              <a:t>All incidents must be reported and tracked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0187D-85C3-3121-0860-7F8FBC94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Exposure incident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38E775-8B26-912E-206B-28A5D01E4E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E20E8C2-E1EC-5367-3FBF-8AAC45BDA16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544BF44-8398-F127-A3BC-04AF10913E9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25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08BA813-B6AB-6AC9-D8E3-C167CA49AB4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7CA9F4-C739-8056-BC1E-45103A25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736" y="3429000"/>
            <a:ext cx="6603108" cy="272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8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3029A-EE3B-1338-FF58-9734BBA1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85E5DA-3C47-8804-B141-FC45814380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Baseline blood test of PATIENT (source) and injured person (staff)</a:t>
            </a:r>
          </a:p>
          <a:p>
            <a:pPr marL="465750" lvl="1" indent="-285750"/>
            <a:r>
              <a:rPr lang="en-AU" dirty="0"/>
              <a:t>Ideally same day of injury</a:t>
            </a:r>
          </a:p>
          <a:p>
            <a:pPr marL="465750" lvl="1" indent="-285750"/>
            <a:r>
              <a:rPr lang="en-AU" dirty="0"/>
              <a:t>If pt declines blood test, unfortunately you can only investigate the injured person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Follow up review blood test</a:t>
            </a:r>
          </a:p>
          <a:p>
            <a:pPr marL="465750" lvl="1" indent="-285750"/>
            <a:r>
              <a:rPr lang="en-AU" dirty="0"/>
              <a:t>3month if HIV</a:t>
            </a:r>
          </a:p>
          <a:p>
            <a:pPr marL="465750" lvl="1" indent="-285750"/>
            <a:r>
              <a:rPr lang="en-AU" dirty="0"/>
              <a:t>6month if Hepatitis B or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there is a high risk category for infectious transfer, may need referral to infectious disease physician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5AD06C2-2DA2-B723-A429-3F1E6AED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Mandatory testing for exposure incidents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E4CB5C-1CC1-0E09-E101-99F2760521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1C1C22-158D-12DF-8CD8-CD1D8205B5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9F2AF6-8A3A-A8EC-06BC-BAC67FA8DF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26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523EE74-0638-15D0-AE21-4AFCD407C3B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100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47A1-3796-EB4B-A75E-2375A5B0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CC072D1-5653-5789-6FAA-E4402797D2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Your duty of care as a practitioner means that you cannot discriminately prioritise or “choose” which patients to see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All patients must be treated the same, unless there is a genuine medical/legal/personal factor that may compromise an unbiased care to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If you sustain a sharps injury: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Follow the usual mandatory incident report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Seek counselling or further advice from the GP if you need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94BB647-8D6A-A566-75AA-8AE1B34C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My patient is positive for Hep B/C or HIV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6837A8-5F40-1DFB-4F2E-8A75E4BA7A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25FA59B-DFC0-8E26-E9B3-DC0DB9C24F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260A2B-1A4A-296F-A50E-D1595EB9CD8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27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8CAD40D-9ED1-0D5A-6CC3-1722E000D8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148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2C1C4-453E-497E-4B84-27F3B18B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43763F-10BC-4103-B77E-44C2FB7269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Domestic waste vs medical (contaminated) waste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Domestic waste is treated as general waste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Medical waste may be placed through an incineration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IE: contaminated waste and clinical waste must be binned appropriately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Any extracted teeth must be cleaned of visible:</a:t>
            </a:r>
          </a:p>
          <a:p>
            <a:pPr marL="465750" lvl="1" indent="-285750"/>
            <a:r>
              <a:rPr lang="en-AU" dirty="0"/>
              <a:t>Blood/saliva</a:t>
            </a:r>
          </a:p>
          <a:p>
            <a:pPr marL="465750" lvl="1" indent="-285750"/>
            <a:r>
              <a:rPr lang="en-AU" dirty="0"/>
              <a:t>Debris</a:t>
            </a:r>
          </a:p>
          <a:p>
            <a:pPr marL="465750" lvl="1" indent="-285750"/>
            <a:r>
              <a:rPr lang="en-AU" dirty="0"/>
              <a:t>Soft tissues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Extracted teeth can be disposed of in domestic waste once cleaned</a:t>
            </a:r>
          </a:p>
          <a:p>
            <a:pPr marL="465750" lvl="1" indent="-285750"/>
            <a:r>
              <a:rPr lang="en-AU" dirty="0"/>
              <a:t>Teeth that contain amalgam restorations (grey filling) may be illegal to incinerate in some states!</a:t>
            </a:r>
          </a:p>
          <a:p>
            <a:pPr marL="465750" lvl="1" indent="-285750"/>
            <a:r>
              <a:rPr lang="en-AU" dirty="0"/>
              <a:t>Cannot bin in medical waste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599E86-68CE-2375-B5E6-5A03A899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Clinical waste management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650F8A9-A936-EB68-0E64-BEE9C369F7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FD6979-C2CC-6B08-D3C3-E79BBA0C5A5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FC29EB9-16EA-8620-B639-A62A20F41F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28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5A2640C-E888-69CE-FBBF-7CB08D6AD48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36E61C-5FFB-383B-7550-A0BACCAD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158" y="879554"/>
            <a:ext cx="40640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C427-BD81-2094-3283-03FB04FE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5788-C8DB-A085-0DB7-0971699D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Ergonomics</a:t>
            </a:r>
          </a:p>
        </p:txBody>
      </p:sp>
    </p:spTree>
    <p:extLst>
      <p:ext uri="{BB962C8B-B14F-4D97-AF65-F5344CB8AC3E}">
        <p14:creationId xmlns:p14="http://schemas.microsoft.com/office/powerpoint/2010/main" val="33473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08A7-8808-E8A8-C998-6C288AA8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BF4636-C94A-AAA0-C610-D923B3DE518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Identify musculoskeletal risks associated with the practice of Dentistry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Demonstrate correct ergonomics to reduce work-related musculoskeletal injuries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Identify additional strategies to promote ergonomic practice of Dentistry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ADB21DF-3CC0-FAA5-A1FF-CCA582FA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objectives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AA0754-9EFC-7304-7974-A711BA5A0B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925938A-C384-58C4-20AA-BE3FBC4950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E8B9F2-0E77-ED88-72DA-6C4C1FB453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30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AFDD354-059B-3067-6324-AE3A32999EE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71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63F9C2-CB3E-5DAB-B04E-DC7B41A53D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Ergonomics is an applied science of the “fit” between the practitioner and their technological tools or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Ergonomics is not simply an understanding of common notion, but an application of demonstrated research and scientific evidence for the most ideal retention of healthy posture</a:t>
            </a:r>
          </a:p>
          <a:p>
            <a:endParaRPr lang="en-AU" dirty="0"/>
          </a:p>
          <a:p>
            <a:r>
              <a:rPr lang="en-AU" dirty="0"/>
              <a:t>The ideal ergonomics in Dentistry utilises: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Neutral positioning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Use of ancillary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Implemented routine self-care and 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Gold standard instrument grasping technique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DD0681-5E00-C911-BC39-1B58D33A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ergonomics?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0BA5C-4274-41F4-606E-434D51D8F8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BBE35-7452-2862-FED6-09B58ACF73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6CCFA-E986-3652-42F2-E664591877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31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2684-F8B8-9CF9-B21D-9B3AAB20AF6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F3FE6C-18F6-57F9-8D05-5BBB3A53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829" y="4293096"/>
            <a:ext cx="4225741" cy="219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B3D8DD-21DA-B61B-9B80-2B8E675658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AU" dirty="0"/>
              <a:t>Musculoskeletal disorder is a condition where parts of the musculoskeletal system are injured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Muscles, tendons, nerves</a:t>
            </a:r>
          </a:p>
          <a:p>
            <a:r>
              <a:rPr lang="en-AU" dirty="0"/>
              <a:t>Injuries to MSD are caused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Fast-paced or repetitive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Forceful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Poor posture</a:t>
            </a:r>
          </a:p>
          <a:p>
            <a:endParaRPr lang="en-AU" dirty="0"/>
          </a:p>
          <a:p>
            <a:r>
              <a:rPr lang="en-AU" dirty="0"/>
              <a:t>Dental literature identifies that Dentists and Dental hygienists are regularly exposed to ergonomic risks factors, leading to discomfort, pain, and disability.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Systematic review evidence reports that 29.5% of surveyed practitioners were forced to retire prematurely due to musculoskeletal disorder</a:t>
            </a:r>
          </a:p>
          <a:p>
            <a:pPr marL="645750" lvl="2" indent="-285750"/>
            <a:r>
              <a:rPr lang="en-AU" dirty="0" err="1"/>
              <a:t>Halkai</a:t>
            </a:r>
            <a:r>
              <a:rPr lang="en-AU" dirty="0"/>
              <a:t> 2022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62C9A3-73A3-2612-ADBF-FECC3FF7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is this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429FB-BC82-662F-B9AB-8A960A206B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00D89-A5FA-648C-2AE7-B6F8B9D11A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B5E69-7287-3BD1-1D43-839F3250C2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32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1E22B-20BE-A581-527C-DA5B7EE8935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60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99622D-611B-2A50-35F2-0D2BFC2053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9089" y="4082169"/>
            <a:ext cx="2310567" cy="2226556"/>
          </a:xfrm>
        </p:spPr>
        <p:txBody>
          <a:bodyPr/>
          <a:lstStyle/>
          <a:p>
            <a:r>
              <a:rPr lang="en-AU" dirty="0"/>
              <a:t>Neck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Head tilt of 0 ~ 20 degrees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B5E74A-DEE6-ED46-9155-3064A1CE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Neutral position: Upper body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0F66C-A58B-9957-303B-A4CEB00D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B0E5-6790-4A0D-2C4A-BAD7D2E6611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91C22-2734-4BA3-E646-4E70303B5AA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33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80AD6-713A-C807-E19A-5CEFE2E7D40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A5FC05-4298-202A-DDF8-229321BE6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709" y="1700213"/>
            <a:ext cx="1226773" cy="2348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4B5DA2-3A80-88E3-CE80-95FF81017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341" y="1700213"/>
            <a:ext cx="2249083" cy="2760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7D3AD9-F898-BF01-AF54-83985C656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89" y="1700213"/>
            <a:ext cx="1635697" cy="2381956"/>
          </a:xfrm>
          <a:prstGeom prst="rect">
            <a:avLst/>
          </a:prstGeom>
        </p:spPr>
      </p:pic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45ED85E-9607-5D3A-47C4-343F80545CB8}"/>
              </a:ext>
            </a:extLst>
          </p:cNvPr>
          <p:cNvSpPr txBox="1">
            <a:spLocks/>
          </p:cNvSpPr>
          <p:nvPr/>
        </p:nvSpPr>
        <p:spPr>
          <a:xfrm>
            <a:off x="5119450" y="4460346"/>
            <a:ext cx="1946864" cy="2226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79388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79388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­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9388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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40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2000" b="1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Trunk flexion of 0 ~ 20 degrees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Lean </a:t>
            </a:r>
            <a:r>
              <a:rPr lang="en-AU" b="1" u="sng" dirty="0"/>
              <a:t>slightly</a:t>
            </a:r>
            <a:r>
              <a:rPr lang="en-AU" dirty="0"/>
              <a:t> forward (hinge motion)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C297494-9CA9-B08D-9085-ECDD68D5A62C}"/>
              </a:ext>
            </a:extLst>
          </p:cNvPr>
          <p:cNvSpPr txBox="1">
            <a:spLocks/>
          </p:cNvSpPr>
          <p:nvPr/>
        </p:nvSpPr>
        <p:spPr>
          <a:xfrm>
            <a:off x="10068246" y="4082169"/>
            <a:ext cx="1635697" cy="2226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79388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79388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­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9388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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40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2000" b="1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Torso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In line with long-axis of body</a:t>
            </a:r>
          </a:p>
        </p:txBody>
      </p:sp>
    </p:spTree>
    <p:extLst>
      <p:ext uri="{BB962C8B-B14F-4D97-AF65-F5344CB8AC3E}">
        <p14:creationId xmlns:p14="http://schemas.microsoft.com/office/powerpoint/2010/main" val="20812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880BCC-C140-8D10-04D9-338007DB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Neutral position: limb extension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6BD58-F702-F294-1D57-6302F528FD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51133-B922-3DD5-35F4-D01753BE0B9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2A9CA-E277-8E95-BF76-15636444E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34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9D7EC-2A44-AADC-3192-5F237B057D4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A31610-FCF6-F395-EBD6-3313CE43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4" y="1700213"/>
            <a:ext cx="1840159" cy="22577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78B3D8-DCB3-A24A-6A7B-A21F0191C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69" y="1700213"/>
            <a:ext cx="2430827" cy="2235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D2CB91-8058-6C15-E5B6-7BF1F220E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2081" y="1732238"/>
            <a:ext cx="2294519" cy="2675467"/>
          </a:xfrm>
          <a:prstGeom prst="rect">
            <a:avLst/>
          </a:prstGeom>
        </p:spPr>
      </p:pic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72E4CF8-8EE1-3D71-75A7-1FD9EECDE5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9089" y="4082169"/>
            <a:ext cx="2094543" cy="2226556"/>
          </a:xfrm>
        </p:spPr>
        <p:txBody>
          <a:bodyPr/>
          <a:lstStyle/>
          <a:p>
            <a:r>
              <a:rPr lang="en-AU" dirty="0"/>
              <a:t>Shoulder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to horizontal plane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C0F79D4E-CFE4-DB6C-3081-88C891EC9993}"/>
              </a:ext>
            </a:extLst>
          </p:cNvPr>
          <p:cNvSpPr txBox="1">
            <a:spLocks/>
          </p:cNvSpPr>
          <p:nvPr/>
        </p:nvSpPr>
        <p:spPr>
          <a:xfrm>
            <a:off x="4615856" y="3957991"/>
            <a:ext cx="2954052" cy="2226556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79388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79388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­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9388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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40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2000" b="1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Upper 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Arms should hang parallel to long-axis of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Elbows are at waist level, or 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Elbow may be up to 20 degrees away from body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23DEE45C-D075-E2AA-FEF7-250D5C736586}"/>
              </a:ext>
            </a:extLst>
          </p:cNvPr>
          <p:cNvSpPr txBox="1">
            <a:spLocks/>
          </p:cNvSpPr>
          <p:nvPr/>
        </p:nvSpPr>
        <p:spPr>
          <a:xfrm>
            <a:off x="9203164" y="4412724"/>
            <a:ext cx="2294519" cy="22265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79388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79388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Char char="­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79388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"/>
              <a:defRPr lang="en-US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240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2000" b="1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Forearm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to floor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raised or lowered: by pivoting at elbow, not shoulder</a:t>
            </a:r>
          </a:p>
        </p:txBody>
      </p:sp>
    </p:spTree>
    <p:extLst>
      <p:ext uri="{BB962C8B-B14F-4D97-AF65-F5344CB8AC3E}">
        <p14:creationId xmlns:p14="http://schemas.microsoft.com/office/powerpoint/2010/main" val="100075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E5908-7DB4-DD05-EDB8-B5D0E9C9DF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7172149" cy="4608512"/>
          </a:xfrm>
        </p:spPr>
        <p:txBody>
          <a:bodyPr/>
          <a:lstStyle/>
          <a:p>
            <a:r>
              <a:rPr lang="en-AU" dirty="0"/>
              <a:t>Your seating position should ideally engage your back entirely into the back-rest, and your buttocks all the way back into the chair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Weight is evenly distributed on both 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Horizontal seat angulation should be adjusted to be a few cm’s higher at the rear than the front</a:t>
            </a:r>
          </a:p>
          <a:p>
            <a:pPr marL="645750" lvl="2" indent="-285750"/>
            <a:r>
              <a:rPr lang="en-AU" dirty="0"/>
              <a:t>Seat height should be low enough for the feet to be flat on the floor, at shoulder-width apart</a:t>
            </a:r>
          </a:p>
          <a:p>
            <a:pPr marL="645750" lvl="2" indent="-285750"/>
            <a:r>
              <a:rPr lang="en-AU" dirty="0"/>
              <a:t>I.E. Hips are slightly higher than the knees + wide base of support with feet apart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798A61-764B-9F16-70AD-BDE03672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Neutral position: seating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FF981-4F98-D838-67B4-FD3CD3DC8F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5441-E655-A017-6D60-2CE672A299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97E45-F8C2-9DAE-A70F-E712FB8AA86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35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483FE-28E4-AA07-9F7A-0724DBF537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C79069-5E29-1172-6551-9FB539A9A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636" y="742243"/>
            <a:ext cx="4072364" cy="26867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62E8A8-28CD-AF92-601F-2C013784D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475" y="3717032"/>
            <a:ext cx="4329056" cy="31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6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833C79-DA5A-3342-374C-05A8E28508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8191677" cy="4608512"/>
          </a:xfrm>
        </p:spPr>
        <p:txBody>
          <a:bodyPr/>
          <a:lstStyle/>
          <a:p>
            <a:r>
              <a:rPr lang="en-AU" dirty="0"/>
              <a:t>Dependent on whether you are working in the maxillary (upper jaw) or mandibular (lower jaw) region, the position of the patient’s head require adjustment.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Maxillary:</a:t>
            </a:r>
          </a:p>
          <a:p>
            <a:pPr marL="645750" lvl="2" indent="-285750"/>
            <a:r>
              <a:rPr lang="en-AU" dirty="0"/>
              <a:t>Nose and chin are horizontally level</a:t>
            </a:r>
          </a:p>
          <a:p>
            <a:pPr marL="645750" lvl="2" indent="-285750"/>
            <a:r>
              <a:rPr lang="en-AU" dirty="0"/>
              <a:t>“chin-up”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Mandibular:</a:t>
            </a:r>
          </a:p>
          <a:p>
            <a:pPr marL="645750" lvl="2" indent="-285750"/>
            <a:r>
              <a:rPr lang="en-AU" dirty="0"/>
              <a:t>Chin is lower than the nose</a:t>
            </a:r>
          </a:p>
          <a:p>
            <a:pPr marL="645750" lvl="2" indent="-285750"/>
            <a:r>
              <a:rPr lang="en-AU" dirty="0"/>
              <a:t>“chin-down” position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9CABD6-412E-D8FB-EFDE-5D94B09E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Neutral position: patient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B7B38-654E-5FCE-05EE-34002D81F6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444F-86E6-50CB-AEE1-24389E737C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8A01-6F5C-3200-6D21-ABEC4B2C89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36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D5EF5-394F-7C4B-BB41-EFE39C6211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EDB452-CE19-84C5-CE73-32D881E83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003" y="692696"/>
            <a:ext cx="3294112" cy="2968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1982BA-4771-666D-0CCE-78EDB6A6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413" y="3527778"/>
            <a:ext cx="3407702" cy="333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3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5B62C9-850F-5947-E364-4A8324A622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700213"/>
            <a:ext cx="9001074" cy="4608512"/>
          </a:xfrm>
        </p:spPr>
        <p:txBody>
          <a:bodyPr/>
          <a:lstStyle/>
          <a:p>
            <a:r>
              <a:rPr lang="en-AU" dirty="0"/>
              <a:t>The dental light is positioned overhead such that the light beam is near parallel to the clinician’s line of sight.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Mandibular regions: dental light is positioned approximately perpendicular to the floor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Maxillary regions: the light beam is near parallel to the clinician’s line of sight </a:t>
            </a:r>
            <a:r>
              <a:rPr lang="en-AU" b="1" u="sng" dirty="0"/>
              <a:t>through indirect vision</a:t>
            </a:r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88A0A5-A502-ABAA-DBCB-C5EA8B21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Ancillary equipment: the dental light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DB934-3A17-3ABF-1D4E-5F023CF51B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E580-B9C6-95BD-5D5A-35E199AD950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91217-7F99-6C3D-024D-8090030475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37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8ABBA-3681-149C-7DA4-2B4CE2F91E3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9FF8C9-C139-D89F-EAB1-0F4CD639E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066" y="3695478"/>
            <a:ext cx="3722140" cy="318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5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85D5D8-605B-C7B8-D949-E20A8B4E00C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3D4D66-71CC-2451-A57C-ACC339BA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C6BF7-75A5-E46F-40F4-F96CDAA866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F8321-91BF-67B2-1540-DA332D1114A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C05E-8A2A-AEE2-FAC9-E343FCA7A2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38</a:t>
            </a:fld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AE495-3BF2-4CE8-8687-10C649B522D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5B96DA-5183-49C6-DA06-CDD67DF7F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348" y="3391936"/>
            <a:ext cx="3809070" cy="2685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23A4B1-43CB-CB13-4B6B-BE56B9D87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" y="3419319"/>
            <a:ext cx="3809070" cy="26853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627129-2DDE-A66B-C9FE-379A3D583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330" y="2611253"/>
            <a:ext cx="3302195" cy="42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1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87AC-3886-E9A9-6921-A0C04DC2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8F88-EC2D-D2E9-8957-9FBC3E3B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143404"/>
            <a:ext cx="10738247" cy="1853547"/>
          </a:xfrm>
        </p:spPr>
        <p:txBody>
          <a:bodyPr/>
          <a:lstStyle/>
          <a:p>
            <a:r>
              <a:rPr lang="en-US" dirty="0"/>
              <a:t>Patient interviews</a:t>
            </a:r>
            <a:br>
              <a:rPr lang="en-US" dirty="0"/>
            </a:br>
            <a:r>
              <a:rPr lang="en-US" dirty="0"/>
              <a:t>The basis of diagnosis, your official content start to Dentistry</a:t>
            </a:r>
          </a:p>
        </p:txBody>
      </p:sp>
    </p:spTree>
    <p:extLst>
      <p:ext uri="{BB962C8B-B14F-4D97-AF65-F5344CB8AC3E}">
        <p14:creationId xmlns:p14="http://schemas.microsoft.com/office/powerpoint/2010/main" val="2375400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161B9B-054F-4E0F-BB79-944918A9A1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Identify effective communication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Explain simple body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Identify effective listening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Recognise barriers to effective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Distinguish between effective and poor communication styles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Develop a clear understanding of clinical protocols for effective patient communication, patient management and safe dental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Appreciate the rationale for thorough history-taking as an essential aspect of the comprehensive oral examination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This isn’t as simple as it sounds…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B1AED59-1534-4921-AD20-402A6D18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objectives (combined with UQ extend content)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4DFA57-FDE4-43C8-B3A8-42D3187172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670E92-3AA9-4614-A780-E00910D9E0C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AC87B6-164F-4892-A04B-AC06243353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40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FF85628-2B5C-44F2-B05D-5E4B5455DB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80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5908-B455-E55E-7CD1-D5520A66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A56E90-A523-64C9-6E2B-AEF01E4519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receive routine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address a concern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receive emergency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To receive palliative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99B4618-C785-CC82-E275-B701C0EA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Dentistry (to the patient)?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2D3325-128E-C5E7-CAD5-E570432A92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1A4F567-9ED4-873A-96EE-B8DAB783970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D6E4DF-01A9-26DA-A786-787683B7A5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41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6FDC51F-D75D-A18E-7A87-1491B2E9CC7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142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BA77-0CFF-BE23-40F5-C46CC2D3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32A12C-9BAE-9292-4F83-F3EADA2E50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The goal of dentistry is:</a:t>
            </a:r>
          </a:p>
          <a:p>
            <a:pPr marL="645750" lvl="2" indent="-285750"/>
            <a:r>
              <a:rPr lang="en-AU" dirty="0"/>
              <a:t>To investigate</a:t>
            </a:r>
          </a:p>
          <a:p>
            <a:pPr marL="645750" lvl="2" indent="-285750"/>
            <a:r>
              <a:rPr lang="en-AU" dirty="0"/>
              <a:t>To diagnose</a:t>
            </a:r>
          </a:p>
          <a:p>
            <a:pPr marL="645750" lvl="2" indent="-285750"/>
            <a:r>
              <a:rPr lang="en-AU" dirty="0"/>
              <a:t>To treatment plan</a:t>
            </a:r>
          </a:p>
          <a:p>
            <a:pPr marL="645750" lvl="2" indent="-285750"/>
            <a:r>
              <a:rPr lang="en-AU" dirty="0"/>
              <a:t>To provide treatment</a:t>
            </a:r>
          </a:p>
          <a:p>
            <a:pPr marL="645750" lvl="2" indent="-285750"/>
            <a:r>
              <a:rPr lang="en-AU" dirty="0"/>
              <a:t>To review the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Without a proper investigation of baseline results:</a:t>
            </a:r>
          </a:p>
          <a:p>
            <a:pPr marL="465750" lvl="1" indent="-285750"/>
            <a:r>
              <a:rPr lang="en-AU" dirty="0"/>
              <a:t>May improperly diagnose a condition</a:t>
            </a:r>
          </a:p>
          <a:p>
            <a:pPr marL="465750" lvl="1" indent="-285750"/>
            <a:r>
              <a:rPr lang="en-AU" dirty="0"/>
              <a:t>Cannot form an effective treatment plan addressing the cause of issue</a:t>
            </a:r>
          </a:p>
          <a:p>
            <a:pPr marL="465750" lvl="1" indent="-285750"/>
            <a:r>
              <a:rPr lang="en-AU" dirty="0"/>
              <a:t>May encounter “unexpected” issues that changes the protocol of management mid-treatment</a:t>
            </a:r>
          </a:p>
          <a:p>
            <a:pPr marL="465750" lvl="1" indent="-285750"/>
            <a:r>
              <a:rPr lang="en-AU" dirty="0"/>
              <a:t>No baseline information to compare the outcome and determine if positive or negative changes are </a:t>
            </a:r>
            <a:r>
              <a:rPr lang="en-AU" dirty="0" err="1"/>
              <a:t>occuring</a:t>
            </a:r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6B0B90C-7DDB-7A9C-057B-6274791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are we ”learning” how to interview the patient?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C57EFB-503F-DCD5-E2C2-5264B4CC9C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A13AF85-EAF4-34FE-63F1-DBA591BDAE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65C64A-4678-EA20-7715-6D88D4E83B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42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56B7DD-477F-DAB6-4F53-A5B796B3DA2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390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2CBC5-22DB-67A4-6827-544999DE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5C9208-85AA-6102-641B-12530DD2F4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Creating an environment where the patient feels at ease to communicate</a:t>
            </a:r>
          </a:p>
          <a:p>
            <a:pPr marL="645750" lvl="2" indent="-285750"/>
            <a:r>
              <a:rPr lang="en-AU" dirty="0"/>
              <a:t>Appreciating the body language and minute gestures from the patient to direct your approach towards the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Your goal is to:</a:t>
            </a:r>
          </a:p>
          <a:p>
            <a:pPr marL="645750" lvl="2" indent="-285750"/>
            <a:r>
              <a:rPr lang="en-AU" dirty="0"/>
              <a:t>Allow the patient to explain their history and information</a:t>
            </a:r>
          </a:p>
          <a:p>
            <a:pPr marL="645750" lvl="2" indent="-285750"/>
            <a:r>
              <a:rPr lang="en-AU" dirty="0"/>
              <a:t>Discern the useful and non-related </a:t>
            </a:r>
            <a:r>
              <a:rPr lang="en-AU" dirty="0" err="1"/>
              <a:t>informations</a:t>
            </a:r>
            <a:r>
              <a:rPr lang="en-AU" dirty="0"/>
              <a:t> (which may still influence your Tx planning!)</a:t>
            </a:r>
          </a:p>
          <a:p>
            <a:pPr marL="825750" lvl="3" indent="-285750"/>
            <a:r>
              <a:rPr lang="en-AU" dirty="0"/>
              <a:t>What “non-related” </a:t>
            </a:r>
            <a:r>
              <a:rPr lang="en-AU" dirty="0" err="1"/>
              <a:t>informations</a:t>
            </a:r>
            <a:r>
              <a:rPr lang="en-AU" dirty="0"/>
              <a:t> might there be that has a significant influence?</a:t>
            </a:r>
          </a:p>
          <a:p>
            <a:pPr marL="465750" lvl="1" indent="-285750"/>
            <a:r>
              <a:rPr lang="en-AU" dirty="0"/>
              <a:t>Mentally and quickly correlate all information to reach a 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Medicine places a huge importance level on this basic but key skill, there’s a reason why this is your 1</a:t>
            </a:r>
            <a:r>
              <a:rPr lang="en-AU" baseline="30000" dirty="0"/>
              <a:t>st</a:t>
            </a:r>
            <a:r>
              <a:rPr lang="en-AU" dirty="0"/>
              <a:t> lecture into Dentistry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AFD542-4811-E997-8FE7-0368E979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involved in the patient interview?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0D7AD5-FD49-33DE-B03A-14CA5BC395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447EF78-D72D-7DEA-63C6-31B368E75F9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[Presentation Title] | [Date]</a:t>
            </a:r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4F5870-C551-3ED3-6553-D9B086ABC4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43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02A4A1-9179-5E35-D80A-EA6BD998B60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6274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FB093-A996-52DB-92D7-2DA1AA620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969551-8390-F126-79D1-DC3EECE31C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55966" y="1700213"/>
            <a:ext cx="5400674" cy="4608512"/>
          </a:xfrm>
        </p:spPr>
        <p:txBody>
          <a:bodyPr/>
          <a:lstStyle/>
          <a:p>
            <a:r>
              <a:rPr lang="en-AU" dirty="0"/>
              <a:t>Please don’t worry, this won’t be in your end of semester exam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But this is the skill you’re going to be learning over the next 5 years</a:t>
            </a:r>
          </a:p>
          <a:p>
            <a:pPr marL="465750" lvl="1" indent="-285750"/>
            <a:r>
              <a:rPr lang="en-AU" dirty="0"/>
              <a:t>And actually also in CPDs when you graduate (believe it or not!)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ACD100-DD93-5254-A469-621CC234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information are we trying to gather?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DFD2372-8C6D-D53D-3A34-E80E17E8602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44</a:t>
            </a:fld>
            <a:endParaRPr lang="en-AU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16B06A5-73A1-7C66-CB21-A36D5ACDE91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[Entity Name]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C44D6-0993-543A-7C6B-A723DCB059E6}"/>
              </a:ext>
            </a:extLst>
          </p:cNvPr>
          <p:cNvSpPr txBox="1"/>
          <p:nvPr/>
        </p:nvSpPr>
        <p:spPr>
          <a:xfrm>
            <a:off x="335360" y="1412776"/>
            <a:ext cx="482453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Pain history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Timing: onset, duration, periodicity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Location, radiation pathway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Quality of pain, severity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Relieving and aggravating factors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Associated symptoms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Taste affection, salivary flow, bruxing, clicking TMJ, ear/eye/nose symptoms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Other co-existing pain conditions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Headache, migraine, chronic widespread pain (</a:t>
            </a:r>
            <a:r>
              <a:rPr lang="en-GB" sz="8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eg</a:t>
            </a: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fibromyalgia)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Impact of pain on lifestyle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Examination of head and neck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Extra-oral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Colour changes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Swelling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Presence of skin lesions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Palpation of lymph nodes and salivary glands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Palpation of muscles of mastication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Palpation of sternocleidomastoid muscle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TMD assessment, including crepitus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Cranial nerves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Intra-oral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Hard tissues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Assessment of DMFR teeth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514600" lvl="5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Decay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514600" lvl="5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Missing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514600" lvl="5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Filling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514600" lvl="5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RCT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Soft tissues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Mucosa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Palate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Tongue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Floor of mouth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Gingival health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600200" lvl="3" indent="-228600">
              <a:buFont typeface="Symbol" pitchFamily="2" charset="2"/>
              <a:buChar char="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Other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Occlusion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Mouth opening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057400" lvl="4" indent="-22860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Presence of appliances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General investigation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Family history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Psychological assessment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Medical and medication history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Biopsy/</a:t>
            </a:r>
            <a:r>
              <a:rPr lang="en-GB" sz="8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labworks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1143000" lvl="2" indent="-228600">
              <a:buFont typeface="Wingdings" pitchFamily="2" charset="2"/>
              <a:buChar char=""/>
            </a:pPr>
            <a:r>
              <a:rPr lang="en-GB" sz="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Imaging/radiographic imaging</a:t>
            </a:r>
            <a:endParaRPr lang="en-AU" sz="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49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9AA461C8-2FB6-4003-971E-5A67B664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00" y="3151568"/>
            <a:ext cx="190800" cy="190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9A4270-E748-472B-BDE1-634F1527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C4AF2-0344-4873-8B01-1BEF95B63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/>
              <a:t>Dr Thomas Kim | Lecturer</a:t>
            </a:r>
          </a:p>
          <a:p>
            <a:r>
              <a:rPr lang="en-AU" dirty="0"/>
              <a:t>School of Dentistry</a:t>
            </a:r>
          </a:p>
          <a:p>
            <a:r>
              <a:rPr lang="en-AU" dirty="0" err="1"/>
              <a:t>Thomas.kim@uq.edu.au</a:t>
            </a:r>
            <a:r>
              <a:rPr lang="en-AU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4C604-FBF5-43EA-A133-FBF6996A28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 dirty="0" err="1"/>
              <a:t>endo.yhk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9D0877-AECF-42A4-AD3C-BF700B7A2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7509" y="3429888"/>
            <a:ext cx="3418763" cy="202889"/>
          </a:xfrm>
        </p:spPr>
        <p:txBody>
          <a:bodyPr/>
          <a:lstStyle/>
          <a:p>
            <a:r>
              <a:rPr lang="en-AU" dirty="0"/>
              <a:t>Thomas-</a:t>
            </a:r>
            <a:r>
              <a:rPr lang="en-AU" dirty="0" err="1"/>
              <a:t>yhk</a:t>
            </a:r>
            <a:endParaRPr lang="en-A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A24CBD-8509-462C-ADBD-F630B840CF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4800" y="2802254"/>
            <a:ext cx="3418763" cy="202889"/>
          </a:xfrm>
        </p:spPr>
        <p:txBody>
          <a:bodyPr>
            <a:normAutofit/>
          </a:bodyPr>
          <a:lstStyle/>
          <a:p>
            <a:r>
              <a:rPr lang="en-AU" sz="1200" dirty="0"/>
              <a:t>Connect with 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CD5120-F460-4C2E-AEB4-E7228CB4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46" y="3429000"/>
            <a:ext cx="292269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9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1247A"/>
      </a:accent1>
      <a:accent2>
        <a:srgbClr val="E62645"/>
      </a:accent2>
      <a:accent3>
        <a:srgbClr val="00A2C7"/>
      </a:accent3>
      <a:accent4>
        <a:srgbClr val="EB602B"/>
      </a:accent4>
      <a:accent5>
        <a:srgbClr val="4085C6"/>
      </a:accent5>
      <a:accent6>
        <a:srgbClr val="2EA836"/>
      </a:accent6>
      <a:hlink>
        <a:srgbClr val="51247A"/>
      </a:hlink>
      <a:folHlink>
        <a:srgbClr val="51247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Q PowerPoint Template v4.potx" id="{EB40B91F-2F7C-4628-893D-3539496D6C6A}" vid="{691CE4A2-4C6F-4895-A94C-37E246F52C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UQ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1247A"/>
    </a:accent1>
    <a:accent2>
      <a:srgbClr val="E62645"/>
    </a:accent2>
    <a:accent3>
      <a:srgbClr val="00A2C7"/>
    </a:accent3>
    <a:accent4>
      <a:srgbClr val="EB602B"/>
    </a:accent4>
    <a:accent5>
      <a:srgbClr val="4085C6"/>
    </a:accent5>
    <a:accent6>
      <a:srgbClr val="2EA836"/>
    </a:accent6>
    <a:hlink>
      <a:srgbClr val="51247A"/>
    </a:hlink>
    <a:folHlink>
      <a:srgbClr val="51247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2978</TotalTime>
  <Words>3588</Words>
  <Application>Microsoft Office PowerPoint</Application>
  <PresentationFormat>Widescreen</PresentationFormat>
  <Paragraphs>506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Courier New</vt:lpstr>
      <vt:lpstr>Symbol</vt:lpstr>
      <vt:lpstr>Wingdings</vt:lpstr>
      <vt:lpstr>University of Queensland</vt:lpstr>
      <vt:lpstr>Introduction to the safe dental environment, patient interview</vt:lpstr>
      <vt:lpstr>The safe dental environment Establishing the baseline for Dentistry</vt:lpstr>
      <vt:lpstr>Learning objectives</vt:lpstr>
      <vt:lpstr>What risks are present in the dental environment?</vt:lpstr>
      <vt:lpstr>Infection control</vt:lpstr>
      <vt:lpstr>Requirements for transmission of infection</vt:lpstr>
      <vt:lpstr>Pathways for transmission</vt:lpstr>
      <vt:lpstr>So what exactly do we do for infection control?</vt:lpstr>
      <vt:lpstr>*Hand hygiene</vt:lpstr>
      <vt:lpstr>*Personal Protective Equipment (PPE)</vt:lpstr>
      <vt:lpstr>Sterilisation vs Disinfection</vt:lpstr>
      <vt:lpstr>Process of sterilisation in Dentistry</vt:lpstr>
      <vt:lpstr>Autoclave machine</vt:lpstr>
      <vt:lpstr>Maintenance and testing</vt:lpstr>
      <vt:lpstr>Dental unit waterline (DUWL)</vt:lpstr>
      <vt:lpstr>Managing the waterline</vt:lpstr>
      <vt:lpstr>Why does this matter?</vt:lpstr>
      <vt:lpstr>A word for warning for your career</vt:lpstr>
      <vt:lpstr>Sterile vs non-sterile (treatment room)</vt:lpstr>
      <vt:lpstr>Sterile vs non-sterile (equipment)</vt:lpstr>
      <vt:lpstr>Introduction to sharps management in surgical procedures</vt:lpstr>
      <vt:lpstr>Introduction to sharps management in surgical procedures</vt:lpstr>
      <vt:lpstr>Delegation and responsibilities</vt:lpstr>
      <vt:lpstr>The Dental environment</vt:lpstr>
      <vt:lpstr>Exposure incident </vt:lpstr>
      <vt:lpstr>Mandatory testing for exposure incidents</vt:lpstr>
      <vt:lpstr>My patient is positive for Hep B/C or HIV</vt:lpstr>
      <vt:lpstr>Clinical waste management</vt:lpstr>
      <vt:lpstr>Ergonomics</vt:lpstr>
      <vt:lpstr>Learning objectives</vt:lpstr>
      <vt:lpstr>What is ergonomics?</vt:lpstr>
      <vt:lpstr>Why is this important?</vt:lpstr>
      <vt:lpstr>Neutral position: Upper body</vt:lpstr>
      <vt:lpstr>Neutral position: limb extension</vt:lpstr>
      <vt:lpstr>Neutral position: seating</vt:lpstr>
      <vt:lpstr>Neutral position: patient</vt:lpstr>
      <vt:lpstr>Ancillary equipment: the dental light</vt:lpstr>
      <vt:lpstr>PowerPoint Presentation</vt:lpstr>
      <vt:lpstr>Patient interviews The basis of diagnosis, your official content start to Dentistry</vt:lpstr>
      <vt:lpstr>Learning objectives (combined with UQ extend content)</vt:lpstr>
      <vt:lpstr>What is Dentistry (to the patient)?</vt:lpstr>
      <vt:lpstr>Why are we ”learning” how to interview the patient?</vt:lpstr>
      <vt:lpstr>What is involved in the patient interview?</vt:lpstr>
      <vt:lpstr>What information are we trying to gather?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Rebekah</dc:creator>
  <cp:lastModifiedBy>tim lee</cp:lastModifiedBy>
  <cp:revision>175</cp:revision>
  <dcterms:created xsi:type="dcterms:W3CDTF">2018-09-28T01:38:30Z</dcterms:created>
  <dcterms:modified xsi:type="dcterms:W3CDTF">2026-02-08T23:15:48Z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2025-04-03T00:42:12Z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ccc96936-6206-4b55-a726-6addb8421203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