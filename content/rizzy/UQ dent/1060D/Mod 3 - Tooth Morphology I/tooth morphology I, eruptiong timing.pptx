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6.jpg" ContentType="image/jpg"/>
  <Override PartName="/ppt/media/image9.jpg" ContentType="image/jpg"/>
  <Override PartName="/ppt/media/image10.jpg" ContentType="image/jpg"/>
  <Override PartName="/ppt/media/image11.jpg" ContentType="image/jpg"/>
  <Override PartName="/ppt/media/image22.jpg" ContentType="image/jpg"/>
  <Override PartName="/ppt/media/image24.jpg" ContentType="image/jpg"/>
  <Override PartName="/ppt/media/image27.jpg" ContentType="image/jpg"/>
  <Override PartName="/ppt/media/image28.jpg" ContentType="image/jpg"/>
  <Override PartName="/ppt/media/image29.jpg" ContentType="image/jpg"/>
  <Override PartName="/ppt/media/image30.jpg" ContentType="image/jpg"/>
  <Override PartName="/ppt/media/image31.jpg" ContentType="image/jpg"/>
  <Override PartName="/ppt/media/image32.jpg" ContentType="image/jpg"/>
  <Override PartName="/ppt/media/image33.jpg" ContentType="image/jpg"/>
  <Override PartName="/ppt/media/image34.jpg" ContentType="image/jpg"/>
  <Override PartName="/ppt/media/image35.jpg" ContentType="image/jpg"/>
  <Override PartName="/ppt/media/image37.jpg" ContentType="image/jpg"/>
  <Override PartName="/ppt/media/image38.jpg" ContentType="image/jpg"/>
  <Override PartName="/ppt/media/image39.jpg" ContentType="image/jpg"/>
  <Override PartName="/ppt/media/image40.jpg" ContentType="image/jpg"/>
  <Override PartName="/ppt/media/image41.jpg" ContentType="image/jpg"/>
  <Override PartName="/ppt/media/image42.jpg" ContentType="image/jpg"/>
  <Override PartName="/ppt/media/image43.jpg" ContentType="image/jpg"/>
  <Override PartName="/ppt/media/image44.jpg" ContentType="image/jpg"/>
  <Override PartName="/ppt/media/image45.jpg" ContentType="image/jpg"/>
  <Override PartName="/ppt/media/image46.jpg" ContentType="image/jpg"/>
  <Override PartName="/ppt/media/image4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handoutMasterIdLst>
    <p:handoutMasterId r:id="rId41"/>
  </p:handoutMasterIdLst>
  <p:sldIdLst>
    <p:sldId id="373" r:id="rId2"/>
    <p:sldId id="374" r:id="rId3"/>
    <p:sldId id="375" r:id="rId4"/>
    <p:sldId id="376" r:id="rId5"/>
    <p:sldId id="377" r:id="rId6"/>
    <p:sldId id="378" r:id="rId7"/>
    <p:sldId id="379" r:id="rId8"/>
    <p:sldId id="380" r:id="rId9"/>
    <p:sldId id="381" r:id="rId10"/>
    <p:sldId id="383" r:id="rId11"/>
    <p:sldId id="382" r:id="rId12"/>
    <p:sldId id="384" r:id="rId13"/>
    <p:sldId id="385" r:id="rId14"/>
    <p:sldId id="386" r:id="rId15"/>
    <p:sldId id="387" r:id="rId16"/>
    <p:sldId id="390" r:id="rId17"/>
    <p:sldId id="388" r:id="rId18"/>
    <p:sldId id="389" r:id="rId19"/>
    <p:sldId id="391" r:id="rId20"/>
    <p:sldId id="392" r:id="rId21"/>
    <p:sldId id="393" r:id="rId22"/>
    <p:sldId id="406" r:id="rId23"/>
    <p:sldId id="407" r:id="rId24"/>
    <p:sldId id="394" r:id="rId25"/>
    <p:sldId id="396" r:id="rId26"/>
    <p:sldId id="397" r:id="rId27"/>
    <p:sldId id="398" r:id="rId28"/>
    <p:sldId id="399" r:id="rId29"/>
    <p:sldId id="401" r:id="rId30"/>
    <p:sldId id="400" r:id="rId31"/>
    <p:sldId id="402" r:id="rId32"/>
    <p:sldId id="403" r:id="rId33"/>
    <p:sldId id="404" r:id="rId34"/>
    <p:sldId id="405" r:id="rId35"/>
    <p:sldId id="411" r:id="rId36"/>
    <p:sldId id="395" r:id="rId37"/>
    <p:sldId id="409" r:id="rId38"/>
    <p:sldId id="41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373"/>
            <p14:sldId id="374"/>
            <p14:sldId id="375"/>
            <p14:sldId id="376"/>
            <p14:sldId id="377"/>
            <p14:sldId id="378"/>
            <p14:sldId id="379"/>
            <p14:sldId id="380"/>
            <p14:sldId id="381"/>
            <p14:sldId id="383"/>
            <p14:sldId id="382"/>
            <p14:sldId id="384"/>
            <p14:sldId id="385"/>
            <p14:sldId id="386"/>
            <p14:sldId id="387"/>
            <p14:sldId id="390"/>
            <p14:sldId id="388"/>
            <p14:sldId id="389"/>
            <p14:sldId id="391"/>
            <p14:sldId id="392"/>
            <p14:sldId id="393"/>
            <p14:sldId id="406"/>
            <p14:sldId id="407"/>
            <p14:sldId id="394"/>
            <p14:sldId id="396"/>
            <p14:sldId id="397"/>
            <p14:sldId id="398"/>
            <p14:sldId id="399"/>
            <p14:sldId id="401"/>
            <p14:sldId id="400"/>
            <p14:sldId id="402"/>
            <p14:sldId id="403"/>
            <p14:sldId id="404"/>
            <p14:sldId id="405"/>
            <p14:sldId id="411"/>
            <p14:sldId id="395"/>
            <p14:sldId id="409"/>
            <p14:sldId id="41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1CC"/>
    <a:srgbClr val="999490"/>
    <a:srgbClr val="962A8B"/>
    <a:srgbClr val="C8AE73"/>
    <a:srgbClr val="FBB800"/>
    <a:srgbClr val="00539B"/>
    <a:srgbClr val="F01D27"/>
    <a:srgbClr val="D8C726"/>
    <a:srgbClr val="77BD43"/>
    <a:srgbClr val="F081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54" autoAdjust="0"/>
    <p:restoredTop sz="95545" autoAdjust="0"/>
  </p:normalViewPr>
  <p:slideViewPr>
    <p:cSldViewPr showGuides="1">
      <p:cViewPr>
        <p:scale>
          <a:sx n="90" d="100"/>
          <a:sy n="90" d="100"/>
        </p:scale>
        <p:origin x="1482" y="516"/>
      </p:cViewPr>
      <p:guideLst/>
    </p:cSldViewPr>
  </p:slid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9/02/2026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9/02/2026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userDrawn="1"/>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userDrawn="1"/>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userDrawn="1"/>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userDrawn="1"/>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userDrawn="1"/>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userDrawn="1"/>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userDrawn="1"/>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userDrawn="1"/>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296788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userDrawn="1"/>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419216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userDrawn="1"/>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userDrawn="1"/>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userDrawn="1"/>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Edit Master text styles</a:t>
            </a:r>
          </a:p>
        </p:txBody>
      </p:sp>
      <p:sp>
        <p:nvSpPr>
          <p:cNvPr id="7" name="Rectangle 6">
            <a:extLst>
              <a:ext uri="{FF2B5EF4-FFF2-40B4-BE49-F238E27FC236}">
                <a16:creationId xmlns:a16="http://schemas.microsoft.com/office/drawing/2014/main" id="{8CAE7FD6-C4AB-456C-8186-F8E8B285CBB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917DE0E-AFB1-41FD-BC35-27DB61CA125F}" type="slidenum">
              <a:rPr lang="en-AU" smtClean="0"/>
              <a:pPr/>
              <a:t>‹#›</a:t>
            </a:fld>
            <a:endParaRPr lang="en-AU" dirty="0"/>
          </a:p>
        </p:txBody>
      </p:sp>
      <p:sp>
        <p:nvSpPr>
          <p:cNvPr id="14" name="Date Placeholder 13">
            <a:extLst>
              <a:ext uri="{FF2B5EF4-FFF2-40B4-BE49-F238E27FC236}">
                <a16:creationId xmlns:a16="http://schemas.microsoft.com/office/drawing/2014/main" id="{085400BA-682A-4644-881E-9D9BA0DAB8FC}"/>
              </a:ext>
            </a:extLst>
          </p:cNvPr>
          <p:cNvSpPr>
            <a:spLocks noGrp="1"/>
          </p:cNvSpPr>
          <p:nvPr>
            <p:ph type="dt" sz="half" idx="14"/>
          </p:nvPr>
        </p:nvSpPr>
        <p:spPr bwMode="white"/>
        <p:txBody>
          <a:bodyPr/>
          <a:lstStyle/>
          <a:p>
            <a:r>
              <a:rPr lang="en-US" dirty="0"/>
              <a:t>[Entity Name]</a:t>
            </a:r>
            <a:endParaRPr lang="en-AU"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r>
              <a:rPr lang="en-AU"/>
              <a:t>[Presentation Title] | [Date]</a:t>
            </a:r>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1" name="TextBox 10">
            <a:extLst>
              <a:ext uri="{FF2B5EF4-FFF2-40B4-BE49-F238E27FC236}">
                <a16:creationId xmlns:a16="http://schemas.microsoft.com/office/drawing/2014/main" id="{7CCA4A0C-C5B9-45ED-9D64-B274EE980802}"/>
              </a:ext>
            </a:extLst>
          </p:cNvPr>
          <p:cNvSpPr txBox="1"/>
          <p:nvPr userDrawn="1"/>
        </p:nvSpPr>
        <p:spPr>
          <a:xfrm>
            <a:off x="8096810" y="6518190"/>
            <a:ext cx="2391677" cy="241200"/>
          </a:xfrm>
          <a:prstGeom prst="rect">
            <a:avLst/>
          </a:prstGeom>
          <a:noFill/>
        </p:spPr>
        <p:txBody>
          <a:bodyPr wrap="square" lIns="0" tIns="0" rIns="0" bIns="0" rtlCol="0" anchor="ctr">
            <a:noAutofit/>
          </a:bodyPr>
          <a:lstStyle/>
          <a:p>
            <a:r>
              <a:rPr lang="en-AU" sz="800" dirty="0"/>
              <a:t>CRICOS code 00025B</a:t>
            </a:r>
          </a:p>
        </p:txBody>
      </p:sp>
      <p:sp>
        <p:nvSpPr>
          <p:cNvPr id="14" name="Date Placeholder 2">
            <a:extLst>
              <a:ext uri="{FF2B5EF4-FFF2-40B4-BE49-F238E27FC236}">
                <a16:creationId xmlns:a16="http://schemas.microsoft.com/office/drawing/2014/main" id="{59BA0F0A-82FA-4477-B553-959A8EFB7E8F}"/>
              </a:ext>
            </a:extLst>
          </p:cNvPr>
          <p:cNvSpPr>
            <a:spLocks noGrp="1"/>
          </p:cNvSpPr>
          <p:nvPr>
            <p:ph type="dt" sz="half" idx="2"/>
          </p:nvPr>
        </p:nvSpPr>
        <p:spPr bwMode="white">
          <a:xfrm>
            <a:off x="695325" y="151136"/>
            <a:ext cx="3384549" cy="241200"/>
          </a:xfrm>
          <a:prstGeom prst="rect">
            <a:avLst/>
          </a:prstGeom>
        </p:spPr>
        <p:txBody>
          <a:bodyPr vert="horz" lIns="0" tIns="0" rIns="0" bIns="0" rtlCol="0" anchor="t"/>
          <a:lstStyle>
            <a:lvl1pPr algn="l">
              <a:lnSpc>
                <a:spcPct val="80000"/>
              </a:lnSpc>
              <a:defRPr sz="1000">
                <a:solidFill>
                  <a:schemeClr val="bg1"/>
                </a:solidFill>
              </a:defRPr>
            </a:lvl1pPr>
          </a:lstStyle>
          <a:p>
            <a:r>
              <a:rPr lang="en-US" dirty="0"/>
              <a:t>[Entity Name]</a:t>
            </a:r>
            <a:endParaRPr lang="en-AU" dirty="0"/>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5CB261A5-F8C2-49CF-AE4B-80932D43C55C}"/>
              </a:ext>
            </a:extLst>
          </p:cNvPr>
          <p:cNvSpPr>
            <a:spLocks noGrp="1"/>
          </p:cNvSpPr>
          <p:nvPr>
            <p:ph type="dt" sz="half" idx="16"/>
          </p:nvPr>
        </p:nvSpPr>
        <p:spPr bwMode="white"/>
        <p:txBody>
          <a:bodyPr/>
          <a:lstStyle/>
          <a:p>
            <a:r>
              <a:rPr lang="en-US" dirty="0"/>
              <a:t>[Entity Name]</a:t>
            </a:r>
            <a:endParaRPr lang="en-AU" dirty="0"/>
          </a:p>
        </p:txBody>
      </p:sp>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129B2684-2D18-4E6D-8AA2-AD850CFD2770}"/>
              </a:ext>
            </a:extLst>
          </p:cNvPr>
          <p:cNvSpPr>
            <a:spLocks noGrp="1"/>
          </p:cNvSpPr>
          <p:nvPr>
            <p:ph type="dt" sz="half" idx="16"/>
          </p:nvPr>
        </p:nvSpPr>
        <p:spPr bwMode="white"/>
        <p:txBody>
          <a:bodyPr/>
          <a:lstStyle/>
          <a:p>
            <a:r>
              <a:rPr lang="en-US" dirty="0"/>
              <a:t>[Entity Name]</a:t>
            </a:r>
            <a:endParaRPr lang="en-AU"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r>
              <a:rPr lang="en-AU"/>
              <a:t>[Presentation Title] | [Date]</a:t>
            </a:r>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773B90A4-353C-48E3-A991-1B0A2B9809C7}"/>
              </a:ext>
            </a:extLst>
          </p:cNvPr>
          <p:cNvSpPr>
            <a:spLocks noGrp="1"/>
          </p:cNvSpPr>
          <p:nvPr>
            <p:ph type="dt" sz="half" idx="20"/>
          </p:nvPr>
        </p:nvSpPr>
        <p:spPr bwMode="white"/>
        <p:txBody>
          <a:bodyPr/>
          <a:lstStyle/>
          <a:p>
            <a:r>
              <a:rPr lang="en-US" dirty="0"/>
              <a:t>[Entity Name]</a:t>
            </a:r>
            <a:endParaRPr lang="en-AU"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r>
              <a:rPr lang="en-AU"/>
              <a:t>[Presentation Title] | [Date]</a:t>
            </a:r>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1" name="Date Placeholder 10">
            <a:extLst>
              <a:ext uri="{FF2B5EF4-FFF2-40B4-BE49-F238E27FC236}">
                <a16:creationId xmlns:a16="http://schemas.microsoft.com/office/drawing/2014/main" id="{6104F0F0-FDFF-43C7-9188-2DB30D5D1563}"/>
              </a:ext>
            </a:extLst>
          </p:cNvPr>
          <p:cNvSpPr>
            <a:spLocks noGrp="1"/>
          </p:cNvSpPr>
          <p:nvPr>
            <p:ph type="dt" sz="half" idx="18"/>
          </p:nvPr>
        </p:nvSpPr>
        <p:spPr bwMode="white"/>
        <p:txBody>
          <a:bodyPr/>
          <a:lstStyle/>
          <a:p>
            <a:r>
              <a:rPr lang="en-US" dirty="0"/>
              <a:t>[Entity Name]</a:t>
            </a:r>
            <a:endParaRPr lang="en-AU" dirty="0"/>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r>
              <a:rPr lang="en-AU"/>
              <a:t>[Presentation Title] | [Date]</a:t>
            </a:r>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E9B9DCCA-7638-41AF-BB97-E7C1ADB94B43}"/>
              </a:ext>
            </a:extLst>
          </p:cNvPr>
          <p:cNvSpPr>
            <a:spLocks noGrp="1"/>
          </p:cNvSpPr>
          <p:nvPr>
            <p:ph type="dt" sz="half" idx="19"/>
          </p:nvPr>
        </p:nvSpPr>
        <p:spPr bwMode="white"/>
        <p:txBody>
          <a:bodyPr/>
          <a:lstStyle/>
          <a:p>
            <a:r>
              <a:rPr lang="en-US" dirty="0"/>
              <a:t>[Entity Name]</a:t>
            </a:r>
            <a:endParaRPr lang="en-AU" dirty="0"/>
          </a:p>
        </p:txBody>
      </p:sp>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p:txBody>
          <a:bodyPr/>
          <a:lstStyle/>
          <a:p>
            <a:r>
              <a:rPr lang="en-AU"/>
              <a:t>[Presentation Title] | [Date]</a:t>
            </a:r>
            <a:endParaRPr lang="en-AU"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7075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5DE031C-D81B-4218-94A1-8E617EC68AED}"/>
              </a:ext>
            </a:extLst>
          </p:cNvPr>
          <p:cNvSpPr>
            <a:spLocks noGrp="1"/>
          </p:cNvSpPr>
          <p:nvPr>
            <p:ph type="dt" sz="half" idx="16"/>
          </p:nvPr>
        </p:nvSpPr>
        <p:spPr bwMode="white"/>
        <p:txBody>
          <a:bodyPr/>
          <a:lstStyle/>
          <a:p>
            <a:r>
              <a:rPr lang="en-US" dirty="0"/>
              <a:t>[Entity Name]</a:t>
            </a:r>
            <a:endParaRPr lang="en-AU"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5" name="Date Placeholder 4">
            <a:extLst>
              <a:ext uri="{FF2B5EF4-FFF2-40B4-BE49-F238E27FC236}">
                <a16:creationId xmlns:a16="http://schemas.microsoft.com/office/drawing/2014/main" id="{96FEF3A4-7665-47FA-8B69-9A4F31C18B06}"/>
              </a:ext>
            </a:extLst>
          </p:cNvPr>
          <p:cNvSpPr>
            <a:spLocks noGrp="1"/>
          </p:cNvSpPr>
          <p:nvPr>
            <p:ph type="dt" sz="half" idx="16"/>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Date Placeholder 3">
            <a:extLst>
              <a:ext uri="{FF2B5EF4-FFF2-40B4-BE49-F238E27FC236}">
                <a16:creationId xmlns:a16="http://schemas.microsoft.com/office/drawing/2014/main" id="{FDC7D515-B4C3-44B8-9BAA-EEF692FA5A57}"/>
              </a:ext>
            </a:extLst>
          </p:cNvPr>
          <p:cNvSpPr>
            <a:spLocks noGrp="1"/>
          </p:cNvSpPr>
          <p:nvPr>
            <p:ph type="dt" sz="half" idx="20"/>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FEBC86CC-8E6A-4F6A-BC10-D9D4BF0CE880}"/>
              </a:ext>
            </a:extLst>
          </p:cNvPr>
          <p:cNvSpPr>
            <a:spLocks noGrp="1"/>
          </p:cNvSpPr>
          <p:nvPr>
            <p:ph type="dt" sz="half" idx="16"/>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Date Placeholder 6">
            <a:extLst>
              <a:ext uri="{FF2B5EF4-FFF2-40B4-BE49-F238E27FC236}">
                <a16:creationId xmlns:a16="http://schemas.microsoft.com/office/drawing/2014/main" id="{65FC9ED7-6517-494A-9E4C-6DF78B8356C4}"/>
              </a:ext>
            </a:extLst>
          </p:cNvPr>
          <p:cNvSpPr>
            <a:spLocks noGrp="1"/>
          </p:cNvSpPr>
          <p:nvPr>
            <p:ph type="dt" sz="half" idx="14"/>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r>
              <a:rPr lang="en-AU"/>
              <a:t>[Presentation Title] | [Date]</a:t>
            </a:r>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97916337-F2DC-4078-961D-7B3BDA5209EB}"/>
              </a:ext>
            </a:extLst>
          </p:cNvPr>
          <p:cNvSpPr>
            <a:spLocks noGrp="1"/>
          </p:cNvSpPr>
          <p:nvPr>
            <p:ph type="dt" sz="half" idx="19"/>
          </p:nvPr>
        </p:nvSpPr>
        <p:spPr bwMode="white"/>
        <p:txBody>
          <a:bodyPr/>
          <a:lstStyle/>
          <a:p>
            <a:r>
              <a:rPr lang="en-US" dirty="0"/>
              <a:t>[Entity Name]</a:t>
            </a:r>
            <a:endParaRPr lang="en-AU"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r>
              <a:rPr lang="en-AU"/>
              <a:t>[Presentation Title] | [Date]</a:t>
            </a:r>
            <a:endParaRPr lang="en-AU"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A50D441B-BAF3-4DDF-A5CD-A8E786E8FAAC}"/>
              </a:ext>
            </a:extLst>
          </p:cNvPr>
          <p:cNvSpPr>
            <a:spLocks noGrp="1"/>
          </p:cNvSpPr>
          <p:nvPr>
            <p:ph type="dt" sz="half" idx="19"/>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[Presentation Title] | [Date]</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Date Placeholder 4">
            <a:extLst>
              <a:ext uri="{FF2B5EF4-FFF2-40B4-BE49-F238E27FC236}">
                <a16:creationId xmlns:a16="http://schemas.microsoft.com/office/drawing/2014/main" id="{60FD0FAE-3953-4EE5-ADCD-BB5BCA72CF76}"/>
              </a:ext>
            </a:extLst>
          </p:cNvPr>
          <p:cNvSpPr>
            <a:spLocks noGrp="1"/>
          </p:cNvSpPr>
          <p:nvPr>
            <p:ph type="dt" sz="half" idx="14"/>
          </p:nvPr>
        </p:nvSpPr>
        <p:spPr>
          <a:xfrm>
            <a:off x="695325" y="151136"/>
            <a:ext cx="2376000" cy="241200"/>
          </a:xfrm>
          <a:prstGeom prst="rect">
            <a:avLst/>
          </a:prstGeom>
        </p:spPr>
        <p:txBody>
          <a:bodyPr/>
          <a:lstStyle/>
          <a:p>
            <a:pPr algn="l"/>
            <a:r>
              <a:rPr lang="en-US"/>
              <a:t>[Entity Name]</a:t>
            </a:r>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[Presentation Title] | [Date]</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5" name="Date Placeholder 4">
            <a:extLst>
              <a:ext uri="{FF2B5EF4-FFF2-40B4-BE49-F238E27FC236}">
                <a16:creationId xmlns:a16="http://schemas.microsoft.com/office/drawing/2014/main" id="{26E4E8D8-7819-4122-838F-7CED981EC3B0}"/>
              </a:ext>
            </a:extLst>
          </p:cNvPr>
          <p:cNvSpPr>
            <a:spLocks noGrp="1"/>
          </p:cNvSpPr>
          <p:nvPr>
            <p:ph type="dt" sz="half" idx="16"/>
          </p:nvPr>
        </p:nvSpPr>
        <p:spPr>
          <a:xfrm>
            <a:off x="695325" y="151136"/>
            <a:ext cx="2376000" cy="241200"/>
          </a:xfrm>
          <a:prstGeom prst="rect">
            <a:avLst/>
          </a:prstGeom>
        </p:spPr>
        <p:txBody>
          <a:bodyPr/>
          <a:lstStyle/>
          <a:p>
            <a:pPr algn="l"/>
            <a:r>
              <a:rPr lang="en-US"/>
              <a:t>[Entity Name]</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dirty="0"/>
              <a:t>Click to edit Master title style</a:t>
            </a:r>
            <a:endParaRPr lang="en-AU" dirty="0"/>
          </a:p>
        </p:txBody>
      </p:sp>
      <p:sp>
        <p:nvSpPr>
          <p:cNvPr id="6" name="Date Placeholder 5">
            <a:extLst>
              <a:ext uri="{FF2B5EF4-FFF2-40B4-BE49-F238E27FC236}">
                <a16:creationId xmlns:a16="http://schemas.microsoft.com/office/drawing/2014/main" id="{9AD53B17-CFA2-4153-BA9B-6F2B6C1F6005}"/>
              </a:ext>
            </a:extLst>
          </p:cNvPr>
          <p:cNvSpPr>
            <a:spLocks noGrp="1"/>
          </p:cNvSpPr>
          <p:nvPr>
            <p:ph type="dt" sz="half" idx="19"/>
          </p:nvPr>
        </p:nvSpPr>
        <p:spPr bwMode="white">
          <a:xfrm>
            <a:off x="695325" y="151136"/>
            <a:ext cx="2376000" cy="241200"/>
          </a:xfrm>
          <a:prstGeom prst="rect">
            <a:avLst/>
          </a:prstGeom>
        </p:spPr>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r>
              <a:rPr lang="en-AU" dirty="0"/>
              <a:t>[Presentation Title] | [Date]</a:t>
            </a:r>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C0CA8BB8-1B5E-4246-8A55-FAB9C1E84DFA}"/>
              </a:ext>
            </a:extLst>
          </p:cNvPr>
          <p:cNvSpPr>
            <a:spLocks noGrp="1"/>
          </p:cNvSpPr>
          <p:nvPr>
            <p:ph type="dt" sz="half" idx="19"/>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8AC1DC6-F03F-4189-B5B9-2FF38EB9C0E6}"/>
              </a:ext>
            </a:extLst>
          </p:cNvPr>
          <p:cNvSpPr>
            <a:spLocks noGrp="1"/>
          </p:cNvSpPr>
          <p:nvPr>
            <p:ph type="dt" sz="half" idx="22"/>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38C7AECD-2D0A-4301-9CB8-B765D71F0B6B}"/>
              </a:ext>
            </a:extLst>
          </p:cNvPr>
          <p:cNvSpPr>
            <a:spLocks noGrp="1"/>
          </p:cNvSpPr>
          <p:nvPr>
            <p:ph type="dt" sz="half" idx="38"/>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85E88FC7-59B6-4EA9-ABA6-E3BB2E23FF81}"/>
              </a:ext>
            </a:extLst>
          </p:cNvPr>
          <p:cNvSpPr>
            <a:spLocks noGrp="1"/>
          </p:cNvSpPr>
          <p:nvPr>
            <p:ph type="dt" sz="half" idx="39"/>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6" name="Date Placeholder 5">
            <a:extLst>
              <a:ext uri="{FF2B5EF4-FFF2-40B4-BE49-F238E27FC236}">
                <a16:creationId xmlns:a16="http://schemas.microsoft.com/office/drawing/2014/main" id="{69AFECAB-12EA-4AAC-BBB9-72070BF5947B}"/>
              </a:ext>
            </a:extLst>
          </p:cNvPr>
          <p:cNvSpPr>
            <a:spLocks noGrp="1"/>
          </p:cNvSpPr>
          <p:nvPr>
            <p:ph type="dt" sz="half" idx="18"/>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BEEBA455-94D3-4DB8-AAFA-811D610E138C}"/>
              </a:ext>
            </a:extLst>
          </p:cNvPr>
          <p:cNvSpPr>
            <a:spLocks noGrp="1"/>
          </p:cNvSpPr>
          <p:nvPr>
            <p:ph type="dt" sz="half" idx="20"/>
          </p:nvPr>
        </p:nvSpPr>
        <p:spPr bwMode="white"/>
        <p:txBody>
          <a:bodyPr/>
          <a:lstStyle/>
          <a:p>
            <a:r>
              <a:rPr lang="en-US" dirty="0"/>
              <a:t>[Entity Name]</a:t>
            </a:r>
            <a:endParaRPr lang="en-AU" dirty="0"/>
          </a:p>
        </p:txBody>
      </p:sp>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r>
              <a:rPr lang="en-AU"/>
              <a:t>[Presentation Title] | [Date]</a:t>
            </a:r>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Date Placeholder 5">
            <a:extLst>
              <a:ext uri="{FF2B5EF4-FFF2-40B4-BE49-F238E27FC236}">
                <a16:creationId xmlns:a16="http://schemas.microsoft.com/office/drawing/2014/main" id="{B7E5C78F-E1DA-41DF-B969-597539E60F5D}"/>
              </a:ext>
            </a:extLst>
          </p:cNvPr>
          <p:cNvSpPr>
            <a:spLocks noGrp="1"/>
          </p:cNvSpPr>
          <p:nvPr>
            <p:ph type="dt" sz="half" idx="18"/>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9C8F0C86-E17F-4FB6-93F4-7CD03DCBD834}"/>
              </a:ext>
            </a:extLst>
          </p:cNvPr>
          <p:cNvSpPr>
            <a:spLocks noGrp="1"/>
          </p:cNvSpPr>
          <p:nvPr>
            <p:ph type="dt" sz="half" idx="18"/>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r>
              <a:rPr lang="en-AU"/>
              <a:t>[Presentation Title] | [Date]</a:t>
            </a:r>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0E118496-7854-4AD0-8A2D-922EA1AA164D}"/>
              </a:ext>
            </a:extLst>
          </p:cNvPr>
          <p:cNvSpPr>
            <a:spLocks noGrp="1"/>
          </p:cNvSpPr>
          <p:nvPr>
            <p:ph type="dt" sz="half" idx="22"/>
          </p:nvPr>
        </p:nvSpPr>
        <p:spPr bwMode="white"/>
        <p:txBody>
          <a:bodyPr/>
          <a:lstStyle/>
          <a:p>
            <a:r>
              <a:rPr lang="en-US" dirty="0"/>
              <a:t>[Entity Name]</a:t>
            </a:r>
            <a:endParaRPr lang="en-AU" dirty="0"/>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41F506F8-588F-4C50-8AA3-03099347931D}"/>
              </a:ext>
            </a:extLst>
          </p:cNvPr>
          <p:cNvSpPr>
            <a:spLocks noGrp="1"/>
          </p:cNvSpPr>
          <p:nvPr>
            <p:ph type="dt" sz="half" idx="24"/>
          </p:nvPr>
        </p:nvSpPr>
        <p:spPr bwMode="white"/>
        <p:txBody>
          <a:bodyPr/>
          <a:lstStyle/>
          <a:p>
            <a:r>
              <a:rPr lang="en-US" dirty="0"/>
              <a:t>[Entity Name]</a:t>
            </a:r>
            <a:endParaRPr lang="en-AU" dirty="0"/>
          </a:p>
        </p:txBody>
      </p:sp>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r>
              <a:rPr lang="en-AU"/>
              <a:t>[Presentation Title] | [Date]</a:t>
            </a:r>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2" name="Date Placeholder 1">
            <a:extLst>
              <a:ext uri="{FF2B5EF4-FFF2-40B4-BE49-F238E27FC236}">
                <a16:creationId xmlns:a16="http://schemas.microsoft.com/office/drawing/2014/main" id="{F89382FB-62F4-4C2A-91A5-943967894D42}"/>
              </a:ext>
            </a:extLst>
          </p:cNvPr>
          <p:cNvSpPr>
            <a:spLocks noGrp="1"/>
          </p:cNvSpPr>
          <p:nvPr>
            <p:ph type="dt" sz="half" idx="32"/>
          </p:nvPr>
        </p:nvSpPr>
        <p:spPr bwMode="white"/>
        <p:txBody>
          <a:bodyPr/>
          <a:lstStyle/>
          <a:p>
            <a:r>
              <a:rPr lang="en-US" dirty="0"/>
              <a:t>[Entity Name]</a:t>
            </a:r>
            <a:endParaRPr lang="en-AU" dirty="0"/>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r>
              <a:rPr lang="en-AU"/>
              <a:t>[Presentation Title] | [Date]</a:t>
            </a:r>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Date Placeholder 2">
            <a:extLst>
              <a:ext uri="{FF2B5EF4-FFF2-40B4-BE49-F238E27FC236}">
                <a16:creationId xmlns:a16="http://schemas.microsoft.com/office/drawing/2014/main" id="{6D83B7EB-0921-47FC-BB02-41C5175DD7EB}"/>
              </a:ext>
            </a:extLst>
          </p:cNvPr>
          <p:cNvSpPr>
            <a:spLocks noGrp="1"/>
          </p:cNvSpPr>
          <p:nvPr>
            <p:ph type="dt" sz="half" idx="16"/>
          </p:nvPr>
        </p:nvSpPr>
        <p:spPr bwMode="white"/>
        <p:txBody>
          <a:bodyPr/>
          <a:lstStyle/>
          <a:p>
            <a:r>
              <a:rPr lang="en-US" dirty="0"/>
              <a:t>[Entity Name]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r>
              <a:rPr lang="en-AU"/>
              <a:t>[Presentation Title] | [Date]</a:t>
            </a:r>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8070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userDrawn="1"/>
        </p:nvPicPr>
        <p:blipFill rotWithShape="1">
          <a:blip r:embed="rId2"/>
          <a:srcRect r="42155"/>
          <a:stretch/>
        </p:blipFill>
        <p:spPr>
          <a:xfrm>
            <a:off x="10271272" y="152896"/>
            <a:ext cx="1237347" cy="324000"/>
          </a:xfrm>
          <a:prstGeom prst="rect">
            <a:avLst/>
          </a:prstGeom>
        </p:spPr>
      </p:pic>
    </p:spTree>
    <p:extLst>
      <p:ext uri="{BB962C8B-B14F-4D97-AF65-F5344CB8AC3E}">
        <p14:creationId xmlns:p14="http://schemas.microsoft.com/office/powerpoint/2010/main" val="233513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dirty="0"/>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22177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6" name="Footer Placeholder 4"/>
          <p:cNvSpPr>
            <a:spLocks noGrp="1"/>
          </p:cNvSpPr>
          <p:nvPr>
            <p:ph type="ftr" sz="quarter" idx="3"/>
          </p:nvPr>
        </p:nvSpPr>
        <p:spPr>
          <a:xfrm>
            <a:off x="695326" y="6519171"/>
            <a:ext cx="3360109" cy="240219"/>
          </a:xfrm>
          <a:prstGeom prst="rect">
            <a:avLst/>
          </a:prstGeom>
        </p:spPr>
        <p:txBody>
          <a:bodyPr vert="horz" lIns="0" tIns="0" rIns="0" bIns="0" rtlCol="0" anchor="ctr"/>
          <a:lstStyle>
            <a:lvl1pPr algn="l">
              <a:defRPr sz="800" b="0">
                <a:solidFill>
                  <a:schemeClr val="tx1"/>
                </a:solidFill>
              </a:defRPr>
            </a:lvl1pPr>
          </a:lstStyle>
          <a:p>
            <a:r>
              <a:rPr lang="en-AU"/>
              <a:t>[Presentation Title] | [Date]</a:t>
            </a:r>
            <a:endParaRPr lang="en-AU"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 name="Date Placeholder 2">
            <a:extLst>
              <a:ext uri="{FF2B5EF4-FFF2-40B4-BE49-F238E27FC236}">
                <a16:creationId xmlns:a16="http://schemas.microsoft.com/office/drawing/2014/main" id="{3BDB83A3-A276-43C3-9F27-2B380C4149A9}"/>
              </a:ext>
            </a:extLst>
          </p:cNvPr>
          <p:cNvSpPr>
            <a:spLocks noGrp="1"/>
          </p:cNvSpPr>
          <p:nvPr>
            <p:ph type="dt" sz="half" idx="2"/>
          </p:nvPr>
        </p:nvSpPr>
        <p:spPr>
          <a:xfrm>
            <a:off x="695324" y="151134"/>
            <a:ext cx="3360109" cy="288000"/>
          </a:xfrm>
          <a:prstGeom prst="rect">
            <a:avLst/>
          </a:prstGeom>
        </p:spPr>
        <p:txBody>
          <a:bodyPr vert="horz" lIns="0" tIns="0" rIns="0" bIns="0" rtlCol="0" anchor="t"/>
          <a:lstStyle>
            <a:lvl1pPr algn="l">
              <a:lnSpc>
                <a:spcPct val="80000"/>
              </a:lnSpc>
              <a:defRPr sz="1000">
                <a:solidFill>
                  <a:schemeClr val="bg1"/>
                </a:solidFill>
              </a:defRPr>
            </a:lvl1pPr>
          </a:lstStyle>
          <a:p>
            <a:r>
              <a:rPr lang="en-US" dirty="0"/>
              <a:t>[Entity Name]</a:t>
            </a:r>
            <a:endParaRPr lang="en-AU" dirty="0"/>
          </a:p>
        </p:txBody>
      </p:sp>
      <p:sp>
        <p:nvSpPr>
          <p:cNvPr id="9" name="TextBox 8">
            <a:extLst>
              <a:ext uri="{FF2B5EF4-FFF2-40B4-BE49-F238E27FC236}">
                <a16:creationId xmlns:a16="http://schemas.microsoft.com/office/drawing/2014/main" id="{CB7DFD9D-2931-49B5-A376-9D4B93C4960C}"/>
              </a:ext>
            </a:extLst>
          </p:cNvPr>
          <p:cNvSpPr txBox="1"/>
          <p:nvPr userDrawn="1"/>
        </p:nvSpPr>
        <p:spPr>
          <a:xfrm>
            <a:off x="8096810" y="6518190"/>
            <a:ext cx="2391677" cy="241200"/>
          </a:xfrm>
          <a:prstGeom prst="rect">
            <a:avLst/>
          </a:prstGeom>
          <a:noFill/>
        </p:spPr>
        <p:txBody>
          <a:bodyPr wrap="square" lIns="0" tIns="0" rIns="0" bIns="0" rtlCol="0" anchor="ctr">
            <a:noAutofit/>
          </a:bodyPr>
          <a:lstStyle/>
          <a:p>
            <a:r>
              <a:rPr lang="en-AU" sz="800" dirty="0"/>
              <a:t>CRICOS code 00025B</a:t>
            </a:r>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83" r:id="rId3"/>
    <p:sldLayoutId id="2147483774" r:id="rId4"/>
    <p:sldLayoutId id="2147483792" r:id="rId5"/>
    <p:sldLayoutId id="2147483775" r:id="rId6"/>
    <p:sldLayoutId id="2147483650" r:id="rId7"/>
    <p:sldLayoutId id="2147483652" r:id="rId8"/>
    <p:sldLayoutId id="2147483778" r:id="rId9"/>
    <p:sldLayoutId id="2147483779" r:id="rId10"/>
    <p:sldLayoutId id="2147483728" r:id="rId11"/>
    <p:sldLayoutId id="2147483784" r:id="rId12"/>
    <p:sldLayoutId id="2147483656" r:id="rId13"/>
    <p:sldLayoutId id="2147483732" r:id="rId14"/>
    <p:sldLayoutId id="2147483793" r:id="rId15"/>
    <p:sldLayoutId id="2147483657" r:id="rId16"/>
    <p:sldLayoutId id="2147483765" r:id="rId17"/>
    <p:sldLayoutId id="2147483787" r:id="rId18"/>
    <p:sldLayoutId id="2147483788" r:id="rId19"/>
    <p:sldLayoutId id="2147483794" r:id="rId20"/>
    <p:sldLayoutId id="2147483795" r:id="rId21"/>
    <p:sldLayoutId id="2147483796" r:id="rId22"/>
    <p:sldLayoutId id="2147483791" r:id="rId23"/>
    <p:sldLayoutId id="2147483797" r:id="rId24"/>
    <p:sldLayoutId id="2147483790" r:id="rId25"/>
    <p:sldLayoutId id="2147483798" r:id="rId26"/>
    <p:sldLayoutId id="2147483768" r:id="rId27"/>
    <p:sldLayoutId id="2147483769" r:id="rId28"/>
    <p:sldLayoutId id="2147483770" r:id="rId29"/>
    <p:sldLayoutId id="2147483771" r:id="rId30"/>
    <p:sldLayoutId id="2147483789" r:id="rId31"/>
    <p:sldLayoutId id="2147483776" r:id="rId32"/>
    <p:sldLayoutId id="2147483777" r:id="rId33"/>
    <p:sldLayoutId id="2147483654" r:id="rId34"/>
    <p:sldLayoutId id="2147483785" r:id="rId35"/>
    <p:sldLayoutId id="2147483780" r:id="rId36"/>
    <p:sldLayoutId id="2147483782"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6" orient="horz" pos="3974" userDrawn="1">
          <p15:clr>
            <a:srgbClr val="F26B43"/>
          </p15:clr>
        </p15:guide>
        <p15:guide id="7" orient="horz" pos="663"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hyperlink" Target="https://guides.library.uq.edu.au/anatomy-and-physiology" TargetMode="External"/><Relationship Id="rId1" Type="http://schemas.openxmlformats.org/officeDocument/2006/relationships/slideLayout" Target="../slideLayouts/slideLayout7.xml"/><Relationship Id="rId4" Type="http://schemas.openxmlformats.org/officeDocument/2006/relationships/hyperlink" Target="https://search.library.uq.edu.au/primo-explore/fulldisplay?docid=61UQ_ALMA61117004270003131&amp;vid=61UQ&amp;search_scope=61UQ_All&amp;tab=61uq_all&amp;lang=en_US&amp;context=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92987-6E68-47E6-931F-15CD6EAC4FB8}"/>
              </a:ext>
            </a:extLst>
          </p:cNvPr>
          <p:cNvSpPr>
            <a:spLocks noGrp="1"/>
          </p:cNvSpPr>
          <p:nvPr>
            <p:ph type="title"/>
          </p:nvPr>
        </p:nvSpPr>
        <p:spPr/>
        <p:txBody>
          <a:bodyPr/>
          <a:lstStyle/>
          <a:p>
            <a:r>
              <a:rPr lang="en-AU" dirty="0"/>
              <a:t>Tooth morphology I, eruption timings</a:t>
            </a:r>
          </a:p>
        </p:txBody>
      </p:sp>
      <p:sp>
        <p:nvSpPr>
          <p:cNvPr id="4" name="Text Placeholder 3">
            <a:extLst>
              <a:ext uri="{FF2B5EF4-FFF2-40B4-BE49-F238E27FC236}">
                <a16:creationId xmlns:a16="http://schemas.microsoft.com/office/drawing/2014/main" id="{3F91891B-CDDB-4FE8-9BA2-4CC0FB67BF9F}"/>
              </a:ext>
            </a:extLst>
          </p:cNvPr>
          <p:cNvSpPr>
            <a:spLocks noGrp="1"/>
          </p:cNvSpPr>
          <p:nvPr>
            <p:ph type="body" sz="quarter" idx="10"/>
          </p:nvPr>
        </p:nvSpPr>
        <p:spPr/>
        <p:txBody>
          <a:bodyPr/>
          <a:lstStyle/>
          <a:p>
            <a:r>
              <a:rPr lang="en-AU" dirty="0"/>
              <a:t>DENT1060: Dental Practice IA</a:t>
            </a:r>
          </a:p>
        </p:txBody>
      </p:sp>
    </p:spTree>
    <p:extLst>
      <p:ext uri="{BB962C8B-B14F-4D97-AF65-F5344CB8AC3E}">
        <p14:creationId xmlns:p14="http://schemas.microsoft.com/office/powerpoint/2010/main" val="1217444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7161B9B-054F-4E0F-BB79-944918A9A18A}"/>
              </a:ext>
            </a:extLst>
          </p:cNvPr>
          <p:cNvSpPr>
            <a:spLocks noGrp="1"/>
          </p:cNvSpPr>
          <p:nvPr>
            <p:ph sz="quarter" idx="10"/>
          </p:nvPr>
        </p:nvSpPr>
        <p:spPr/>
        <p:txBody>
          <a:bodyPr/>
          <a:lstStyle/>
          <a:p>
            <a:r>
              <a:rPr lang="en-AU" dirty="0"/>
              <a:t>To describe the characteristics of the dentition and the dental anatomy</a:t>
            </a:r>
          </a:p>
          <a:p>
            <a:r>
              <a:rPr lang="en-AU" dirty="0"/>
              <a:t>To discern differences between the deciduous and adult dentition</a:t>
            </a:r>
          </a:p>
        </p:txBody>
      </p:sp>
      <p:sp>
        <p:nvSpPr>
          <p:cNvPr id="8" name="Title 7">
            <a:extLst>
              <a:ext uri="{FF2B5EF4-FFF2-40B4-BE49-F238E27FC236}">
                <a16:creationId xmlns:a16="http://schemas.microsoft.com/office/drawing/2014/main" id="{4B1AED59-1534-4921-AD20-402A6D186E67}"/>
              </a:ext>
            </a:extLst>
          </p:cNvPr>
          <p:cNvSpPr>
            <a:spLocks noGrp="1"/>
          </p:cNvSpPr>
          <p:nvPr>
            <p:ph type="title"/>
          </p:nvPr>
        </p:nvSpPr>
        <p:spPr/>
        <p:txBody>
          <a:bodyPr/>
          <a:lstStyle/>
          <a:p>
            <a:r>
              <a:rPr lang="en-AU" dirty="0"/>
              <a:t>Learning objectives</a:t>
            </a:r>
          </a:p>
        </p:txBody>
      </p:sp>
      <p:sp>
        <p:nvSpPr>
          <p:cNvPr id="10" name="Text Placeholder 9">
            <a:extLst>
              <a:ext uri="{FF2B5EF4-FFF2-40B4-BE49-F238E27FC236}">
                <a16:creationId xmlns:a16="http://schemas.microsoft.com/office/drawing/2014/main" id="{EE4DFA57-FDE4-43C8-B3A8-42D31871720A}"/>
              </a:ext>
            </a:extLst>
          </p:cNvPr>
          <p:cNvSpPr>
            <a:spLocks noGrp="1"/>
          </p:cNvSpPr>
          <p:nvPr>
            <p:ph type="body" sz="quarter" idx="15"/>
          </p:nvPr>
        </p:nvSpPr>
        <p:spPr/>
        <p:txBody>
          <a:bodyPr/>
          <a:lstStyle/>
          <a:p>
            <a:endParaRPr lang="en-AU"/>
          </a:p>
        </p:txBody>
      </p:sp>
      <p:sp>
        <p:nvSpPr>
          <p:cNvPr id="12" name="Footer Placeholder 11">
            <a:extLst>
              <a:ext uri="{FF2B5EF4-FFF2-40B4-BE49-F238E27FC236}">
                <a16:creationId xmlns:a16="http://schemas.microsoft.com/office/drawing/2014/main" id="{CB670E92-3AA9-4614-A780-E00910D9E0C9}"/>
              </a:ext>
            </a:extLst>
          </p:cNvPr>
          <p:cNvSpPr>
            <a:spLocks noGrp="1"/>
          </p:cNvSpPr>
          <p:nvPr>
            <p:ph type="ftr" sz="quarter" idx="17"/>
          </p:nvPr>
        </p:nvSpPr>
        <p:spPr/>
        <p:txBody>
          <a:bodyPr/>
          <a:lstStyle/>
          <a:p>
            <a:r>
              <a:rPr lang="en-AU"/>
              <a:t>[Presentation Title] | [Date]</a:t>
            </a:r>
            <a:endParaRPr lang="en-AU" dirty="0"/>
          </a:p>
        </p:txBody>
      </p:sp>
      <p:sp>
        <p:nvSpPr>
          <p:cNvPr id="13" name="Slide Number Placeholder 12">
            <a:extLst>
              <a:ext uri="{FF2B5EF4-FFF2-40B4-BE49-F238E27FC236}">
                <a16:creationId xmlns:a16="http://schemas.microsoft.com/office/drawing/2014/main" id="{3AAC87B6-164F-4892-A04B-AC06243353EE}"/>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
        <p:nvSpPr>
          <p:cNvPr id="11" name="Date Placeholder 10">
            <a:extLst>
              <a:ext uri="{FF2B5EF4-FFF2-40B4-BE49-F238E27FC236}">
                <a16:creationId xmlns:a16="http://schemas.microsoft.com/office/drawing/2014/main" id="{CFF85628-2B5C-44F2-B05D-5E4B5455DB8F}"/>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20480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3EB03A-0A40-C708-293E-9D1996EAD7E4}"/>
              </a:ext>
            </a:extLst>
          </p:cNvPr>
          <p:cNvSpPr>
            <a:spLocks noGrp="1"/>
          </p:cNvSpPr>
          <p:nvPr>
            <p:ph sz="quarter" idx="10"/>
          </p:nvPr>
        </p:nvSpPr>
        <p:spPr>
          <a:xfrm>
            <a:off x="695325" y="1701577"/>
            <a:ext cx="10801350" cy="4608512"/>
          </a:xfrm>
        </p:spPr>
        <p:txBody>
          <a:bodyPr/>
          <a:lstStyle/>
          <a:p>
            <a:r>
              <a:rPr lang="en-AU" u="sng" spc="-10" dirty="0">
                <a:solidFill>
                  <a:srgbClr val="512379"/>
                </a:solidFill>
                <a:uFill>
                  <a:solidFill>
                    <a:srgbClr val="512379"/>
                  </a:solidFill>
                </a:uFill>
                <a:cs typeface="Arial"/>
                <a:hlinkClick r:id="rId2"/>
              </a:rPr>
              <a:t>https://guides.library.uq.edu.au/anatomy-and-physiology</a:t>
            </a:r>
            <a:endParaRPr lang="en-AU" dirty="0">
              <a:cs typeface="Arial"/>
            </a:endParaRPr>
          </a:p>
          <a:p>
            <a:endParaRPr lang="en-AU" dirty="0"/>
          </a:p>
        </p:txBody>
      </p:sp>
      <p:sp>
        <p:nvSpPr>
          <p:cNvPr id="3" name="Title 2">
            <a:extLst>
              <a:ext uri="{FF2B5EF4-FFF2-40B4-BE49-F238E27FC236}">
                <a16:creationId xmlns:a16="http://schemas.microsoft.com/office/drawing/2014/main" id="{ECCB19B0-1396-EEE4-0CBD-449A35C173DE}"/>
              </a:ext>
            </a:extLst>
          </p:cNvPr>
          <p:cNvSpPr>
            <a:spLocks noGrp="1"/>
          </p:cNvSpPr>
          <p:nvPr>
            <p:ph type="title"/>
          </p:nvPr>
        </p:nvSpPr>
        <p:spPr/>
        <p:txBody>
          <a:bodyPr/>
          <a:lstStyle/>
          <a:p>
            <a:r>
              <a:rPr lang="en-AU" dirty="0"/>
              <a:t>UQ anatomy resources</a:t>
            </a:r>
          </a:p>
        </p:txBody>
      </p:sp>
      <p:sp>
        <p:nvSpPr>
          <p:cNvPr id="4" name="Text Placeholder 3">
            <a:extLst>
              <a:ext uri="{FF2B5EF4-FFF2-40B4-BE49-F238E27FC236}">
                <a16:creationId xmlns:a16="http://schemas.microsoft.com/office/drawing/2014/main" id="{6BB286D2-13B6-98D3-259E-3AC5C7A63E68}"/>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ED0B7F26-0A18-FB92-F8A4-7B5EC3F4834D}"/>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6F8953DB-CE82-1D47-4CB7-E5157C442A2F}"/>
              </a:ext>
            </a:extLst>
          </p:cNvPr>
          <p:cNvSpPr>
            <a:spLocks noGrp="1"/>
          </p:cNvSpPr>
          <p:nvPr>
            <p:ph type="sldNum" sz="quarter" idx="18"/>
          </p:nvPr>
        </p:nvSpPr>
        <p:spPr/>
        <p:txBody>
          <a:bodyPr/>
          <a:lstStyle/>
          <a:p>
            <a:fld id="{E917DE0E-AFB1-41FD-BC35-27DB61CA125F}" type="slidenum">
              <a:rPr lang="en-AU" smtClean="0"/>
              <a:pPr/>
              <a:t>3</a:t>
            </a:fld>
            <a:endParaRPr lang="en-AU" dirty="0"/>
          </a:p>
        </p:txBody>
      </p:sp>
      <p:sp>
        <p:nvSpPr>
          <p:cNvPr id="7" name="Date Placeholder 6">
            <a:extLst>
              <a:ext uri="{FF2B5EF4-FFF2-40B4-BE49-F238E27FC236}">
                <a16:creationId xmlns:a16="http://schemas.microsoft.com/office/drawing/2014/main" id="{4E53C7A0-282F-8B30-A004-FF24D73948FE}"/>
              </a:ext>
            </a:extLst>
          </p:cNvPr>
          <p:cNvSpPr>
            <a:spLocks noGrp="1"/>
          </p:cNvSpPr>
          <p:nvPr>
            <p:ph type="dt" sz="half" idx="2"/>
          </p:nvPr>
        </p:nvSpPr>
        <p:spPr/>
        <p:txBody>
          <a:bodyPr/>
          <a:lstStyle/>
          <a:p>
            <a:r>
              <a:rPr lang="en-US"/>
              <a:t>[Entity Name]</a:t>
            </a:r>
            <a:endParaRPr lang="en-AU" dirty="0"/>
          </a:p>
        </p:txBody>
      </p:sp>
      <p:grpSp>
        <p:nvGrpSpPr>
          <p:cNvPr id="8" name="object 4">
            <a:extLst>
              <a:ext uri="{FF2B5EF4-FFF2-40B4-BE49-F238E27FC236}">
                <a16:creationId xmlns:a16="http://schemas.microsoft.com/office/drawing/2014/main" id="{228D0F42-88A8-82DE-C23F-AC53493DAB8C}"/>
              </a:ext>
            </a:extLst>
          </p:cNvPr>
          <p:cNvGrpSpPr/>
          <p:nvPr/>
        </p:nvGrpSpPr>
        <p:grpSpPr>
          <a:xfrm>
            <a:off x="662940" y="1943100"/>
            <a:ext cx="8472170" cy="4723765"/>
            <a:chOff x="662940" y="1943100"/>
            <a:chExt cx="8472170" cy="4723765"/>
          </a:xfrm>
        </p:grpSpPr>
        <p:pic>
          <p:nvPicPr>
            <p:cNvPr id="9" name="object 5">
              <a:extLst>
                <a:ext uri="{FF2B5EF4-FFF2-40B4-BE49-F238E27FC236}">
                  <a16:creationId xmlns:a16="http://schemas.microsoft.com/office/drawing/2014/main" id="{39259A86-D8E0-F98A-66FB-8F52788DFFD6}"/>
                </a:ext>
              </a:extLst>
            </p:cNvPr>
            <p:cNvPicPr/>
            <p:nvPr/>
          </p:nvPicPr>
          <p:blipFill>
            <a:blip r:embed="rId3" cstate="print"/>
            <a:stretch>
              <a:fillRect/>
            </a:stretch>
          </p:blipFill>
          <p:spPr>
            <a:xfrm>
              <a:off x="662940" y="1943100"/>
              <a:ext cx="7057643" cy="4723369"/>
            </a:xfrm>
            <a:prstGeom prst="rect">
              <a:avLst/>
            </a:prstGeom>
          </p:spPr>
        </p:pic>
        <p:sp>
          <p:nvSpPr>
            <p:cNvPr id="10" name="object 6">
              <a:extLst>
                <a:ext uri="{FF2B5EF4-FFF2-40B4-BE49-F238E27FC236}">
                  <a16:creationId xmlns:a16="http://schemas.microsoft.com/office/drawing/2014/main" id="{18AEDD0B-9D1D-C718-F33B-A446F9979194}"/>
                </a:ext>
              </a:extLst>
            </p:cNvPr>
            <p:cNvSpPr/>
            <p:nvPr/>
          </p:nvSpPr>
          <p:spPr>
            <a:xfrm>
              <a:off x="1991868" y="4898135"/>
              <a:ext cx="5400040" cy="562610"/>
            </a:xfrm>
            <a:custGeom>
              <a:avLst/>
              <a:gdLst/>
              <a:ahLst/>
              <a:cxnLst/>
              <a:rect l="l" t="t" r="r" b="b"/>
              <a:pathLst>
                <a:path w="5400040" h="562610">
                  <a:moveTo>
                    <a:pt x="0" y="281177"/>
                  </a:moveTo>
                  <a:lnTo>
                    <a:pt x="28248" y="240353"/>
                  </a:lnTo>
                  <a:lnTo>
                    <a:pt x="71302" y="216704"/>
                  </a:lnTo>
                  <a:lnTo>
                    <a:pt x="110355" y="201347"/>
                  </a:lnTo>
                  <a:lnTo>
                    <a:pt x="157392" y="186346"/>
                  </a:lnTo>
                  <a:lnTo>
                    <a:pt x="212160" y="171728"/>
                  </a:lnTo>
                  <a:lnTo>
                    <a:pt x="274406" y="157520"/>
                  </a:lnTo>
                  <a:lnTo>
                    <a:pt x="343877" y="143748"/>
                  </a:lnTo>
                  <a:lnTo>
                    <a:pt x="420320" y="130439"/>
                  </a:lnTo>
                  <a:lnTo>
                    <a:pt x="461076" y="123966"/>
                  </a:lnTo>
                  <a:lnTo>
                    <a:pt x="503481" y="117618"/>
                  </a:lnTo>
                  <a:lnTo>
                    <a:pt x="547501" y="111400"/>
                  </a:lnTo>
                  <a:lnTo>
                    <a:pt x="593107" y="105313"/>
                  </a:lnTo>
                  <a:lnTo>
                    <a:pt x="640265" y="99361"/>
                  </a:lnTo>
                  <a:lnTo>
                    <a:pt x="688944" y="93549"/>
                  </a:lnTo>
                  <a:lnTo>
                    <a:pt x="739114" y="87878"/>
                  </a:lnTo>
                  <a:lnTo>
                    <a:pt x="790741" y="82353"/>
                  </a:lnTo>
                  <a:lnTo>
                    <a:pt x="843795" y="76976"/>
                  </a:lnTo>
                  <a:lnTo>
                    <a:pt x="898243" y="71751"/>
                  </a:lnTo>
                  <a:lnTo>
                    <a:pt x="954055" y="66681"/>
                  </a:lnTo>
                  <a:lnTo>
                    <a:pt x="1011198" y="61769"/>
                  </a:lnTo>
                  <a:lnTo>
                    <a:pt x="1069641" y="57020"/>
                  </a:lnTo>
                  <a:lnTo>
                    <a:pt x="1129352" y="52435"/>
                  </a:lnTo>
                  <a:lnTo>
                    <a:pt x="1190299" y="48019"/>
                  </a:lnTo>
                  <a:lnTo>
                    <a:pt x="1252451" y="43774"/>
                  </a:lnTo>
                  <a:lnTo>
                    <a:pt x="1315776" y="39705"/>
                  </a:lnTo>
                  <a:lnTo>
                    <a:pt x="1380243" y="35813"/>
                  </a:lnTo>
                  <a:lnTo>
                    <a:pt x="1445820" y="32103"/>
                  </a:lnTo>
                  <a:lnTo>
                    <a:pt x="1512475" y="28578"/>
                  </a:lnTo>
                  <a:lnTo>
                    <a:pt x="1580177" y="25241"/>
                  </a:lnTo>
                  <a:lnTo>
                    <a:pt x="1648893" y="22095"/>
                  </a:lnTo>
                  <a:lnTo>
                    <a:pt x="1718593" y="19144"/>
                  </a:lnTo>
                  <a:lnTo>
                    <a:pt x="1789244" y="16391"/>
                  </a:lnTo>
                  <a:lnTo>
                    <a:pt x="1860815" y="13840"/>
                  </a:lnTo>
                  <a:lnTo>
                    <a:pt x="1933275" y="11493"/>
                  </a:lnTo>
                  <a:lnTo>
                    <a:pt x="2006591" y="9353"/>
                  </a:lnTo>
                  <a:lnTo>
                    <a:pt x="2080733" y="7425"/>
                  </a:lnTo>
                  <a:lnTo>
                    <a:pt x="2155667" y="5712"/>
                  </a:lnTo>
                  <a:lnTo>
                    <a:pt x="2231364" y="4216"/>
                  </a:lnTo>
                  <a:lnTo>
                    <a:pt x="2307790" y="2941"/>
                  </a:lnTo>
                  <a:lnTo>
                    <a:pt x="2384915" y="1891"/>
                  </a:lnTo>
                  <a:lnTo>
                    <a:pt x="2462707" y="1068"/>
                  </a:lnTo>
                  <a:lnTo>
                    <a:pt x="2541133" y="477"/>
                  </a:lnTo>
                  <a:lnTo>
                    <a:pt x="2620164" y="119"/>
                  </a:lnTo>
                  <a:lnTo>
                    <a:pt x="2699766" y="0"/>
                  </a:lnTo>
                  <a:lnTo>
                    <a:pt x="2779367" y="119"/>
                  </a:lnTo>
                  <a:lnTo>
                    <a:pt x="2858398" y="477"/>
                  </a:lnTo>
                  <a:lnTo>
                    <a:pt x="2936824" y="1068"/>
                  </a:lnTo>
                  <a:lnTo>
                    <a:pt x="3014616" y="1891"/>
                  </a:lnTo>
                  <a:lnTo>
                    <a:pt x="3091741" y="2941"/>
                  </a:lnTo>
                  <a:lnTo>
                    <a:pt x="3168167" y="4216"/>
                  </a:lnTo>
                  <a:lnTo>
                    <a:pt x="3243864" y="5712"/>
                  </a:lnTo>
                  <a:lnTo>
                    <a:pt x="3318798" y="7425"/>
                  </a:lnTo>
                  <a:lnTo>
                    <a:pt x="3392940" y="9353"/>
                  </a:lnTo>
                  <a:lnTo>
                    <a:pt x="3466256" y="11493"/>
                  </a:lnTo>
                  <a:lnTo>
                    <a:pt x="3538716" y="13840"/>
                  </a:lnTo>
                  <a:lnTo>
                    <a:pt x="3610287" y="16391"/>
                  </a:lnTo>
                  <a:lnTo>
                    <a:pt x="3680938" y="19144"/>
                  </a:lnTo>
                  <a:lnTo>
                    <a:pt x="3750638" y="22095"/>
                  </a:lnTo>
                  <a:lnTo>
                    <a:pt x="3819354" y="25241"/>
                  </a:lnTo>
                  <a:lnTo>
                    <a:pt x="3887056" y="28578"/>
                  </a:lnTo>
                  <a:lnTo>
                    <a:pt x="3953711" y="32103"/>
                  </a:lnTo>
                  <a:lnTo>
                    <a:pt x="4019288" y="35813"/>
                  </a:lnTo>
                  <a:lnTo>
                    <a:pt x="4083755" y="39705"/>
                  </a:lnTo>
                  <a:lnTo>
                    <a:pt x="4147080" y="43774"/>
                  </a:lnTo>
                  <a:lnTo>
                    <a:pt x="4209232" y="48019"/>
                  </a:lnTo>
                  <a:lnTo>
                    <a:pt x="4270179" y="52435"/>
                  </a:lnTo>
                  <a:lnTo>
                    <a:pt x="4329890" y="57020"/>
                  </a:lnTo>
                  <a:lnTo>
                    <a:pt x="4388333" y="61769"/>
                  </a:lnTo>
                  <a:lnTo>
                    <a:pt x="4445476" y="66681"/>
                  </a:lnTo>
                  <a:lnTo>
                    <a:pt x="4501288" y="71751"/>
                  </a:lnTo>
                  <a:lnTo>
                    <a:pt x="4555736" y="76976"/>
                  </a:lnTo>
                  <a:lnTo>
                    <a:pt x="4608790" y="82353"/>
                  </a:lnTo>
                  <a:lnTo>
                    <a:pt x="4660417" y="87878"/>
                  </a:lnTo>
                  <a:lnTo>
                    <a:pt x="4710587" y="93549"/>
                  </a:lnTo>
                  <a:lnTo>
                    <a:pt x="4759266" y="99361"/>
                  </a:lnTo>
                  <a:lnTo>
                    <a:pt x="4806424" y="105313"/>
                  </a:lnTo>
                  <a:lnTo>
                    <a:pt x="4852030" y="111400"/>
                  </a:lnTo>
                  <a:lnTo>
                    <a:pt x="4896050" y="117618"/>
                  </a:lnTo>
                  <a:lnTo>
                    <a:pt x="4938455" y="123966"/>
                  </a:lnTo>
                  <a:lnTo>
                    <a:pt x="4979211" y="130439"/>
                  </a:lnTo>
                  <a:lnTo>
                    <a:pt x="5018288" y="137034"/>
                  </a:lnTo>
                  <a:lnTo>
                    <a:pt x="5091277" y="150578"/>
                  </a:lnTo>
                  <a:lnTo>
                    <a:pt x="5157167" y="164571"/>
                  </a:lnTo>
                  <a:lnTo>
                    <a:pt x="5215706" y="178987"/>
                  </a:lnTo>
                  <a:lnTo>
                    <a:pt x="5266640" y="193800"/>
                  </a:lnTo>
                  <a:lnTo>
                    <a:pt x="5309717" y="208982"/>
                  </a:lnTo>
                  <a:lnTo>
                    <a:pt x="5344682" y="224509"/>
                  </a:lnTo>
                  <a:lnTo>
                    <a:pt x="5381368" y="248385"/>
                  </a:lnTo>
                  <a:lnTo>
                    <a:pt x="5399532" y="281177"/>
                  </a:lnTo>
                  <a:lnTo>
                    <a:pt x="5398380" y="289468"/>
                  </a:lnTo>
                  <a:lnTo>
                    <a:pt x="5371283" y="322002"/>
                  </a:lnTo>
                  <a:lnTo>
                    <a:pt x="5328229" y="345651"/>
                  </a:lnTo>
                  <a:lnTo>
                    <a:pt x="5289176" y="361008"/>
                  </a:lnTo>
                  <a:lnTo>
                    <a:pt x="5242139" y="376009"/>
                  </a:lnTo>
                  <a:lnTo>
                    <a:pt x="5187371" y="390627"/>
                  </a:lnTo>
                  <a:lnTo>
                    <a:pt x="5125125" y="404835"/>
                  </a:lnTo>
                  <a:lnTo>
                    <a:pt x="5055654" y="418607"/>
                  </a:lnTo>
                  <a:lnTo>
                    <a:pt x="4979211" y="431916"/>
                  </a:lnTo>
                  <a:lnTo>
                    <a:pt x="4938455" y="438389"/>
                  </a:lnTo>
                  <a:lnTo>
                    <a:pt x="4896050" y="444737"/>
                  </a:lnTo>
                  <a:lnTo>
                    <a:pt x="4852030" y="450955"/>
                  </a:lnTo>
                  <a:lnTo>
                    <a:pt x="4806424" y="457042"/>
                  </a:lnTo>
                  <a:lnTo>
                    <a:pt x="4759266" y="462994"/>
                  </a:lnTo>
                  <a:lnTo>
                    <a:pt x="4710587" y="468806"/>
                  </a:lnTo>
                  <a:lnTo>
                    <a:pt x="4660417" y="474477"/>
                  </a:lnTo>
                  <a:lnTo>
                    <a:pt x="4608790" y="480002"/>
                  </a:lnTo>
                  <a:lnTo>
                    <a:pt x="4555736" y="485379"/>
                  </a:lnTo>
                  <a:lnTo>
                    <a:pt x="4501288" y="490604"/>
                  </a:lnTo>
                  <a:lnTo>
                    <a:pt x="4445476" y="495674"/>
                  </a:lnTo>
                  <a:lnTo>
                    <a:pt x="4388333" y="500586"/>
                  </a:lnTo>
                  <a:lnTo>
                    <a:pt x="4329890" y="505335"/>
                  </a:lnTo>
                  <a:lnTo>
                    <a:pt x="4270179" y="509920"/>
                  </a:lnTo>
                  <a:lnTo>
                    <a:pt x="4209232" y="514336"/>
                  </a:lnTo>
                  <a:lnTo>
                    <a:pt x="4147080" y="518581"/>
                  </a:lnTo>
                  <a:lnTo>
                    <a:pt x="4083755" y="522650"/>
                  </a:lnTo>
                  <a:lnTo>
                    <a:pt x="4019288" y="526542"/>
                  </a:lnTo>
                  <a:lnTo>
                    <a:pt x="3953711" y="530252"/>
                  </a:lnTo>
                  <a:lnTo>
                    <a:pt x="3887056" y="533777"/>
                  </a:lnTo>
                  <a:lnTo>
                    <a:pt x="3819354" y="537114"/>
                  </a:lnTo>
                  <a:lnTo>
                    <a:pt x="3750638" y="540260"/>
                  </a:lnTo>
                  <a:lnTo>
                    <a:pt x="3680938" y="543211"/>
                  </a:lnTo>
                  <a:lnTo>
                    <a:pt x="3610287" y="545964"/>
                  </a:lnTo>
                  <a:lnTo>
                    <a:pt x="3538716" y="548515"/>
                  </a:lnTo>
                  <a:lnTo>
                    <a:pt x="3466256" y="550862"/>
                  </a:lnTo>
                  <a:lnTo>
                    <a:pt x="3392940" y="553002"/>
                  </a:lnTo>
                  <a:lnTo>
                    <a:pt x="3318798" y="554930"/>
                  </a:lnTo>
                  <a:lnTo>
                    <a:pt x="3243864" y="556643"/>
                  </a:lnTo>
                  <a:lnTo>
                    <a:pt x="3168167" y="558139"/>
                  </a:lnTo>
                  <a:lnTo>
                    <a:pt x="3091741" y="559414"/>
                  </a:lnTo>
                  <a:lnTo>
                    <a:pt x="3014616" y="560464"/>
                  </a:lnTo>
                  <a:lnTo>
                    <a:pt x="2936824" y="561287"/>
                  </a:lnTo>
                  <a:lnTo>
                    <a:pt x="2858398" y="561878"/>
                  </a:lnTo>
                  <a:lnTo>
                    <a:pt x="2779367" y="562236"/>
                  </a:lnTo>
                  <a:lnTo>
                    <a:pt x="2699766" y="562355"/>
                  </a:lnTo>
                  <a:lnTo>
                    <a:pt x="2620164" y="562236"/>
                  </a:lnTo>
                  <a:lnTo>
                    <a:pt x="2541133" y="561878"/>
                  </a:lnTo>
                  <a:lnTo>
                    <a:pt x="2462707" y="561287"/>
                  </a:lnTo>
                  <a:lnTo>
                    <a:pt x="2384915" y="560464"/>
                  </a:lnTo>
                  <a:lnTo>
                    <a:pt x="2307790" y="559414"/>
                  </a:lnTo>
                  <a:lnTo>
                    <a:pt x="2231364" y="558139"/>
                  </a:lnTo>
                  <a:lnTo>
                    <a:pt x="2155667" y="556643"/>
                  </a:lnTo>
                  <a:lnTo>
                    <a:pt x="2080733" y="554930"/>
                  </a:lnTo>
                  <a:lnTo>
                    <a:pt x="2006591" y="553002"/>
                  </a:lnTo>
                  <a:lnTo>
                    <a:pt x="1933275" y="550862"/>
                  </a:lnTo>
                  <a:lnTo>
                    <a:pt x="1860815" y="548515"/>
                  </a:lnTo>
                  <a:lnTo>
                    <a:pt x="1789244" y="545964"/>
                  </a:lnTo>
                  <a:lnTo>
                    <a:pt x="1718593" y="543211"/>
                  </a:lnTo>
                  <a:lnTo>
                    <a:pt x="1648893" y="540260"/>
                  </a:lnTo>
                  <a:lnTo>
                    <a:pt x="1580177" y="537114"/>
                  </a:lnTo>
                  <a:lnTo>
                    <a:pt x="1512475" y="533777"/>
                  </a:lnTo>
                  <a:lnTo>
                    <a:pt x="1445820" y="530252"/>
                  </a:lnTo>
                  <a:lnTo>
                    <a:pt x="1380243" y="526542"/>
                  </a:lnTo>
                  <a:lnTo>
                    <a:pt x="1315776" y="522650"/>
                  </a:lnTo>
                  <a:lnTo>
                    <a:pt x="1252451" y="518581"/>
                  </a:lnTo>
                  <a:lnTo>
                    <a:pt x="1190299" y="514336"/>
                  </a:lnTo>
                  <a:lnTo>
                    <a:pt x="1129352" y="509920"/>
                  </a:lnTo>
                  <a:lnTo>
                    <a:pt x="1069641" y="505335"/>
                  </a:lnTo>
                  <a:lnTo>
                    <a:pt x="1011198" y="500586"/>
                  </a:lnTo>
                  <a:lnTo>
                    <a:pt x="954055" y="495674"/>
                  </a:lnTo>
                  <a:lnTo>
                    <a:pt x="898243" y="490604"/>
                  </a:lnTo>
                  <a:lnTo>
                    <a:pt x="843795" y="485379"/>
                  </a:lnTo>
                  <a:lnTo>
                    <a:pt x="790741" y="480002"/>
                  </a:lnTo>
                  <a:lnTo>
                    <a:pt x="739114" y="474477"/>
                  </a:lnTo>
                  <a:lnTo>
                    <a:pt x="688944" y="468806"/>
                  </a:lnTo>
                  <a:lnTo>
                    <a:pt x="640265" y="462994"/>
                  </a:lnTo>
                  <a:lnTo>
                    <a:pt x="593107" y="457042"/>
                  </a:lnTo>
                  <a:lnTo>
                    <a:pt x="547501" y="450955"/>
                  </a:lnTo>
                  <a:lnTo>
                    <a:pt x="503481" y="444737"/>
                  </a:lnTo>
                  <a:lnTo>
                    <a:pt x="461076" y="438389"/>
                  </a:lnTo>
                  <a:lnTo>
                    <a:pt x="420320" y="431916"/>
                  </a:lnTo>
                  <a:lnTo>
                    <a:pt x="381243" y="425321"/>
                  </a:lnTo>
                  <a:lnTo>
                    <a:pt x="308254" y="411777"/>
                  </a:lnTo>
                  <a:lnTo>
                    <a:pt x="242364" y="397784"/>
                  </a:lnTo>
                  <a:lnTo>
                    <a:pt x="183825" y="383368"/>
                  </a:lnTo>
                  <a:lnTo>
                    <a:pt x="132891" y="368555"/>
                  </a:lnTo>
                  <a:lnTo>
                    <a:pt x="89814" y="353373"/>
                  </a:lnTo>
                  <a:lnTo>
                    <a:pt x="54849" y="337846"/>
                  </a:lnTo>
                  <a:lnTo>
                    <a:pt x="18163" y="313970"/>
                  </a:lnTo>
                  <a:lnTo>
                    <a:pt x="0" y="281177"/>
                  </a:lnTo>
                  <a:close/>
                </a:path>
              </a:pathLst>
            </a:custGeom>
            <a:ln w="12699">
              <a:solidFill>
                <a:srgbClr val="C00000"/>
              </a:solidFill>
            </a:ln>
          </p:spPr>
          <p:txBody>
            <a:bodyPr wrap="square" lIns="0" tIns="0" rIns="0" bIns="0" rtlCol="0"/>
            <a:lstStyle/>
            <a:p>
              <a:endParaRPr/>
            </a:p>
          </p:txBody>
        </p:sp>
        <p:sp>
          <p:nvSpPr>
            <p:cNvPr id="11" name="object 7">
              <a:extLst>
                <a:ext uri="{FF2B5EF4-FFF2-40B4-BE49-F238E27FC236}">
                  <a16:creationId xmlns:a16="http://schemas.microsoft.com/office/drawing/2014/main" id="{3B332EA2-32E0-F750-8590-8D07C8404755}"/>
                </a:ext>
              </a:extLst>
            </p:cNvPr>
            <p:cNvSpPr/>
            <p:nvPr/>
          </p:nvSpPr>
          <p:spPr>
            <a:xfrm>
              <a:off x="7452742" y="4005833"/>
              <a:ext cx="1668145" cy="1042669"/>
            </a:xfrm>
            <a:custGeom>
              <a:avLst/>
              <a:gdLst/>
              <a:ahLst/>
              <a:cxnLst/>
              <a:rect l="l" t="t" r="r" b="b"/>
              <a:pathLst>
                <a:path w="1668145" h="1042670">
                  <a:moveTo>
                    <a:pt x="1667611" y="0"/>
                  </a:moveTo>
                  <a:lnTo>
                    <a:pt x="0" y="1042263"/>
                  </a:lnTo>
                </a:path>
              </a:pathLst>
            </a:custGeom>
            <a:ln w="28575">
              <a:solidFill>
                <a:srgbClr val="C00000"/>
              </a:solidFill>
            </a:ln>
          </p:spPr>
          <p:txBody>
            <a:bodyPr wrap="square" lIns="0" tIns="0" rIns="0" bIns="0" rtlCol="0"/>
            <a:lstStyle/>
            <a:p>
              <a:endParaRPr/>
            </a:p>
          </p:txBody>
        </p:sp>
        <p:sp>
          <p:nvSpPr>
            <p:cNvPr id="12" name="object 8">
              <a:extLst>
                <a:ext uri="{FF2B5EF4-FFF2-40B4-BE49-F238E27FC236}">
                  <a16:creationId xmlns:a16="http://schemas.microsoft.com/office/drawing/2014/main" id="{F2FC3FDE-FD21-D1A4-28CB-0F125419408C}"/>
                </a:ext>
              </a:extLst>
            </p:cNvPr>
            <p:cNvSpPr/>
            <p:nvPr/>
          </p:nvSpPr>
          <p:spPr>
            <a:xfrm>
              <a:off x="7392161" y="5004169"/>
              <a:ext cx="95885" cy="81915"/>
            </a:xfrm>
            <a:custGeom>
              <a:avLst/>
              <a:gdLst/>
              <a:ahLst/>
              <a:cxnLst/>
              <a:rect l="l" t="t" r="r" b="b"/>
              <a:pathLst>
                <a:path w="95884" h="81914">
                  <a:moveTo>
                    <a:pt x="49974" y="0"/>
                  </a:moveTo>
                  <a:lnTo>
                    <a:pt x="0" y="81788"/>
                  </a:lnTo>
                  <a:lnTo>
                    <a:pt x="95415" y="72694"/>
                  </a:lnTo>
                  <a:lnTo>
                    <a:pt x="49974" y="0"/>
                  </a:lnTo>
                  <a:close/>
                </a:path>
              </a:pathLst>
            </a:custGeom>
            <a:solidFill>
              <a:srgbClr val="C00000"/>
            </a:solidFill>
          </p:spPr>
          <p:txBody>
            <a:bodyPr wrap="square" lIns="0" tIns="0" rIns="0" bIns="0" rtlCol="0"/>
            <a:lstStyle/>
            <a:p>
              <a:endParaRPr/>
            </a:p>
          </p:txBody>
        </p:sp>
      </p:grpSp>
      <p:sp>
        <p:nvSpPr>
          <p:cNvPr id="13" name="object 9">
            <a:extLst>
              <a:ext uri="{FF2B5EF4-FFF2-40B4-BE49-F238E27FC236}">
                <a16:creationId xmlns:a16="http://schemas.microsoft.com/office/drawing/2014/main" id="{4AF8D0F7-59E0-412F-4256-B41D94FD469E}"/>
              </a:ext>
            </a:extLst>
          </p:cNvPr>
          <p:cNvSpPr txBox="1"/>
          <p:nvPr/>
        </p:nvSpPr>
        <p:spPr>
          <a:xfrm>
            <a:off x="9109341" y="3743955"/>
            <a:ext cx="2141220" cy="299720"/>
          </a:xfrm>
          <a:prstGeom prst="rect">
            <a:avLst/>
          </a:prstGeom>
        </p:spPr>
        <p:txBody>
          <a:bodyPr vert="horz" wrap="square" lIns="0" tIns="12700" rIns="0" bIns="0" rtlCol="0">
            <a:spAutoFit/>
          </a:bodyPr>
          <a:lstStyle/>
          <a:p>
            <a:pPr marL="12700">
              <a:lnSpc>
                <a:spcPct val="100000"/>
              </a:lnSpc>
              <a:spcBef>
                <a:spcPts val="100"/>
              </a:spcBef>
            </a:pPr>
            <a:r>
              <a:rPr sz="1800" u="sng" spc="-10" dirty="0">
                <a:solidFill>
                  <a:srgbClr val="512379"/>
                </a:solidFill>
                <a:uFill>
                  <a:solidFill>
                    <a:srgbClr val="512379"/>
                  </a:solidFill>
                </a:uFill>
                <a:latin typeface="Arial"/>
                <a:cs typeface="Arial"/>
                <a:hlinkClick r:id="rId4"/>
              </a:rPr>
              <a:t>Anatomy.tv:</a:t>
            </a:r>
            <a:r>
              <a:rPr sz="1800" u="sng" spc="-65" dirty="0">
                <a:solidFill>
                  <a:srgbClr val="512379"/>
                </a:solidFill>
                <a:uFill>
                  <a:solidFill>
                    <a:srgbClr val="512379"/>
                  </a:solidFill>
                </a:uFill>
                <a:latin typeface="Arial"/>
                <a:cs typeface="Arial"/>
                <a:hlinkClick r:id="rId4"/>
              </a:rPr>
              <a:t> </a:t>
            </a:r>
            <a:r>
              <a:rPr sz="1800" u="sng" spc="-10" dirty="0">
                <a:solidFill>
                  <a:srgbClr val="512379"/>
                </a:solidFill>
                <a:uFill>
                  <a:solidFill>
                    <a:srgbClr val="512379"/>
                  </a:solidFill>
                </a:uFill>
                <a:latin typeface="Arial"/>
                <a:cs typeface="Arial"/>
                <a:hlinkClick r:id="rId4"/>
              </a:rPr>
              <a:t>dentistry</a:t>
            </a:r>
            <a:endParaRPr sz="1800" dirty="0">
              <a:latin typeface="Arial"/>
              <a:cs typeface="Arial"/>
            </a:endParaRPr>
          </a:p>
        </p:txBody>
      </p:sp>
    </p:spTree>
    <p:extLst>
      <p:ext uri="{BB962C8B-B14F-4D97-AF65-F5344CB8AC3E}">
        <p14:creationId xmlns:p14="http://schemas.microsoft.com/office/powerpoint/2010/main" val="170510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996852-A3C2-0020-3EEE-AF678EA09FD6}"/>
              </a:ext>
            </a:extLst>
          </p:cNvPr>
          <p:cNvSpPr>
            <a:spLocks noGrp="1"/>
          </p:cNvSpPr>
          <p:nvPr>
            <p:ph sz="quarter" idx="10"/>
          </p:nvPr>
        </p:nvSpPr>
        <p:spPr>
          <a:xfrm>
            <a:off x="695325" y="1700213"/>
            <a:ext cx="7089891" cy="4608512"/>
          </a:xfrm>
        </p:spPr>
        <p:txBody>
          <a:bodyPr/>
          <a:lstStyle/>
          <a:p>
            <a:r>
              <a:rPr lang="en-AU" dirty="0"/>
              <a:t>Dental arch</a:t>
            </a:r>
          </a:p>
          <a:p>
            <a:pPr marL="285750" indent="-285750">
              <a:buFont typeface="Arial" panose="020B0604020202020204" pitchFamily="34" charset="0"/>
              <a:buChar char="•"/>
            </a:pPr>
            <a:r>
              <a:rPr lang="en-AU" dirty="0"/>
              <a:t>The dental arches describe the upper and lower jaws</a:t>
            </a:r>
          </a:p>
          <a:p>
            <a:pPr marL="645750" lvl="2" indent="-285750"/>
            <a:r>
              <a:rPr lang="en-AU" dirty="0"/>
              <a:t>Upper arch/jaw -&gt; the maxilla and maxillary dentition</a:t>
            </a:r>
          </a:p>
          <a:p>
            <a:pPr marL="645750" lvl="2" indent="-285750"/>
            <a:r>
              <a:rPr lang="en-AU" dirty="0"/>
              <a:t>Lower arch/jaw -&gt; the mandible and mandibular dentition</a:t>
            </a:r>
          </a:p>
          <a:p>
            <a:endParaRPr lang="en-AU" dirty="0"/>
          </a:p>
          <a:p>
            <a:r>
              <a:rPr lang="en-AU" dirty="0"/>
              <a:t>Dental quadrants</a:t>
            </a:r>
          </a:p>
          <a:p>
            <a:pPr marL="285750" indent="-285750">
              <a:buFont typeface="Arial" panose="020B0604020202020204" pitchFamily="34" charset="0"/>
              <a:buChar char="•"/>
            </a:pPr>
            <a:r>
              <a:rPr lang="en-AU" dirty="0"/>
              <a:t>Remember, the quadrants is a descriptive terminology to identify the location of specific dentition</a:t>
            </a:r>
          </a:p>
          <a:p>
            <a:pPr marL="645750" lvl="2" indent="-285750"/>
            <a:r>
              <a:rPr lang="en-AU" dirty="0"/>
              <a:t>Quadrant 1 (upper left on the patient, patient’s upper right)</a:t>
            </a:r>
          </a:p>
          <a:p>
            <a:pPr marL="645750" lvl="2" indent="-285750"/>
            <a:r>
              <a:rPr lang="en-AU" dirty="0"/>
              <a:t>Quadrant 2 (upper right on the patient, patient’s upper left)</a:t>
            </a:r>
          </a:p>
          <a:p>
            <a:pPr marL="645750" lvl="2" indent="-285750"/>
            <a:r>
              <a:rPr lang="en-AU" dirty="0"/>
              <a:t>Quadrant 3 (lower right on the patient, patient’s lower left)</a:t>
            </a:r>
          </a:p>
          <a:p>
            <a:pPr marL="645750" lvl="2" indent="-285750"/>
            <a:r>
              <a:rPr lang="en-AU" dirty="0"/>
              <a:t>Quadrant 4 (lower left on the patient, patient’s lower right)</a:t>
            </a:r>
          </a:p>
          <a:p>
            <a:pPr marL="645750" lvl="2" indent="-285750"/>
            <a:endParaRPr lang="en-AU" dirty="0"/>
          </a:p>
        </p:txBody>
      </p:sp>
      <p:sp>
        <p:nvSpPr>
          <p:cNvPr id="3" name="Title 2">
            <a:extLst>
              <a:ext uri="{FF2B5EF4-FFF2-40B4-BE49-F238E27FC236}">
                <a16:creationId xmlns:a16="http://schemas.microsoft.com/office/drawing/2014/main" id="{6477E5CF-9136-A3CD-488E-CDD3035F4DE0}"/>
              </a:ext>
            </a:extLst>
          </p:cNvPr>
          <p:cNvSpPr>
            <a:spLocks noGrp="1"/>
          </p:cNvSpPr>
          <p:nvPr>
            <p:ph type="title"/>
          </p:nvPr>
        </p:nvSpPr>
        <p:spPr/>
        <p:txBody>
          <a:bodyPr/>
          <a:lstStyle/>
          <a:p>
            <a:r>
              <a:rPr lang="en-AU" dirty="0"/>
              <a:t>The dentition</a:t>
            </a:r>
          </a:p>
        </p:txBody>
      </p:sp>
      <p:sp>
        <p:nvSpPr>
          <p:cNvPr id="4" name="Text Placeholder 3">
            <a:extLst>
              <a:ext uri="{FF2B5EF4-FFF2-40B4-BE49-F238E27FC236}">
                <a16:creationId xmlns:a16="http://schemas.microsoft.com/office/drawing/2014/main" id="{9EE2DE6A-5550-03E8-1611-FD16238B5F10}"/>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12FEC00F-0006-8BA9-7A15-3C641E877896}"/>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D19E5EA7-0C53-9916-ACCF-E81335FBD9D7}"/>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
        <p:nvSpPr>
          <p:cNvPr id="7" name="Date Placeholder 6">
            <a:extLst>
              <a:ext uri="{FF2B5EF4-FFF2-40B4-BE49-F238E27FC236}">
                <a16:creationId xmlns:a16="http://schemas.microsoft.com/office/drawing/2014/main" id="{E579A932-A4A8-B21F-BF20-761B22A5AF4F}"/>
              </a:ext>
            </a:extLst>
          </p:cNvPr>
          <p:cNvSpPr>
            <a:spLocks noGrp="1"/>
          </p:cNvSpPr>
          <p:nvPr>
            <p:ph type="dt" sz="half" idx="2"/>
          </p:nvPr>
        </p:nvSpPr>
        <p:spPr/>
        <p:txBody>
          <a:bodyPr/>
          <a:lstStyle/>
          <a:p>
            <a:r>
              <a:rPr lang="en-US"/>
              <a:t>[Entity Name]</a:t>
            </a:r>
            <a:endParaRPr lang="en-AU" dirty="0"/>
          </a:p>
        </p:txBody>
      </p:sp>
      <p:pic>
        <p:nvPicPr>
          <p:cNvPr id="8" name="Picture 4" descr="Unit Circle - Wyzant Lessons">
            <a:extLst>
              <a:ext uri="{FF2B5EF4-FFF2-40B4-BE49-F238E27FC236}">
                <a16:creationId xmlns:a16="http://schemas.microsoft.com/office/drawing/2014/main" id="{F2F9FE95-BA5D-15B1-DE03-54819B4EF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0454" y="636405"/>
            <a:ext cx="3289300" cy="24765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Dental Image Therapy Centres">
            <a:extLst>
              <a:ext uri="{FF2B5EF4-FFF2-40B4-BE49-F238E27FC236}">
                <a16:creationId xmlns:a16="http://schemas.microsoft.com/office/drawing/2014/main" id="{A6AFE133-4D0E-C89F-0342-E8FEC57CAB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841"/>
          <a:stretch>
            <a:fillRect/>
          </a:stretch>
        </p:blipFill>
        <p:spPr bwMode="auto">
          <a:xfrm>
            <a:off x="8400256" y="3429000"/>
            <a:ext cx="3791744" cy="3394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571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89B761-A0FA-3897-D910-02E068116524}"/>
              </a:ext>
            </a:extLst>
          </p:cNvPr>
          <p:cNvSpPr>
            <a:spLocks noGrp="1"/>
          </p:cNvSpPr>
          <p:nvPr>
            <p:ph sz="quarter" idx="10"/>
          </p:nvPr>
        </p:nvSpPr>
        <p:spPr/>
        <p:txBody>
          <a:bodyPr/>
          <a:lstStyle/>
          <a:p>
            <a:endParaRPr lang="en-AU"/>
          </a:p>
        </p:txBody>
      </p:sp>
      <p:sp>
        <p:nvSpPr>
          <p:cNvPr id="3" name="Title 2">
            <a:extLst>
              <a:ext uri="{FF2B5EF4-FFF2-40B4-BE49-F238E27FC236}">
                <a16:creationId xmlns:a16="http://schemas.microsoft.com/office/drawing/2014/main" id="{721412FE-2B2D-E1F6-0477-4E5911B3D136}"/>
              </a:ext>
            </a:extLst>
          </p:cNvPr>
          <p:cNvSpPr>
            <a:spLocks noGrp="1"/>
          </p:cNvSpPr>
          <p:nvPr>
            <p:ph type="title"/>
          </p:nvPr>
        </p:nvSpPr>
        <p:spPr/>
        <p:txBody>
          <a:bodyPr/>
          <a:lstStyle/>
          <a:p>
            <a:endParaRPr lang="en-AU"/>
          </a:p>
        </p:txBody>
      </p:sp>
      <p:sp>
        <p:nvSpPr>
          <p:cNvPr id="4" name="Text Placeholder 3">
            <a:extLst>
              <a:ext uri="{FF2B5EF4-FFF2-40B4-BE49-F238E27FC236}">
                <a16:creationId xmlns:a16="http://schemas.microsoft.com/office/drawing/2014/main" id="{F2205058-9EB3-0989-2FFC-E1A12F71B9BA}"/>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C5E905A7-758A-2D43-DA66-B313BE5C6270}"/>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73B6F46D-290A-D891-5A44-F56C4E156D1A}"/>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
        <p:nvSpPr>
          <p:cNvPr id="7" name="Date Placeholder 6">
            <a:extLst>
              <a:ext uri="{FF2B5EF4-FFF2-40B4-BE49-F238E27FC236}">
                <a16:creationId xmlns:a16="http://schemas.microsoft.com/office/drawing/2014/main" id="{ADD10884-D816-0D6B-7979-6837C553709D}"/>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271BD14C-B885-4435-9F65-6950CC75E94B}"/>
              </a:ext>
            </a:extLst>
          </p:cNvPr>
          <p:cNvPicPr/>
          <p:nvPr/>
        </p:nvPicPr>
        <p:blipFill>
          <a:blip r:embed="rId2" cstate="print"/>
          <a:stretch>
            <a:fillRect/>
          </a:stretch>
        </p:blipFill>
        <p:spPr>
          <a:xfrm>
            <a:off x="3479381" y="2182192"/>
            <a:ext cx="5227003" cy="3505199"/>
          </a:xfrm>
          <a:prstGeom prst="rect">
            <a:avLst/>
          </a:prstGeom>
        </p:spPr>
      </p:pic>
    </p:spTree>
    <p:extLst>
      <p:ext uri="{BB962C8B-B14F-4D97-AF65-F5344CB8AC3E}">
        <p14:creationId xmlns:p14="http://schemas.microsoft.com/office/powerpoint/2010/main" val="158734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B076C9-ABA4-BF91-20A2-48353A9A0CFF}"/>
              </a:ext>
            </a:extLst>
          </p:cNvPr>
          <p:cNvSpPr>
            <a:spLocks noGrp="1"/>
          </p:cNvSpPr>
          <p:nvPr>
            <p:ph sz="quarter" idx="10"/>
          </p:nvPr>
        </p:nvSpPr>
        <p:spPr>
          <a:xfrm>
            <a:off x="695326" y="1700213"/>
            <a:ext cx="5976738" cy="4608512"/>
          </a:xfrm>
        </p:spPr>
        <p:txBody>
          <a:bodyPr/>
          <a:lstStyle/>
          <a:p>
            <a:r>
              <a:rPr lang="en-AU" dirty="0"/>
              <a:t>The main functions of the dentition are</a:t>
            </a:r>
          </a:p>
          <a:p>
            <a:pPr marL="285750" indent="-285750">
              <a:buFont typeface="Arial" panose="020B0604020202020204" pitchFamily="34" charset="0"/>
              <a:buChar char="•"/>
            </a:pPr>
            <a:r>
              <a:rPr lang="en-AU" dirty="0"/>
              <a:t>Protect the oral cavity*</a:t>
            </a:r>
          </a:p>
          <a:p>
            <a:pPr marL="285750" indent="-285750">
              <a:buFont typeface="Arial" panose="020B0604020202020204" pitchFamily="34" charset="0"/>
              <a:buChar char="•"/>
            </a:pPr>
            <a:r>
              <a:rPr lang="en-AU" dirty="0"/>
              <a:t>Mastication of foods</a:t>
            </a:r>
          </a:p>
          <a:p>
            <a:pPr marL="285750" indent="-285750">
              <a:buFont typeface="Arial" panose="020B0604020202020204" pitchFamily="34" charset="0"/>
              <a:buChar char="•"/>
            </a:pPr>
            <a:r>
              <a:rPr lang="en-AU" dirty="0"/>
              <a:t>Assist the chemical digestive pathway by breaking down food physically</a:t>
            </a:r>
          </a:p>
          <a:p>
            <a:pPr marL="285750" indent="-285750">
              <a:buFont typeface="Arial" panose="020B0604020202020204" pitchFamily="34" charset="0"/>
              <a:buChar char="•"/>
            </a:pPr>
            <a:r>
              <a:rPr lang="en-AU" dirty="0"/>
              <a:t>Speech and phonetics</a:t>
            </a:r>
          </a:p>
          <a:p>
            <a:endParaRPr lang="en-AU" dirty="0"/>
          </a:p>
          <a:p>
            <a:r>
              <a:rPr lang="en-AU" dirty="0"/>
              <a:t>Subjective, the dentition also contribute to the aesthetic appearance</a:t>
            </a:r>
          </a:p>
        </p:txBody>
      </p:sp>
      <p:sp>
        <p:nvSpPr>
          <p:cNvPr id="3" name="Title 2">
            <a:extLst>
              <a:ext uri="{FF2B5EF4-FFF2-40B4-BE49-F238E27FC236}">
                <a16:creationId xmlns:a16="http://schemas.microsoft.com/office/drawing/2014/main" id="{1B34492C-B288-5710-97AF-1CD84CB41F57}"/>
              </a:ext>
            </a:extLst>
          </p:cNvPr>
          <p:cNvSpPr>
            <a:spLocks noGrp="1"/>
          </p:cNvSpPr>
          <p:nvPr>
            <p:ph type="title"/>
          </p:nvPr>
        </p:nvSpPr>
        <p:spPr/>
        <p:txBody>
          <a:bodyPr/>
          <a:lstStyle/>
          <a:p>
            <a:r>
              <a:rPr lang="en-AU" dirty="0"/>
              <a:t>Functions of the dentition</a:t>
            </a:r>
          </a:p>
        </p:txBody>
      </p:sp>
      <p:sp>
        <p:nvSpPr>
          <p:cNvPr id="4" name="Text Placeholder 3">
            <a:extLst>
              <a:ext uri="{FF2B5EF4-FFF2-40B4-BE49-F238E27FC236}">
                <a16:creationId xmlns:a16="http://schemas.microsoft.com/office/drawing/2014/main" id="{A5B60974-DB21-22D7-9517-140A3536DA86}"/>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9B097E37-33C9-0DC1-FAE0-4FC155F1DB5D}"/>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19DEBD83-4398-1370-2DA1-F027103A32B3}"/>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
        <p:nvSpPr>
          <p:cNvPr id="7" name="Date Placeholder 6">
            <a:extLst>
              <a:ext uri="{FF2B5EF4-FFF2-40B4-BE49-F238E27FC236}">
                <a16:creationId xmlns:a16="http://schemas.microsoft.com/office/drawing/2014/main" id="{AF4A33F9-8E89-BACB-AFA3-DEF43B6AFDE2}"/>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62385665-87B0-8FAB-3672-495327D0B9C8}"/>
              </a:ext>
            </a:extLst>
          </p:cNvPr>
          <p:cNvPicPr/>
          <p:nvPr/>
        </p:nvPicPr>
        <p:blipFill>
          <a:blip r:embed="rId2" cstate="print"/>
          <a:stretch>
            <a:fillRect/>
          </a:stretch>
        </p:blipFill>
        <p:spPr>
          <a:xfrm>
            <a:off x="6541892" y="3113533"/>
            <a:ext cx="5687567" cy="3744467"/>
          </a:xfrm>
          <a:prstGeom prst="rect">
            <a:avLst/>
          </a:prstGeom>
        </p:spPr>
      </p:pic>
    </p:spTree>
    <p:extLst>
      <p:ext uri="{BB962C8B-B14F-4D97-AF65-F5344CB8AC3E}">
        <p14:creationId xmlns:p14="http://schemas.microsoft.com/office/powerpoint/2010/main" val="177173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826D0E-8B77-6A9E-9DFF-D9F7A0F147AB}"/>
              </a:ext>
            </a:extLst>
          </p:cNvPr>
          <p:cNvSpPr>
            <a:spLocks noGrp="1"/>
          </p:cNvSpPr>
          <p:nvPr>
            <p:ph sz="quarter" idx="10"/>
          </p:nvPr>
        </p:nvSpPr>
        <p:spPr>
          <a:xfrm>
            <a:off x="695326" y="1700213"/>
            <a:ext cx="10657258" cy="4608512"/>
          </a:xfrm>
        </p:spPr>
        <p:txBody>
          <a:bodyPr/>
          <a:lstStyle/>
          <a:p>
            <a:r>
              <a:rPr lang="en-AU" dirty="0"/>
              <a:t>The tooth, as a </a:t>
            </a:r>
            <a:r>
              <a:rPr lang="en-AU" b="1" u="sng" dirty="0"/>
              <a:t>functional unit</a:t>
            </a:r>
            <a:r>
              <a:rPr lang="en-AU" dirty="0"/>
              <a:t>, is described by the tooth itself and its supporting periodontium</a:t>
            </a:r>
          </a:p>
          <a:p>
            <a:pPr marL="285750" indent="-285750">
              <a:buFont typeface="Arial" panose="020B0604020202020204" pitchFamily="34" charset="0"/>
              <a:buChar char="•"/>
            </a:pPr>
            <a:r>
              <a:rPr lang="en-AU" dirty="0"/>
              <a:t>The tooth can be described by:</a:t>
            </a:r>
          </a:p>
          <a:p>
            <a:pPr marL="645750" lvl="2" indent="-285750"/>
            <a:r>
              <a:rPr lang="en-AU" dirty="0"/>
              <a:t>The crown describes the head of the tooth</a:t>
            </a:r>
          </a:p>
          <a:p>
            <a:pPr marL="825750" lvl="3" indent="-285750"/>
            <a:r>
              <a:rPr lang="en-AU" dirty="0"/>
              <a:t>Layers: enamel, dentine, pulp (pulp chamber)</a:t>
            </a:r>
          </a:p>
          <a:p>
            <a:pPr marL="645750" lvl="2" indent="-285750"/>
            <a:r>
              <a:rPr lang="en-AU" dirty="0"/>
              <a:t>The root describes the anchorage of the tooth</a:t>
            </a:r>
          </a:p>
          <a:p>
            <a:pPr marL="825750" lvl="3" indent="-285750"/>
            <a:r>
              <a:rPr lang="en-AU" dirty="0"/>
              <a:t>Layers: cementum, dentine, pulp (root canal)</a:t>
            </a:r>
          </a:p>
          <a:p>
            <a:pPr marL="645750" lvl="2" indent="-285750"/>
            <a:r>
              <a:rPr lang="en-AU" dirty="0"/>
              <a:t>The crown and root are demarcated by the cervical line at the</a:t>
            </a:r>
          </a:p>
          <a:p>
            <a:pPr lvl="2" indent="0">
              <a:buNone/>
            </a:pPr>
            <a:r>
              <a:rPr lang="en-AU" dirty="0"/>
              <a:t>cementoenamel junction</a:t>
            </a:r>
          </a:p>
          <a:p>
            <a:pPr marL="285750" indent="-285750">
              <a:buFont typeface="Arial" panose="020B0604020202020204" pitchFamily="34" charset="0"/>
              <a:buChar char="•"/>
            </a:pPr>
            <a:r>
              <a:rPr lang="en-AU" dirty="0"/>
              <a:t>The periodontium can be described by:</a:t>
            </a:r>
          </a:p>
          <a:p>
            <a:pPr marL="645750" lvl="2" indent="-285750"/>
            <a:r>
              <a:rPr lang="en-AU" dirty="0"/>
              <a:t>Soft tissue</a:t>
            </a:r>
          </a:p>
          <a:p>
            <a:pPr marL="825750" lvl="3" indent="-285750"/>
            <a:r>
              <a:rPr lang="en-AU" dirty="0"/>
              <a:t>Gingiva, periodontal ligament</a:t>
            </a:r>
          </a:p>
          <a:p>
            <a:pPr marL="645750" lvl="2" indent="-285750"/>
            <a:r>
              <a:rPr lang="en-AU" dirty="0"/>
              <a:t>Hard tissue</a:t>
            </a:r>
          </a:p>
          <a:p>
            <a:pPr marL="825750" lvl="3" indent="-285750"/>
            <a:r>
              <a:rPr lang="en-AU" dirty="0"/>
              <a:t>Cementum, alveolar bone</a:t>
            </a:r>
          </a:p>
        </p:txBody>
      </p:sp>
      <p:sp>
        <p:nvSpPr>
          <p:cNvPr id="3" name="Title 2">
            <a:extLst>
              <a:ext uri="{FF2B5EF4-FFF2-40B4-BE49-F238E27FC236}">
                <a16:creationId xmlns:a16="http://schemas.microsoft.com/office/drawing/2014/main" id="{B4A75B87-96D8-1E6D-242D-7B5A706D0B1D}"/>
              </a:ext>
            </a:extLst>
          </p:cNvPr>
          <p:cNvSpPr>
            <a:spLocks noGrp="1"/>
          </p:cNvSpPr>
          <p:nvPr>
            <p:ph type="title"/>
          </p:nvPr>
        </p:nvSpPr>
        <p:spPr/>
        <p:txBody>
          <a:bodyPr/>
          <a:lstStyle/>
          <a:p>
            <a:r>
              <a:rPr lang="en-AU" dirty="0"/>
              <a:t>Anatomy of the dentition</a:t>
            </a:r>
          </a:p>
        </p:txBody>
      </p:sp>
      <p:sp>
        <p:nvSpPr>
          <p:cNvPr id="4" name="Text Placeholder 3">
            <a:extLst>
              <a:ext uri="{FF2B5EF4-FFF2-40B4-BE49-F238E27FC236}">
                <a16:creationId xmlns:a16="http://schemas.microsoft.com/office/drawing/2014/main" id="{FD0B32EF-C01F-C7D6-AE48-5410BC6F8577}"/>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32CD12C0-CF41-33D1-DD7A-7615F56FE967}"/>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B5BAB380-6CD7-F19C-DC69-399CCDAB785A}"/>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7" name="Date Placeholder 6">
            <a:extLst>
              <a:ext uri="{FF2B5EF4-FFF2-40B4-BE49-F238E27FC236}">
                <a16:creationId xmlns:a16="http://schemas.microsoft.com/office/drawing/2014/main" id="{219D41DB-432B-B4B9-17AD-7633B29BC572}"/>
              </a:ext>
            </a:extLst>
          </p:cNvPr>
          <p:cNvSpPr>
            <a:spLocks noGrp="1"/>
          </p:cNvSpPr>
          <p:nvPr>
            <p:ph type="dt" sz="half" idx="2"/>
          </p:nvPr>
        </p:nvSpPr>
        <p:spPr/>
        <p:txBody>
          <a:bodyPr/>
          <a:lstStyle/>
          <a:p>
            <a:r>
              <a:rPr lang="en-US"/>
              <a:t>[Entity Name]</a:t>
            </a:r>
            <a:endParaRPr lang="en-AU" dirty="0"/>
          </a:p>
        </p:txBody>
      </p:sp>
      <p:pic>
        <p:nvPicPr>
          <p:cNvPr id="10" name="object 6">
            <a:extLst>
              <a:ext uri="{FF2B5EF4-FFF2-40B4-BE49-F238E27FC236}">
                <a16:creationId xmlns:a16="http://schemas.microsoft.com/office/drawing/2014/main" id="{1297406E-E126-F9FB-3E79-CEA960055461}"/>
              </a:ext>
            </a:extLst>
          </p:cNvPr>
          <p:cNvPicPr/>
          <p:nvPr/>
        </p:nvPicPr>
        <p:blipFill>
          <a:blip r:embed="rId2" cstate="print"/>
          <a:stretch>
            <a:fillRect/>
          </a:stretch>
        </p:blipFill>
        <p:spPr>
          <a:xfrm>
            <a:off x="7785217" y="3284984"/>
            <a:ext cx="4406783" cy="3577451"/>
          </a:xfrm>
          <a:prstGeom prst="rect">
            <a:avLst/>
          </a:prstGeom>
        </p:spPr>
      </p:pic>
    </p:spTree>
    <p:extLst>
      <p:ext uri="{BB962C8B-B14F-4D97-AF65-F5344CB8AC3E}">
        <p14:creationId xmlns:p14="http://schemas.microsoft.com/office/powerpoint/2010/main" val="145474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A3BF7-0536-C1DD-F2F2-0D9E32B3F6D5}"/>
              </a:ext>
            </a:extLst>
          </p:cNvPr>
          <p:cNvSpPr>
            <a:spLocks noGrp="1"/>
          </p:cNvSpPr>
          <p:nvPr>
            <p:ph sz="quarter" idx="10"/>
          </p:nvPr>
        </p:nvSpPr>
        <p:spPr>
          <a:xfrm>
            <a:off x="695326" y="1700213"/>
            <a:ext cx="6809771" cy="4608512"/>
          </a:xfrm>
        </p:spPr>
        <p:txBody>
          <a:bodyPr/>
          <a:lstStyle/>
          <a:p>
            <a:r>
              <a:rPr lang="en-AU" dirty="0"/>
              <a:t>Enamel: mineralised, protective outer layer of tooth</a:t>
            </a:r>
          </a:p>
          <a:p>
            <a:pPr marL="285750" indent="-285750">
              <a:buFont typeface="Arial" panose="020B0604020202020204" pitchFamily="34" charset="0"/>
              <a:buChar char="•"/>
            </a:pPr>
            <a:r>
              <a:rPr lang="en-AU" dirty="0"/>
              <a:t>Highly mineralised to provide structural integrity</a:t>
            </a:r>
          </a:p>
          <a:p>
            <a:pPr marL="285750" indent="-285750">
              <a:buFont typeface="Arial" panose="020B0604020202020204" pitchFamily="34" charset="0"/>
              <a:buChar char="•"/>
            </a:pPr>
            <a:r>
              <a:rPr lang="en-AU" dirty="0"/>
              <a:t>Demonstrates translucency due to its high level of mineralisation </a:t>
            </a:r>
          </a:p>
          <a:p>
            <a:endParaRPr lang="en-AU" dirty="0"/>
          </a:p>
          <a:p>
            <a:r>
              <a:rPr lang="en-AU" dirty="0"/>
              <a:t>Dentine: heterogenous inner layer of tooth</a:t>
            </a:r>
          </a:p>
          <a:p>
            <a:pPr marL="285750" indent="-285750">
              <a:buFont typeface="Arial" panose="020B0604020202020204" pitchFamily="34" charset="0"/>
              <a:buChar char="•"/>
            </a:pPr>
            <a:r>
              <a:rPr lang="en-AU" dirty="0"/>
              <a:t>Relatively mineralised but also contains higher level of organic tissue and fluids</a:t>
            </a:r>
          </a:p>
          <a:p>
            <a:pPr marL="285750" indent="-285750">
              <a:buFont typeface="Arial" panose="020B0604020202020204" pitchFamily="34" charset="0"/>
              <a:buChar char="•"/>
            </a:pPr>
            <a:r>
              <a:rPr lang="en-AU" dirty="0"/>
              <a:t>Forms the bulk volume of tooth -&gt; it is what makes tooth yellow</a:t>
            </a:r>
          </a:p>
          <a:p>
            <a:endParaRPr lang="en-AU" dirty="0"/>
          </a:p>
          <a:p>
            <a:r>
              <a:rPr lang="en-AU" dirty="0"/>
              <a:t>Pulp: the neurovascular supply in the core centre of tooth</a:t>
            </a:r>
          </a:p>
          <a:p>
            <a:pPr marL="285750" indent="-285750">
              <a:buFont typeface="Arial" panose="020B0604020202020204" pitchFamily="34" charset="0"/>
              <a:buChar char="•"/>
            </a:pPr>
            <a:r>
              <a:rPr lang="en-AU" dirty="0"/>
              <a:t>No mineral content as it is formed by blood vessels, nerves, immune cells, etc</a:t>
            </a:r>
          </a:p>
        </p:txBody>
      </p:sp>
      <p:sp>
        <p:nvSpPr>
          <p:cNvPr id="3" name="Title 2">
            <a:extLst>
              <a:ext uri="{FF2B5EF4-FFF2-40B4-BE49-F238E27FC236}">
                <a16:creationId xmlns:a16="http://schemas.microsoft.com/office/drawing/2014/main" id="{9CC1CCEB-46DA-6C95-6D35-E85D423E1E8E}"/>
              </a:ext>
            </a:extLst>
          </p:cNvPr>
          <p:cNvSpPr>
            <a:spLocks noGrp="1"/>
          </p:cNvSpPr>
          <p:nvPr>
            <p:ph type="title"/>
          </p:nvPr>
        </p:nvSpPr>
        <p:spPr/>
        <p:txBody>
          <a:bodyPr/>
          <a:lstStyle/>
          <a:p>
            <a:r>
              <a:rPr lang="en-AU" dirty="0"/>
              <a:t>Layers of the tooth</a:t>
            </a:r>
          </a:p>
        </p:txBody>
      </p:sp>
      <p:sp>
        <p:nvSpPr>
          <p:cNvPr id="4" name="Text Placeholder 3">
            <a:extLst>
              <a:ext uri="{FF2B5EF4-FFF2-40B4-BE49-F238E27FC236}">
                <a16:creationId xmlns:a16="http://schemas.microsoft.com/office/drawing/2014/main" id="{04EA6212-C700-3010-014B-BA0044648B44}"/>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1F0E07DF-8779-6FC2-5EBE-AA4B11F9F999}"/>
              </a:ext>
            </a:extLst>
          </p:cNvPr>
          <p:cNvSpPr>
            <a:spLocks noGrp="1"/>
          </p:cNvSpPr>
          <p:nvPr>
            <p:ph type="ftr" sz="quarter" idx="17"/>
          </p:nvPr>
        </p:nvSpPr>
        <p:spPr/>
        <p:txBody>
          <a:bodyPr/>
          <a:lstStyle/>
          <a:p>
            <a:r>
              <a:rPr lang="en-AU" dirty="0"/>
              <a:t>[Presentation Title] | [Date]</a:t>
            </a:r>
          </a:p>
        </p:txBody>
      </p:sp>
      <p:sp>
        <p:nvSpPr>
          <p:cNvPr id="6" name="Slide Number Placeholder 5">
            <a:extLst>
              <a:ext uri="{FF2B5EF4-FFF2-40B4-BE49-F238E27FC236}">
                <a16:creationId xmlns:a16="http://schemas.microsoft.com/office/drawing/2014/main" id="{76E0ABAF-D425-6039-26CC-6A8EEEE9E29B}"/>
              </a:ext>
            </a:extLst>
          </p:cNvPr>
          <p:cNvSpPr>
            <a:spLocks noGrp="1"/>
          </p:cNvSpPr>
          <p:nvPr>
            <p:ph type="sldNum" sz="quarter" idx="18"/>
          </p:nvPr>
        </p:nvSpPr>
        <p:spPr/>
        <p:txBody>
          <a:bodyPr/>
          <a:lstStyle/>
          <a:p>
            <a:fld id="{E917DE0E-AFB1-41FD-BC35-27DB61CA125F}" type="slidenum">
              <a:rPr lang="en-AU" smtClean="0"/>
              <a:pPr/>
              <a:t>8</a:t>
            </a:fld>
            <a:endParaRPr lang="en-AU" dirty="0"/>
          </a:p>
        </p:txBody>
      </p:sp>
      <p:sp>
        <p:nvSpPr>
          <p:cNvPr id="7" name="Date Placeholder 6">
            <a:extLst>
              <a:ext uri="{FF2B5EF4-FFF2-40B4-BE49-F238E27FC236}">
                <a16:creationId xmlns:a16="http://schemas.microsoft.com/office/drawing/2014/main" id="{D6E7E562-D656-5AA4-892B-4E65BF1275E4}"/>
              </a:ext>
            </a:extLst>
          </p:cNvPr>
          <p:cNvSpPr>
            <a:spLocks noGrp="1"/>
          </p:cNvSpPr>
          <p:nvPr>
            <p:ph type="dt" sz="half" idx="2"/>
          </p:nvPr>
        </p:nvSpPr>
        <p:spPr/>
        <p:txBody>
          <a:bodyPr/>
          <a:lstStyle/>
          <a:p>
            <a:r>
              <a:rPr lang="en-US"/>
              <a:t>[Entity Name]</a:t>
            </a:r>
            <a:endParaRPr lang="en-AU" dirty="0"/>
          </a:p>
        </p:txBody>
      </p:sp>
      <p:pic>
        <p:nvPicPr>
          <p:cNvPr id="11" name="Picture 10">
            <a:extLst>
              <a:ext uri="{FF2B5EF4-FFF2-40B4-BE49-F238E27FC236}">
                <a16:creationId xmlns:a16="http://schemas.microsoft.com/office/drawing/2014/main" id="{B43C49E3-5ADF-74CD-579B-1FD00865ADE7}"/>
              </a:ext>
            </a:extLst>
          </p:cNvPr>
          <p:cNvPicPr>
            <a:picLocks noChangeAspect="1"/>
          </p:cNvPicPr>
          <p:nvPr/>
        </p:nvPicPr>
        <p:blipFill>
          <a:blip r:embed="rId2">
            <a:extLst>
              <a:ext uri="{28A0092B-C50C-407E-A947-70E740481C1C}">
                <a14:useLocalDpi xmlns:a14="http://schemas.microsoft.com/office/drawing/2010/main" val="0"/>
              </a:ext>
            </a:extLst>
          </a:blip>
          <a:srcRect r="53042"/>
          <a:stretch>
            <a:fillRect/>
          </a:stretch>
        </p:blipFill>
        <p:spPr>
          <a:xfrm>
            <a:off x="7492977" y="549275"/>
            <a:ext cx="4704917" cy="2533650"/>
          </a:xfrm>
          <a:prstGeom prst="rect">
            <a:avLst/>
          </a:prstGeom>
        </p:spPr>
      </p:pic>
      <p:pic>
        <p:nvPicPr>
          <p:cNvPr id="12" name="Picture 11">
            <a:extLst>
              <a:ext uri="{FF2B5EF4-FFF2-40B4-BE49-F238E27FC236}">
                <a16:creationId xmlns:a16="http://schemas.microsoft.com/office/drawing/2014/main" id="{E6AA04C2-6E77-B961-61E1-B59FDE41B192}"/>
              </a:ext>
            </a:extLst>
          </p:cNvPr>
          <p:cNvPicPr>
            <a:picLocks noChangeAspect="1"/>
          </p:cNvPicPr>
          <p:nvPr/>
        </p:nvPicPr>
        <p:blipFill>
          <a:blip r:embed="rId2">
            <a:extLst>
              <a:ext uri="{28A0092B-C50C-407E-A947-70E740481C1C}">
                <a14:useLocalDpi xmlns:a14="http://schemas.microsoft.com/office/drawing/2010/main" val="0"/>
              </a:ext>
            </a:extLst>
          </a:blip>
          <a:srcRect l="53042"/>
          <a:stretch>
            <a:fillRect/>
          </a:stretch>
        </p:blipFill>
        <p:spPr>
          <a:xfrm>
            <a:off x="7505097" y="4324350"/>
            <a:ext cx="4704917" cy="2533650"/>
          </a:xfrm>
          <a:prstGeom prst="rect">
            <a:avLst/>
          </a:prstGeom>
        </p:spPr>
      </p:pic>
      <p:sp>
        <p:nvSpPr>
          <p:cNvPr id="13" name="TextBox 12">
            <a:extLst>
              <a:ext uri="{FF2B5EF4-FFF2-40B4-BE49-F238E27FC236}">
                <a16:creationId xmlns:a16="http://schemas.microsoft.com/office/drawing/2014/main" id="{FEDC33E3-13FC-6E9A-FE80-39CE26C69C17}"/>
              </a:ext>
            </a:extLst>
          </p:cNvPr>
          <p:cNvSpPr txBox="1"/>
          <p:nvPr/>
        </p:nvSpPr>
        <p:spPr>
          <a:xfrm>
            <a:off x="8157890" y="3429000"/>
            <a:ext cx="3399329" cy="369332"/>
          </a:xfrm>
          <a:prstGeom prst="rect">
            <a:avLst/>
          </a:prstGeom>
          <a:noFill/>
        </p:spPr>
        <p:txBody>
          <a:bodyPr wrap="none" rtlCol="0">
            <a:spAutoFit/>
          </a:bodyPr>
          <a:lstStyle/>
          <a:p>
            <a:r>
              <a:rPr lang="en-AU" dirty="0"/>
              <a:t>Known as halo effect of enamel</a:t>
            </a:r>
          </a:p>
        </p:txBody>
      </p:sp>
    </p:spTree>
    <p:extLst>
      <p:ext uri="{BB962C8B-B14F-4D97-AF65-F5344CB8AC3E}">
        <p14:creationId xmlns:p14="http://schemas.microsoft.com/office/powerpoint/2010/main" val="4003024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8FD707-4075-F343-747F-F5A8F98C5887}"/>
              </a:ext>
            </a:extLst>
          </p:cNvPr>
          <p:cNvSpPr>
            <a:spLocks noGrp="1"/>
          </p:cNvSpPr>
          <p:nvPr>
            <p:ph sz="quarter" idx="10"/>
          </p:nvPr>
        </p:nvSpPr>
        <p:spPr/>
        <p:txBody>
          <a:bodyPr>
            <a:normAutofit fontScale="92500" lnSpcReduction="10000"/>
          </a:bodyPr>
          <a:lstStyle/>
          <a:p>
            <a:r>
              <a:rPr lang="en-AU" dirty="0"/>
              <a:t>Anterior teeth (front)</a:t>
            </a:r>
          </a:p>
          <a:p>
            <a:pPr marL="285750" indent="-285750">
              <a:buFont typeface="Arial" panose="020B0604020202020204" pitchFamily="34" charset="0"/>
              <a:buChar char="•"/>
            </a:pPr>
            <a:r>
              <a:rPr lang="en-AU" dirty="0"/>
              <a:t>Incisors</a:t>
            </a:r>
          </a:p>
          <a:p>
            <a:pPr marL="645750" lvl="2" indent="-285750"/>
            <a:r>
              <a:rPr lang="en-AU" dirty="0"/>
              <a:t>Central</a:t>
            </a:r>
          </a:p>
          <a:p>
            <a:pPr marL="645750" lvl="2" indent="-285750"/>
            <a:r>
              <a:rPr lang="en-AU" dirty="0"/>
              <a:t>Lateral</a:t>
            </a:r>
          </a:p>
          <a:p>
            <a:pPr marL="285750" indent="-285750">
              <a:buFont typeface="Arial" panose="020B0604020202020204" pitchFamily="34" charset="0"/>
              <a:buChar char="•"/>
            </a:pPr>
            <a:r>
              <a:rPr lang="en-AU" dirty="0"/>
              <a:t>Canines</a:t>
            </a:r>
          </a:p>
          <a:p>
            <a:endParaRPr lang="en-AU" dirty="0"/>
          </a:p>
          <a:p>
            <a:r>
              <a:rPr lang="en-AU" dirty="0"/>
              <a:t>Posterior teeth (back)</a:t>
            </a:r>
          </a:p>
          <a:p>
            <a:pPr marL="285750" indent="-285750">
              <a:buFont typeface="Arial" panose="020B0604020202020204" pitchFamily="34" charset="0"/>
              <a:buChar char="•"/>
            </a:pPr>
            <a:r>
              <a:rPr lang="en-AU" dirty="0"/>
              <a:t>Premolars</a:t>
            </a:r>
          </a:p>
          <a:p>
            <a:pPr marL="645750" lvl="2" indent="-285750"/>
            <a:r>
              <a:rPr lang="en-AU" dirty="0"/>
              <a:t>First</a:t>
            </a:r>
          </a:p>
          <a:p>
            <a:pPr marL="645750" lvl="2" indent="-285750"/>
            <a:r>
              <a:rPr lang="en-AU" dirty="0"/>
              <a:t>Second</a:t>
            </a:r>
          </a:p>
          <a:p>
            <a:pPr marL="285750" indent="-285750">
              <a:buFont typeface="Arial" panose="020B0604020202020204" pitchFamily="34" charset="0"/>
              <a:buChar char="•"/>
            </a:pPr>
            <a:r>
              <a:rPr lang="en-AU" dirty="0"/>
              <a:t>Molars</a:t>
            </a:r>
          </a:p>
          <a:p>
            <a:pPr marL="645750" lvl="2" indent="-285750"/>
            <a:r>
              <a:rPr lang="en-AU" dirty="0"/>
              <a:t>First</a:t>
            </a:r>
          </a:p>
          <a:p>
            <a:pPr marL="645750" lvl="2" indent="-285750"/>
            <a:r>
              <a:rPr lang="en-AU" dirty="0"/>
              <a:t>Second</a:t>
            </a:r>
          </a:p>
          <a:p>
            <a:pPr marL="645750" lvl="2" indent="-285750"/>
            <a:r>
              <a:rPr lang="en-AU" dirty="0"/>
              <a:t>Third</a:t>
            </a:r>
          </a:p>
        </p:txBody>
      </p:sp>
      <p:sp>
        <p:nvSpPr>
          <p:cNvPr id="3" name="Title 2">
            <a:extLst>
              <a:ext uri="{FF2B5EF4-FFF2-40B4-BE49-F238E27FC236}">
                <a16:creationId xmlns:a16="http://schemas.microsoft.com/office/drawing/2014/main" id="{0422F358-3442-6C6D-EA08-AEE2D8D1CEA3}"/>
              </a:ext>
            </a:extLst>
          </p:cNvPr>
          <p:cNvSpPr>
            <a:spLocks noGrp="1"/>
          </p:cNvSpPr>
          <p:nvPr>
            <p:ph type="title"/>
          </p:nvPr>
        </p:nvSpPr>
        <p:spPr/>
        <p:txBody>
          <a:bodyPr/>
          <a:lstStyle/>
          <a:p>
            <a:r>
              <a:rPr lang="en-AU" dirty="0"/>
              <a:t>Types of teeth</a:t>
            </a:r>
          </a:p>
        </p:txBody>
      </p:sp>
      <p:sp>
        <p:nvSpPr>
          <p:cNvPr id="4" name="Text Placeholder 3">
            <a:extLst>
              <a:ext uri="{FF2B5EF4-FFF2-40B4-BE49-F238E27FC236}">
                <a16:creationId xmlns:a16="http://schemas.microsoft.com/office/drawing/2014/main" id="{FB3D7C09-B94C-FCC2-3B5E-868DE144B720}"/>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398BB636-419A-7221-D2F2-823650B12191}"/>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6848B5BD-F678-21D0-5922-989179188E31}"/>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7" name="Date Placeholder 6">
            <a:extLst>
              <a:ext uri="{FF2B5EF4-FFF2-40B4-BE49-F238E27FC236}">
                <a16:creationId xmlns:a16="http://schemas.microsoft.com/office/drawing/2014/main" id="{08B82260-629C-EE77-814D-A8FFA8FDEF37}"/>
              </a:ext>
            </a:extLst>
          </p:cNvPr>
          <p:cNvSpPr>
            <a:spLocks noGrp="1"/>
          </p:cNvSpPr>
          <p:nvPr>
            <p:ph type="dt" sz="half" idx="2"/>
          </p:nvPr>
        </p:nvSpPr>
        <p:spPr/>
        <p:txBody>
          <a:bodyPr/>
          <a:lstStyle/>
          <a:p>
            <a:r>
              <a:rPr lang="en-US"/>
              <a:t>[Entity Name]</a:t>
            </a:r>
            <a:endParaRPr lang="en-AU" dirty="0"/>
          </a:p>
        </p:txBody>
      </p:sp>
      <p:pic>
        <p:nvPicPr>
          <p:cNvPr id="8" name="object 5">
            <a:extLst>
              <a:ext uri="{FF2B5EF4-FFF2-40B4-BE49-F238E27FC236}">
                <a16:creationId xmlns:a16="http://schemas.microsoft.com/office/drawing/2014/main" id="{BEC0FCE9-ECD9-8366-AFF6-03E6BEE49F4A}"/>
              </a:ext>
            </a:extLst>
          </p:cNvPr>
          <p:cNvPicPr/>
          <p:nvPr/>
        </p:nvPicPr>
        <p:blipFill>
          <a:blip r:embed="rId2" cstate="print"/>
          <a:stretch>
            <a:fillRect/>
          </a:stretch>
        </p:blipFill>
        <p:spPr>
          <a:xfrm>
            <a:off x="7031408" y="692696"/>
            <a:ext cx="2590799" cy="4118967"/>
          </a:xfrm>
          <a:prstGeom prst="rect">
            <a:avLst/>
          </a:prstGeom>
        </p:spPr>
      </p:pic>
      <p:pic>
        <p:nvPicPr>
          <p:cNvPr id="9" name="object 6">
            <a:extLst>
              <a:ext uri="{FF2B5EF4-FFF2-40B4-BE49-F238E27FC236}">
                <a16:creationId xmlns:a16="http://schemas.microsoft.com/office/drawing/2014/main" id="{77AD7037-0B82-1135-27EF-8A2CED115913}"/>
              </a:ext>
            </a:extLst>
          </p:cNvPr>
          <p:cNvPicPr/>
          <p:nvPr/>
        </p:nvPicPr>
        <p:blipFill>
          <a:blip r:embed="rId3" cstate="print"/>
          <a:stretch>
            <a:fillRect/>
          </a:stretch>
        </p:blipFill>
        <p:spPr>
          <a:xfrm>
            <a:off x="9618196" y="676654"/>
            <a:ext cx="2571039" cy="4113694"/>
          </a:xfrm>
          <a:prstGeom prst="rect">
            <a:avLst/>
          </a:prstGeom>
        </p:spPr>
      </p:pic>
      <p:pic>
        <p:nvPicPr>
          <p:cNvPr id="10" name="Picture 9">
            <a:extLst>
              <a:ext uri="{FF2B5EF4-FFF2-40B4-BE49-F238E27FC236}">
                <a16:creationId xmlns:a16="http://schemas.microsoft.com/office/drawing/2014/main" id="{6100CE6B-1E05-176B-57F3-422B6FBC9C45}"/>
              </a:ext>
            </a:extLst>
          </p:cNvPr>
          <p:cNvPicPr>
            <a:picLocks noChangeAspect="1"/>
          </p:cNvPicPr>
          <p:nvPr/>
        </p:nvPicPr>
        <p:blipFill>
          <a:blip r:embed="rId4"/>
          <a:stretch>
            <a:fillRect/>
          </a:stretch>
        </p:blipFill>
        <p:spPr>
          <a:xfrm>
            <a:off x="3239431" y="3697981"/>
            <a:ext cx="3886200" cy="3160019"/>
          </a:xfrm>
          <a:prstGeom prst="rect">
            <a:avLst/>
          </a:prstGeom>
        </p:spPr>
      </p:pic>
    </p:spTree>
    <p:extLst>
      <p:ext uri="{BB962C8B-B14F-4D97-AF65-F5344CB8AC3E}">
        <p14:creationId xmlns:p14="http://schemas.microsoft.com/office/powerpoint/2010/main" val="3273374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39B152-0C3B-B783-198A-3C2958B1B17A}"/>
              </a:ext>
            </a:extLst>
          </p:cNvPr>
          <p:cNvSpPr>
            <a:spLocks noGrp="1"/>
          </p:cNvSpPr>
          <p:nvPr>
            <p:ph sz="quarter" idx="10"/>
          </p:nvPr>
        </p:nvSpPr>
        <p:spPr/>
        <p:txBody>
          <a:bodyPr>
            <a:normAutofit lnSpcReduction="10000"/>
          </a:bodyPr>
          <a:lstStyle/>
          <a:p>
            <a:r>
              <a:rPr lang="en-AU" dirty="0"/>
              <a:t>Remember, this is a revisitation!</a:t>
            </a:r>
          </a:p>
          <a:p>
            <a:r>
              <a:rPr lang="en-AU" dirty="0"/>
              <a:t>The directional terms that are used to describes surfaces of dentition are:</a:t>
            </a:r>
          </a:p>
          <a:p>
            <a:pPr marL="285750" indent="-285750">
              <a:buFont typeface="Arial" panose="020B0604020202020204" pitchFamily="34" charset="0"/>
              <a:buChar char="•"/>
            </a:pPr>
            <a:r>
              <a:rPr lang="en-AU" dirty="0"/>
              <a:t>Buccal/Labial (front surface)</a:t>
            </a:r>
          </a:p>
          <a:p>
            <a:pPr marL="645750" lvl="2" indent="-285750"/>
            <a:r>
              <a:rPr lang="en-AU" dirty="0"/>
              <a:t>Labial -&gt; towards lips (reserved for anterior dentition only)</a:t>
            </a:r>
          </a:p>
          <a:p>
            <a:pPr marL="645750" lvl="2" indent="-285750"/>
            <a:r>
              <a:rPr lang="en-AU" dirty="0"/>
              <a:t>Buccal -&gt; towards cheeks (reserved for posterior dentition only)</a:t>
            </a:r>
          </a:p>
          <a:p>
            <a:pPr marL="285750" indent="-285750">
              <a:buFont typeface="Arial" panose="020B0604020202020204" pitchFamily="34" charset="0"/>
              <a:buChar char="•"/>
            </a:pPr>
            <a:r>
              <a:rPr lang="en-AU" dirty="0"/>
              <a:t>Lingual/palatal (internal surface)</a:t>
            </a:r>
          </a:p>
          <a:p>
            <a:pPr marL="645750" lvl="2" indent="-285750"/>
            <a:r>
              <a:rPr lang="en-AU" dirty="0"/>
              <a:t>Palatal -&gt; internal surface of maxillary dentition</a:t>
            </a:r>
          </a:p>
          <a:p>
            <a:pPr marL="645750" lvl="2" indent="-285750"/>
            <a:r>
              <a:rPr lang="en-AU" dirty="0"/>
              <a:t>Lingual -&gt; internal surface of mandibular dentition</a:t>
            </a:r>
          </a:p>
          <a:p>
            <a:pPr marL="285750" indent="-285750">
              <a:buFont typeface="Arial" panose="020B0604020202020204" pitchFamily="34" charset="0"/>
              <a:buChar char="•"/>
            </a:pPr>
            <a:r>
              <a:rPr lang="en-AU" dirty="0"/>
              <a:t>Mesial (proximal direction)</a:t>
            </a:r>
          </a:p>
          <a:p>
            <a:pPr marL="285750" indent="-285750">
              <a:buFont typeface="Arial" panose="020B0604020202020204" pitchFamily="34" charset="0"/>
              <a:buChar char="•"/>
            </a:pPr>
            <a:r>
              <a:rPr lang="en-AU" dirty="0"/>
              <a:t>Distal (distal direction)</a:t>
            </a:r>
          </a:p>
          <a:p>
            <a:pPr marL="285750" indent="-285750">
              <a:buFont typeface="Arial" panose="020B0604020202020204" pitchFamily="34" charset="0"/>
              <a:buChar char="•"/>
            </a:pPr>
            <a:r>
              <a:rPr lang="en-AU" dirty="0"/>
              <a:t>Incisal/occlusal (superior surface)</a:t>
            </a:r>
          </a:p>
          <a:p>
            <a:pPr marL="465750" lvl="1" indent="-285750"/>
            <a:r>
              <a:rPr lang="en-AU" dirty="0"/>
              <a:t>Incisal -&gt; anterior dentition</a:t>
            </a:r>
          </a:p>
          <a:p>
            <a:pPr marL="465750" lvl="1" indent="-285750"/>
            <a:r>
              <a:rPr lang="en-AU" dirty="0"/>
              <a:t>Occlusal -&gt; posterior dentition</a:t>
            </a:r>
          </a:p>
        </p:txBody>
      </p:sp>
      <p:sp>
        <p:nvSpPr>
          <p:cNvPr id="3" name="Title 2">
            <a:extLst>
              <a:ext uri="{FF2B5EF4-FFF2-40B4-BE49-F238E27FC236}">
                <a16:creationId xmlns:a16="http://schemas.microsoft.com/office/drawing/2014/main" id="{D52B4CFA-3DD8-8E91-CDE0-F96AD1537910}"/>
              </a:ext>
            </a:extLst>
          </p:cNvPr>
          <p:cNvSpPr>
            <a:spLocks noGrp="1"/>
          </p:cNvSpPr>
          <p:nvPr>
            <p:ph type="title"/>
          </p:nvPr>
        </p:nvSpPr>
        <p:spPr/>
        <p:txBody>
          <a:bodyPr/>
          <a:lstStyle/>
          <a:p>
            <a:r>
              <a:rPr lang="en-AU" dirty="0"/>
              <a:t>Directional terminology of the dentition</a:t>
            </a:r>
          </a:p>
        </p:txBody>
      </p:sp>
      <p:sp>
        <p:nvSpPr>
          <p:cNvPr id="4" name="Text Placeholder 3">
            <a:extLst>
              <a:ext uri="{FF2B5EF4-FFF2-40B4-BE49-F238E27FC236}">
                <a16:creationId xmlns:a16="http://schemas.microsoft.com/office/drawing/2014/main" id="{FA7BA7BF-8316-26B0-913F-79ADA406F65C}"/>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B0989424-9035-3753-D1DB-D51EA9811785}"/>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84124EBE-28A3-223C-A9C1-6441043BBDD5}"/>
              </a:ext>
            </a:extLst>
          </p:cNvPr>
          <p:cNvSpPr>
            <a:spLocks noGrp="1"/>
          </p:cNvSpPr>
          <p:nvPr>
            <p:ph type="sldNum" sz="quarter" idx="18"/>
          </p:nvPr>
        </p:nvSpPr>
        <p:spPr/>
        <p:txBody>
          <a:bodyPr/>
          <a:lstStyle/>
          <a:p>
            <a:fld id="{E917DE0E-AFB1-41FD-BC35-27DB61CA125F}" type="slidenum">
              <a:rPr lang="en-AU" smtClean="0"/>
              <a:pPr/>
              <a:t>10</a:t>
            </a:fld>
            <a:endParaRPr lang="en-AU" dirty="0"/>
          </a:p>
        </p:txBody>
      </p:sp>
      <p:sp>
        <p:nvSpPr>
          <p:cNvPr id="7" name="Date Placeholder 6">
            <a:extLst>
              <a:ext uri="{FF2B5EF4-FFF2-40B4-BE49-F238E27FC236}">
                <a16:creationId xmlns:a16="http://schemas.microsoft.com/office/drawing/2014/main" id="{B05ACFE8-55CB-7E4F-DFAF-25B6F9F625B8}"/>
              </a:ext>
            </a:extLst>
          </p:cNvPr>
          <p:cNvSpPr>
            <a:spLocks noGrp="1"/>
          </p:cNvSpPr>
          <p:nvPr>
            <p:ph type="dt" sz="half" idx="2"/>
          </p:nvPr>
        </p:nvSpPr>
        <p:spPr/>
        <p:txBody>
          <a:bodyPr/>
          <a:lstStyle/>
          <a:p>
            <a:r>
              <a:rPr lang="en-US"/>
              <a:t>[Entity Name]</a:t>
            </a:r>
            <a:endParaRPr lang="en-AU" dirty="0"/>
          </a:p>
        </p:txBody>
      </p:sp>
      <p:pic>
        <p:nvPicPr>
          <p:cNvPr id="8" name="Picture 4" descr="What are the 5 Tooth Surfaces ...">
            <a:extLst>
              <a:ext uri="{FF2B5EF4-FFF2-40B4-BE49-F238E27FC236}">
                <a16:creationId xmlns:a16="http://schemas.microsoft.com/office/drawing/2014/main" id="{52DE97CF-EB86-BCE7-53AD-6E4E52758E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020" r="10549"/>
          <a:stretch>
            <a:fillRect/>
          </a:stretch>
        </p:blipFill>
        <p:spPr bwMode="auto">
          <a:xfrm>
            <a:off x="7785217" y="2870717"/>
            <a:ext cx="4406783" cy="4000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074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129EA2-B472-35C7-DF6B-DF24ED102AAD}"/>
              </a:ext>
            </a:extLst>
          </p:cNvPr>
          <p:cNvSpPr>
            <a:spLocks noGrp="1"/>
          </p:cNvSpPr>
          <p:nvPr>
            <p:ph sz="quarter" idx="10"/>
          </p:nvPr>
        </p:nvSpPr>
        <p:spPr/>
        <p:txBody>
          <a:bodyPr numCol="2"/>
          <a:lstStyle/>
          <a:p>
            <a:r>
              <a:rPr lang="en-AU" dirty="0"/>
              <a:t>Incisors:</a:t>
            </a:r>
          </a:p>
          <a:p>
            <a:pPr marL="285750" indent="-285750">
              <a:buFont typeface="Arial" panose="020B0604020202020204" pitchFamily="34" charset="0"/>
              <a:buChar char="•"/>
            </a:pPr>
            <a:r>
              <a:rPr lang="en-AU" dirty="0"/>
              <a:t>To cut</a:t>
            </a:r>
          </a:p>
          <a:p>
            <a:pPr marL="285750" indent="-285750">
              <a:buFont typeface="Arial" panose="020B0604020202020204" pitchFamily="34" charset="0"/>
              <a:buChar char="•"/>
            </a:pPr>
            <a:r>
              <a:rPr lang="en-AU" dirty="0"/>
              <a:t>Palatal/lingual surfaces guide food into the mouth</a:t>
            </a:r>
          </a:p>
          <a:p>
            <a:endParaRPr lang="en-AU" dirty="0"/>
          </a:p>
          <a:p>
            <a:r>
              <a:rPr lang="en-AU" dirty="0"/>
              <a:t>Canines:</a:t>
            </a:r>
          </a:p>
          <a:p>
            <a:pPr marL="285750" indent="-285750">
              <a:buFont typeface="Arial" panose="020B0604020202020204" pitchFamily="34" charset="0"/>
              <a:buChar char="•"/>
            </a:pPr>
            <a:r>
              <a:rPr lang="en-AU" dirty="0"/>
              <a:t>To grasp</a:t>
            </a:r>
          </a:p>
          <a:p>
            <a:pPr marL="285750" indent="-285750">
              <a:buFont typeface="Arial" panose="020B0604020202020204" pitchFamily="34" charset="0"/>
              <a:buChar char="•"/>
            </a:pPr>
            <a:r>
              <a:rPr lang="en-AU" dirty="0"/>
              <a:t>Guides the jaw in lateral movements</a:t>
            </a:r>
          </a:p>
          <a:p>
            <a:pPr marL="645750" lvl="2" indent="-285750"/>
            <a:r>
              <a:rPr lang="en-AU" dirty="0"/>
              <a:t>Longest tooth by type -&gt; most anchored -&gt; able to withstand the stress/load of the entire jaw during grinding</a:t>
            </a:r>
          </a:p>
          <a:p>
            <a:endParaRPr lang="en-AU" dirty="0"/>
          </a:p>
          <a:p>
            <a:endParaRPr lang="en-AU" dirty="0"/>
          </a:p>
          <a:p>
            <a:r>
              <a:rPr lang="en-AU" dirty="0"/>
              <a:t>Premolars:</a:t>
            </a:r>
          </a:p>
          <a:p>
            <a:pPr marL="285750" indent="-285750">
              <a:buFont typeface="Arial" panose="020B0604020202020204" pitchFamily="34" charset="0"/>
              <a:buChar char="•"/>
            </a:pPr>
            <a:r>
              <a:rPr lang="en-AU" dirty="0"/>
              <a:t>Aids the canine in grasping and grinding</a:t>
            </a:r>
          </a:p>
          <a:p>
            <a:pPr marL="285750" indent="-285750">
              <a:buFont typeface="Arial" panose="020B0604020202020204" pitchFamily="34" charset="0"/>
              <a:buChar char="•"/>
            </a:pPr>
            <a:r>
              <a:rPr lang="en-AU" dirty="0"/>
              <a:t>Transitional anatomy design between canine and molar</a:t>
            </a:r>
          </a:p>
          <a:p>
            <a:endParaRPr lang="en-AU" dirty="0"/>
          </a:p>
          <a:p>
            <a:r>
              <a:rPr lang="en-AU" dirty="0"/>
              <a:t>Molars:</a:t>
            </a:r>
          </a:p>
          <a:p>
            <a:pPr marL="285750" indent="-285750">
              <a:buFont typeface="Arial" panose="020B0604020202020204" pitchFamily="34" charset="0"/>
              <a:buChar char="•"/>
            </a:pPr>
            <a:r>
              <a:rPr lang="en-AU" dirty="0"/>
              <a:t>To crush</a:t>
            </a:r>
          </a:p>
          <a:p>
            <a:pPr marL="285750" indent="-285750">
              <a:buFont typeface="Arial" panose="020B0604020202020204" pitchFamily="34" charset="0"/>
              <a:buChar char="•"/>
            </a:pPr>
            <a:r>
              <a:rPr lang="en-AU" dirty="0"/>
              <a:t>Withstands the most prominent force during occlusion</a:t>
            </a:r>
          </a:p>
          <a:p>
            <a:pPr marL="645750" lvl="2" indent="-285750"/>
            <a:r>
              <a:rPr lang="en-AU" dirty="0"/>
              <a:t>Largest tooth by type -&gt; greatest volume of tooth -&gt; able to withstand stress/load of jaw during occlusion</a:t>
            </a:r>
          </a:p>
        </p:txBody>
      </p:sp>
      <p:sp>
        <p:nvSpPr>
          <p:cNvPr id="3" name="Title 2">
            <a:extLst>
              <a:ext uri="{FF2B5EF4-FFF2-40B4-BE49-F238E27FC236}">
                <a16:creationId xmlns:a16="http://schemas.microsoft.com/office/drawing/2014/main" id="{6664391C-0BF6-06BC-85CF-A55CBD4F2CE6}"/>
              </a:ext>
            </a:extLst>
          </p:cNvPr>
          <p:cNvSpPr>
            <a:spLocks noGrp="1"/>
          </p:cNvSpPr>
          <p:nvPr>
            <p:ph type="title"/>
          </p:nvPr>
        </p:nvSpPr>
        <p:spPr/>
        <p:txBody>
          <a:bodyPr/>
          <a:lstStyle/>
          <a:p>
            <a:r>
              <a:rPr lang="en-AU" dirty="0"/>
              <a:t>Functions of teeth by type</a:t>
            </a:r>
          </a:p>
        </p:txBody>
      </p:sp>
      <p:sp>
        <p:nvSpPr>
          <p:cNvPr id="4" name="Text Placeholder 3">
            <a:extLst>
              <a:ext uri="{FF2B5EF4-FFF2-40B4-BE49-F238E27FC236}">
                <a16:creationId xmlns:a16="http://schemas.microsoft.com/office/drawing/2014/main" id="{22EC3689-6C7D-07D5-77FB-538C49540730}"/>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63751636-F0C1-0F62-0A80-D88AEE02BA28}"/>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D5CB5205-4014-F55A-EB5F-160875278218}"/>
              </a:ext>
            </a:extLst>
          </p:cNvPr>
          <p:cNvSpPr>
            <a:spLocks noGrp="1"/>
          </p:cNvSpPr>
          <p:nvPr>
            <p:ph type="sldNum" sz="quarter" idx="18"/>
          </p:nvPr>
        </p:nvSpPr>
        <p:spPr/>
        <p:txBody>
          <a:bodyPr/>
          <a:lstStyle/>
          <a:p>
            <a:fld id="{E917DE0E-AFB1-41FD-BC35-27DB61CA125F}" type="slidenum">
              <a:rPr lang="en-AU" smtClean="0"/>
              <a:pPr/>
              <a:t>11</a:t>
            </a:fld>
            <a:endParaRPr lang="en-AU" dirty="0"/>
          </a:p>
        </p:txBody>
      </p:sp>
      <p:sp>
        <p:nvSpPr>
          <p:cNvPr id="7" name="Date Placeholder 6">
            <a:extLst>
              <a:ext uri="{FF2B5EF4-FFF2-40B4-BE49-F238E27FC236}">
                <a16:creationId xmlns:a16="http://schemas.microsoft.com/office/drawing/2014/main" id="{4C2D4205-488E-AF34-1132-101721B03DFF}"/>
              </a:ext>
            </a:extLst>
          </p:cNvPr>
          <p:cNvSpPr>
            <a:spLocks noGrp="1"/>
          </p:cNvSpPr>
          <p:nvPr>
            <p:ph type="dt" sz="half" idx="2"/>
          </p:nvPr>
        </p:nvSpPr>
        <p:spPr/>
        <p:txBody>
          <a:bodyPr/>
          <a:lstStyle/>
          <a:p>
            <a:r>
              <a:rPr lang="en-US"/>
              <a:t>[Entity Name]</a:t>
            </a:r>
            <a:endParaRPr lang="en-AU" dirty="0"/>
          </a:p>
        </p:txBody>
      </p:sp>
    </p:spTree>
    <p:extLst>
      <p:ext uri="{BB962C8B-B14F-4D97-AF65-F5344CB8AC3E}">
        <p14:creationId xmlns:p14="http://schemas.microsoft.com/office/powerpoint/2010/main" val="94985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5625B0-66BF-990C-787B-B2247547E41D}"/>
              </a:ext>
            </a:extLst>
          </p:cNvPr>
          <p:cNvSpPr>
            <a:spLocks noGrp="1"/>
          </p:cNvSpPr>
          <p:nvPr>
            <p:ph sz="quarter" idx="10"/>
          </p:nvPr>
        </p:nvSpPr>
        <p:spPr>
          <a:xfrm>
            <a:off x="695326" y="1700213"/>
            <a:ext cx="6840834" cy="4608512"/>
          </a:xfrm>
        </p:spPr>
        <p:txBody>
          <a:bodyPr/>
          <a:lstStyle/>
          <a:p>
            <a:r>
              <a:rPr lang="en-AU" dirty="0"/>
              <a:t>Notice that as we transition from incisor to molar:</a:t>
            </a:r>
          </a:p>
          <a:p>
            <a:pPr marL="285750" indent="-285750">
              <a:buFont typeface="Arial" panose="020B0604020202020204" pitchFamily="34" charset="0"/>
              <a:buChar char="•"/>
            </a:pPr>
            <a:r>
              <a:rPr lang="en-AU" dirty="0"/>
              <a:t>The root length elongates</a:t>
            </a:r>
          </a:p>
          <a:p>
            <a:pPr marL="285750" indent="-285750">
              <a:buFont typeface="Arial" panose="020B0604020202020204" pitchFamily="34" charset="0"/>
              <a:buChar char="•"/>
            </a:pPr>
            <a:r>
              <a:rPr lang="en-AU" dirty="0"/>
              <a:t>The crown becomes “multi-headed”</a:t>
            </a:r>
          </a:p>
          <a:p>
            <a:pPr marL="645750" lvl="2" indent="-285750"/>
            <a:r>
              <a:rPr lang="en-AU" dirty="0"/>
              <a:t>Referred to as cusps when they are no longer thin and narrow like incisal edges</a:t>
            </a:r>
          </a:p>
          <a:p>
            <a:pPr marL="285750" indent="-285750">
              <a:buFont typeface="Arial" panose="020B0604020202020204" pitchFamily="34" charset="0"/>
              <a:buChar char="•"/>
            </a:pPr>
            <a:r>
              <a:rPr lang="en-AU" dirty="0"/>
              <a:t>The crown design increases in complexity</a:t>
            </a:r>
          </a:p>
        </p:txBody>
      </p:sp>
      <p:sp>
        <p:nvSpPr>
          <p:cNvPr id="3" name="Title 2">
            <a:extLst>
              <a:ext uri="{FF2B5EF4-FFF2-40B4-BE49-F238E27FC236}">
                <a16:creationId xmlns:a16="http://schemas.microsoft.com/office/drawing/2014/main" id="{E47B07B0-7151-F8F0-FAF9-34132D34CABD}"/>
              </a:ext>
            </a:extLst>
          </p:cNvPr>
          <p:cNvSpPr>
            <a:spLocks noGrp="1"/>
          </p:cNvSpPr>
          <p:nvPr>
            <p:ph type="title"/>
          </p:nvPr>
        </p:nvSpPr>
        <p:spPr/>
        <p:txBody>
          <a:bodyPr/>
          <a:lstStyle/>
          <a:p>
            <a:endParaRPr lang="en-AU"/>
          </a:p>
        </p:txBody>
      </p:sp>
      <p:sp>
        <p:nvSpPr>
          <p:cNvPr id="4" name="Text Placeholder 3">
            <a:extLst>
              <a:ext uri="{FF2B5EF4-FFF2-40B4-BE49-F238E27FC236}">
                <a16:creationId xmlns:a16="http://schemas.microsoft.com/office/drawing/2014/main" id="{1717667D-4013-A421-01D3-D2D93076F5E5}"/>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9CD629EA-2D25-DAF4-1EF9-7520381BED8D}"/>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369C7C35-3D23-D697-6752-322C6C1F2426}"/>
              </a:ext>
            </a:extLst>
          </p:cNvPr>
          <p:cNvSpPr>
            <a:spLocks noGrp="1"/>
          </p:cNvSpPr>
          <p:nvPr>
            <p:ph type="sldNum" sz="quarter" idx="18"/>
          </p:nvPr>
        </p:nvSpPr>
        <p:spPr/>
        <p:txBody>
          <a:bodyPr/>
          <a:lstStyle/>
          <a:p>
            <a:fld id="{E917DE0E-AFB1-41FD-BC35-27DB61CA125F}" type="slidenum">
              <a:rPr lang="en-AU" smtClean="0"/>
              <a:pPr/>
              <a:t>12</a:t>
            </a:fld>
            <a:endParaRPr lang="en-AU" dirty="0"/>
          </a:p>
        </p:txBody>
      </p:sp>
      <p:sp>
        <p:nvSpPr>
          <p:cNvPr id="7" name="Date Placeholder 6">
            <a:extLst>
              <a:ext uri="{FF2B5EF4-FFF2-40B4-BE49-F238E27FC236}">
                <a16:creationId xmlns:a16="http://schemas.microsoft.com/office/drawing/2014/main" id="{99A7BF67-4E24-FC8A-6583-D026C2790E60}"/>
              </a:ext>
            </a:extLst>
          </p:cNvPr>
          <p:cNvSpPr>
            <a:spLocks noGrp="1"/>
          </p:cNvSpPr>
          <p:nvPr>
            <p:ph type="dt" sz="half" idx="2"/>
          </p:nvPr>
        </p:nvSpPr>
        <p:spPr/>
        <p:txBody>
          <a:bodyPr/>
          <a:lstStyle/>
          <a:p>
            <a:r>
              <a:rPr lang="en-US"/>
              <a:t>[Entity Name]</a:t>
            </a:r>
            <a:endParaRPr lang="en-AU" dirty="0"/>
          </a:p>
        </p:txBody>
      </p:sp>
      <p:grpSp>
        <p:nvGrpSpPr>
          <p:cNvPr id="8" name="object 4">
            <a:extLst>
              <a:ext uri="{FF2B5EF4-FFF2-40B4-BE49-F238E27FC236}">
                <a16:creationId xmlns:a16="http://schemas.microsoft.com/office/drawing/2014/main" id="{AACA42E3-EE75-5D40-4FB4-8ECB590F73C2}"/>
              </a:ext>
            </a:extLst>
          </p:cNvPr>
          <p:cNvGrpSpPr/>
          <p:nvPr/>
        </p:nvGrpSpPr>
        <p:grpSpPr>
          <a:xfrm>
            <a:off x="7789164" y="1214627"/>
            <a:ext cx="2402205" cy="3883660"/>
            <a:chOff x="7789164" y="1214627"/>
            <a:chExt cx="2402205" cy="3883660"/>
          </a:xfrm>
        </p:grpSpPr>
        <p:pic>
          <p:nvPicPr>
            <p:cNvPr id="9" name="object 5">
              <a:extLst>
                <a:ext uri="{FF2B5EF4-FFF2-40B4-BE49-F238E27FC236}">
                  <a16:creationId xmlns:a16="http://schemas.microsoft.com/office/drawing/2014/main" id="{97B96189-EA3A-6F7D-E654-E42CC467847E}"/>
                </a:ext>
              </a:extLst>
            </p:cNvPr>
            <p:cNvPicPr/>
            <p:nvPr/>
          </p:nvPicPr>
          <p:blipFill>
            <a:blip r:embed="rId2" cstate="print"/>
            <a:stretch>
              <a:fillRect/>
            </a:stretch>
          </p:blipFill>
          <p:spPr>
            <a:xfrm>
              <a:off x="7789164" y="1214627"/>
              <a:ext cx="1246631" cy="1248155"/>
            </a:xfrm>
            <a:prstGeom prst="rect">
              <a:avLst/>
            </a:prstGeom>
          </p:spPr>
        </p:pic>
        <p:pic>
          <p:nvPicPr>
            <p:cNvPr id="10" name="object 6">
              <a:extLst>
                <a:ext uri="{FF2B5EF4-FFF2-40B4-BE49-F238E27FC236}">
                  <a16:creationId xmlns:a16="http://schemas.microsoft.com/office/drawing/2014/main" id="{F83811D7-C71D-8E74-D7AF-80E8DCB3DAF9}"/>
                </a:ext>
              </a:extLst>
            </p:cNvPr>
            <p:cNvPicPr/>
            <p:nvPr/>
          </p:nvPicPr>
          <p:blipFill>
            <a:blip r:embed="rId3" cstate="print"/>
            <a:stretch>
              <a:fillRect/>
            </a:stretch>
          </p:blipFill>
          <p:spPr>
            <a:xfrm>
              <a:off x="9000744" y="1271016"/>
              <a:ext cx="1190243" cy="1191767"/>
            </a:xfrm>
            <a:prstGeom prst="rect">
              <a:avLst/>
            </a:prstGeom>
          </p:spPr>
        </p:pic>
        <p:pic>
          <p:nvPicPr>
            <p:cNvPr id="11" name="object 7">
              <a:extLst>
                <a:ext uri="{FF2B5EF4-FFF2-40B4-BE49-F238E27FC236}">
                  <a16:creationId xmlns:a16="http://schemas.microsoft.com/office/drawing/2014/main" id="{13421D05-9CDB-FED6-9C09-855D48E6BEE3}"/>
                </a:ext>
              </a:extLst>
            </p:cNvPr>
            <p:cNvPicPr/>
            <p:nvPr/>
          </p:nvPicPr>
          <p:blipFill>
            <a:blip r:embed="rId4" cstate="print"/>
            <a:stretch>
              <a:fillRect/>
            </a:stretch>
          </p:blipFill>
          <p:spPr>
            <a:xfrm>
              <a:off x="8215883" y="2471940"/>
              <a:ext cx="1571243" cy="1571230"/>
            </a:xfrm>
            <a:prstGeom prst="rect">
              <a:avLst/>
            </a:prstGeom>
          </p:spPr>
        </p:pic>
        <p:pic>
          <p:nvPicPr>
            <p:cNvPr id="12" name="object 8">
              <a:extLst>
                <a:ext uri="{FF2B5EF4-FFF2-40B4-BE49-F238E27FC236}">
                  <a16:creationId xmlns:a16="http://schemas.microsoft.com/office/drawing/2014/main" id="{5580C5F5-6A75-3598-ABB2-4A84912822FD}"/>
                </a:ext>
              </a:extLst>
            </p:cNvPr>
            <p:cNvPicPr/>
            <p:nvPr/>
          </p:nvPicPr>
          <p:blipFill>
            <a:blip r:embed="rId5" cstate="print"/>
            <a:stretch>
              <a:fillRect/>
            </a:stretch>
          </p:blipFill>
          <p:spPr>
            <a:xfrm>
              <a:off x="8310371" y="3717035"/>
              <a:ext cx="1380743" cy="1380743"/>
            </a:xfrm>
            <a:prstGeom prst="rect">
              <a:avLst/>
            </a:prstGeom>
          </p:spPr>
        </p:pic>
      </p:grpSp>
      <p:pic>
        <p:nvPicPr>
          <p:cNvPr id="13" name="object 9">
            <a:extLst>
              <a:ext uri="{FF2B5EF4-FFF2-40B4-BE49-F238E27FC236}">
                <a16:creationId xmlns:a16="http://schemas.microsoft.com/office/drawing/2014/main" id="{65C27E99-F94E-7E59-116B-E5ECA040D4BA}"/>
              </a:ext>
            </a:extLst>
          </p:cNvPr>
          <p:cNvPicPr/>
          <p:nvPr/>
        </p:nvPicPr>
        <p:blipFill>
          <a:blip r:embed="rId6" cstate="print"/>
          <a:stretch>
            <a:fillRect/>
          </a:stretch>
        </p:blipFill>
        <p:spPr>
          <a:xfrm>
            <a:off x="8330183" y="5177028"/>
            <a:ext cx="1456943" cy="1458467"/>
          </a:xfrm>
          <a:prstGeom prst="rect">
            <a:avLst/>
          </a:prstGeom>
        </p:spPr>
      </p:pic>
    </p:spTree>
    <p:extLst>
      <p:ext uri="{BB962C8B-B14F-4D97-AF65-F5344CB8AC3E}">
        <p14:creationId xmlns:p14="http://schemas.microsoft.com/office/powerpoint/2010/main" val="3518781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52E18C-5075-A1C9-858F-083972A9C1F8}"/>
              </a:ext>
            </a:extLst>
          </p:cNvPr>
          <p:cNvSpPr>
            <a:spLocks noGrp="1"/>
          </p:cNvSpPr>
          <p:nvPr>
            <p:ph sz="quarter" idx="10"/>
          </p:nvPr>
        </p:nvSpPr>
        <p:spPr>
          <a:xfrm>
            <a:off x="695326" y="1700213"/>
            <a:ext cx="8569026" cy="4608512"/>
          </a:xfrm>
        </p:spPr>
        <p:txBody>
          <a:bodyPr/>
          <a:lstStyle/>
          <a:p>
            <a:r>
              <a:rPr lang="en-AU" dirty="0"/>
              <a:t>Charting universally follows the </a:t>
            </a:r>
            <a:r>
              <a:rPr lang="fr-FR" dirty="0"/>
              <a:t>Fédération Dentaire </a:t>
            </a:r>
            <a:r>
              <a:rPr lang="fr-FR" dirty="0" err="1"/>
              <a:t>Internationale’s</a:t>
            </a:r>
            <a:r>
              <a:rPr lang="fr-FR" dirty="0"/>
              <a:t> notation (FDI): </a:t>
            </a:r>
            <a:r>
              <a:rPr lang="fr-FR" dirty="0" err="1"/>
              <a:t>two</a:t>
            </a:r>
            <a:r>
              <a:rPr lang="fr-FR" dirty="0"/>
              <a:t>-digit </a:t>
            </a:r>
            <a:r>
              <a:rPr lang="fr-FR" dirty="0" err="1"/>
              <a:t>charting</a:t>
            </a:r>
            <a:r>
              <a:rPr lang="fr-FR" dirty="0"/>
              <a:t> system</a:t>
            </a:r>
          </a:p>
          <a:p>
            <a:pPr marL="285750" indent="-285750">
              <a:buFont typeface="Arial" panose="020B0604020202020204" pitchFamily="34" charset="0"/>
              <a:buChar char="•"/>
            </a:pPr>
            <a:r>
              <a:rPr lang="en-AU" dirty="0"/>
              <a:t>The first digit represents the quadrant</a:t>
            </a:r>
          </a:p>
          <a:p>
            <a:pPr marL="285750" indent="-285750">
              <a:buFont typeface="Arial" panose="020B0604020202020204" pitchFamily="34" charset="0"/>
              <a:buChar char="•"/>
            </a:pPr>
            <a:r>
              <a:rPr lang="en-AU" dirty="0"/>
              <a:t>The second digit represents the tooth number</a:t>
            </a:r>
          </a:p>
          <a:p>
            <a:pPr marL="285750" indent="-285750">
              <a:buFont typeface="Arial" panose="020B0604020202020204" pitchFamily="34" charset="0"/>
              <a:buChar char="•"/>
            </a:pPr>
            <a:r>
              <a:rPr lang="en-AU" dirty="0"/>
              <a:t>Teeth are numbered by tooth type from incisor -&gt; molar</a:t>
            </a:r>
          </a:p>
          <a:p>
            <a:endParaRPr lang="en-AU" dirty="0"/>
          </a:p>
          <a:p>
            <a:r>
              <a:rPr lang="en-AU" dirty="0"/>
              <a:t>Only America follows their own numbering system where numbering is simply brute forced</a:t>
            </a:r>
          </a:p>
          <a:p>
            <a:pPr marL="285750" indent="-285750">
              <a:buFont typeface="Arial" panose="020B0604020202020204" pitchFamily="34" charset="0"/>
              <a:buChar char="•"/>
            </a:pPr>
            <a:r>
              <a:rPr lang="en-AU" dirty="0"/>
              <a:t>Regardless of quadrant or tooth type -&gt; numbered sequentially 1, 2, 3, 4…</a:t>
            </a:r>
          </a:p>
          <a:p>
            <a:endParaRPr lang="en-AU" dirty="0"/>
          </a:p>
          <a:p>
            <a:endParaRPr lang="en-AU" dirty="0"/>
          </a:p>
          <a:p>
            <a:r>
              <a:rPr lang="en-AU" dirty="0"/>
              <a:t>N.B. tooth surface naming system will be visited in “dental charting” lecture</a:t>
            </a:r>
          </a:p>
        </p:txBody>
      </p:sp>
      <p:sp>
        <p:nvSpPr>
          <p:cNvPr id="3" name="Title 2">
            <a:extLst>
              <a:ext uri="{FF2B5EF4-FFF2-40B4-BE49-F238E27FC236}">
                <a16:creationId xmlns:a16="http://schemas.microsoft.com/office/drawing/2014/main" id="{8ED44448-467C-C7D2-338D-D64EF1D382FF}"/>
              </a:ext>
            </a:extLst>
          </p:cNvPr>
          <p:cNvSpPr>
            <a:spLocks noGrp="1"/>
          </p:cNvSpPr>
          <p:nvPr>
            <p:ph type="title"/>
          </p:nvPr>
        </p:nvSpPr>
        <p:spPr/>
        <p:txBody>
          <a:bodyPr/>
          <a:lstStyle/>
          <a:p>
            <a:r>
              <a:rPr lang="en-AU" dirty="0"/>
              <a:t>Tooth numbering system</a:t>
            </a:r>
          </a:p>
        </p:txBody>
      </p:sp>
      <p:sp>
        <p:nvSpPr>
          <p:cNvPr id="4" name="Text Placeholder 3">
            <a:extLst>
              <a:ext uri="{FF2B5EF4-FFF2-40B4-BE49-F238E27FC236}">
                <a16:creationId xmlns:a16="http://schemas.microsoft.com/office/drawing/2014/main" id="{EF811DA7-CE72-95D9-0B8A-239ADCC3E3A0}"/>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1C4A56AA-1DE1-A19A-43C8-A256E584CCFD}"/>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C6F662E0-10D7-6146-6CD3-C832FA8E8F68}"/>
              </a:ext>
            </a:extLst>
          </p:cNvPr>
          <p:cNvSpPr>
            <a:spLocks noGrp="1"/>
          </p:cNvSpPr>
          <p:nvPr>
            <p:ph type="sldNum" sz="quarter" idx="18"/>
          </p:nvPr>
        </p:nvSpPr>
        <p:spPr/>
        <p:txBody>
          <a:bodyPr/>
          <a:lstStyle/>
          <a:p>
            <a:fld id="{E917DE0E-AFB1-41FD-BC35-27DB61CA125F}" type="slidenum">
              <a:rPr lang="en-AU" smtClean="0"/>
              <a:pPr/>
              <a:t>13</a:t>
            </a:fld>
            <a:endParaRPr lang="en-AU" dirty="0"/>
          </a:p>
        </p:txBody>
      </p:sp>
      <p:sp>
        <p:nvSpPr>
          <p:cNvPr id="7" name="Date Placeholder 6">
            <a:extLst>
              <a:ext uri="{FF2B5EF4-FFF2-40B4-BE49-F238E27FC236}">
                <a16:creationId xmlns:a16="http://schemas.microsoft.com/office/drawing/2014/main" id="{0DCEA8B2-F08B-1901-46DD-2F7B9CCDE49A}"/>
              </a:ext>
            </a:extLst>
          </p:cNvPr>
          <p:cNvSpPr>
            <a:spLocks noGrp="1"/>
          </p:cNvSpPr>
          <p:nvPr>
            <p:ph type="dt" sz="half" idx="2"/>
          </p:nvPr>
        </p:nvSpPr>
        <p:spPr/>
        <p:txBody>
          <a:bodyPr/>
          <a:lstStyle/>
          <a:p>
            <a:r>
              <a:rPr lang="en-US"/>
              <a:t>[Entity Name]</a:t>
            </a:r>
            <a:endParaRPr lang="en-AU" dirty="0"/>
          </a:p>
        </p:txBody>
      </p:sp>
      <p:pic>
        <p:nvPicPr>
          <p:cNvPr id="8" name="object 2">
            <a:extLst>
              <a:ext uri="{FF2B5EF4-FFF2-40B4-BE49-F238E27FC236}">
                <a16:creationId xmlns:a16="http://schemas.microsoft.com/office/drawing/2014/main" id="{619EE8F1-80CD-75E6-CEB5-053D0ED45D70}"/>
              </a:ext>
            </a:extLst>
          </p:cNvPr>
          <p:cNvPicPr/>
          <p:nvPr/>
        </p:nvPicPr>
        <p:blipFill>
          <a:blip r:embed="rId2" cstate="print"/>
          <a:srcRect b="53638"/>
          <a:stretch>
            <a:fillRect/>
          </a:stretch>
        </p:blipFill>
        <p:spPr>
          <a:xfrm>
            <a:off x="8159497" y="2564109"/>
            <a:ext cx="4032503" cy="1078252"/>
          </a:xfrm>
          <a:prstGeom prst="rect">
            <a:avLst/>
          </a:prstGeom>
        </p:spPr>
      </p:pic>
      <p:pic>
        <p:nvPicPr>
          <p:cNvPr id="9" name="object 5">
            <a:extLst>
              <a:ext uri="{FF2B5EF4-FFF2-40B4-BE49-F238E27FC236}">
                <a16:creationId xmlns:a16="http://schemas.microsoft.com/office/drawing/2014/main" id="{81B69E0B-FC8C-CDC1-BED1-60AA466E87BF}"/>
              </a:ext>
            </a:extLst>
          </p:cNvPr>
          <p:cNvPicPr/>
          <p:nvPr/>
        </p:nvPicPr>
        <p:blipFill>
          <a:blip r:embed="rId3" cstate="print"/>
          <a:stretch>
            <a:fillRect/>
          </a:stretch>
        </p:blipFill>
        <p:spPr>
          <a:xfrm>
            <a:off x="8984313" y="3642361"/>
            <a:ext cx="3215639" cy="3215639"/>
          </a:xfrm>
          <a:prstGeom prst="rect">
            <a:avLst/>
          </a:prstGeom>
        </p:spPr>
      </p:pic>
    </p:spTree>
    <p:extLst>
      <p:ext uri="{BB962C8B-B14F-4D97-AF65-F5344CB8AC3E}">
        <p14:creationId xmlns:p14="http://schemas.microsoft.com/office/powerpoint/2010/main" val="415992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5A2DF-ED2F-36F0-BC32-769D07356680}"/>
              </a:ext>
            </a:extLst>
          </p:cNvPr>
          <p:cNvSpPr>
            <a:spLocks noGrp="1"/>
          </p:cNvSpPr>
          <p:nvPr>
            <p:ph type="title"/>
          </p:nvPr>
        </p:nvSpPr>
        <p:spPr>
          <a:xfrm>
            <a:off x="726876" y="2780928"/>
            <a:ext cx="10738247" cy="1296144"/>
          </a:xfrm>
        </p:spPr>
        <p:txBody>
          <a:bodyPr/>
          <a:lstStyle/>
          <a:p>
            <a:pPr algn="ctr"/>
            <a:r>
              <a:rPr lang="en-AU" dirty="0"/>
              <a:t>Characteristics of teeth</a:t>
            </a:r>
          </a:p>
        </p:txBody>
      </p:sp>
    </p:spTree>
    <p:extLst>
      <p:ext uri="{BB962C8B-B14F-4D97-AF65-F5344CB8AC3E}">
        <p14:creationId xmlns:p14="http://schemas.microsoft.com/office/powerpoint/2010/main" val="382364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04DB69-A1C4-A220-0106-DF4945BC0E3C}"/>
              </a:ext>
            </a:extLst>
          </p:cNvPr>
          <p:cNvSpPr>
            <a:spLocks noGrp="1"/>
          </p:cNvSpPr>
          <p:nvPr>
            <p:ph sz="quarter" idx="10"/>
          </p:nvPr>
        </p:nvSpPr>
        <p:spPr>
          <a:xfrm>
            <a:off x="695326" y="1700213"/>
            <a:ext cx="6909785" cy="4608512"/>
          </a:xfrm>
        </p:spPr>
        <p:txBody>
          <a:bodyPr/>
          <a:lstStyle/>
          <a:p>
            <a:r>
              <a:rPr lang="en-AU" dirty="0"/>
              <a:t>A cusp is a pyramidally-shaped elevation, or peak, defining complex eminences on the superior surface of the crown</a:t>
            </a:r>
          </a:p>
          <a:p>
            <a:pPr marL="285750" indent="-285750">
              <a:buFont typeface="Arial" panose="020B0604020202020204" pitchFamily="34" charset="0"/>
              <a:buChar char="•"/>
            </a:pPr>
            <a:r>
              <a:rPr lang="en-AU" dirty="0"/>
              <a:t>The highest point of the cusp is referred to as the cusp tip</a:t>
            </a:r>
          </a:p>
          <a:p>
            <a:pPr marL="285750" indent="-285750">
              <a:buFont typeface="Arial" panose="020B0604020202020204" pitchFamily="34" charset="0"/>
              <a:buChar char="•"/>
            </a:pPr>
            <a:r>
              <a:rPr lang="en-AU" dirty="0"/>
              <a:t>Cusps are named by its location relative to the approximal surface it is connecting with</a:t>
            </a:r>
          </a:p>
          <a:p>
            <a:pPr marL="645750" lvl="2" indent="-285750"/>
            <a:r>
              <a:rPr lang="en-AU" dirty="0"/>
              <a:t>When there are 2 cusps, we define by the main surface it is involved with, </a:t>
            </a:r>
            <a:r>
              <a:rPr lang="en-AU" dirty="0" err="1"/>
              <a:t>eg</a:t>
            </a:r>
            <a:r>
              <a:rPr lang="en-AU" dirty="0"/>
              <a:t> Buccal &amp; Lingual cusps</a:t>
            </a:r>
          </a:p>
          <a:p>
            <a:pPr marL="645750" lvl="2" indent="-285750"/>
            <a:r>
              <a:rPr lang="en-AU" dirty="0"/>
              <a:t>When there are 3 or more cusps, we define by the main surface, but if it is positioned in the corner of the tooth, the 2 surfaces it shares, </a:t>
            </a:r>
            <a:r>
              <a:rPr lang="en-AU" dirty="0" err="1"/>
              <a:t>eg</a:t>
            </a:r>
            <a:r>
              <a:rPr lang="en-AU" dirty="0"/>
              <a:t> Mesio-lingual cusp</a:t>
            </a:r>
          </a:p>
          <a:p>
            <a:endParaRPr lang="en-AU" dirty="0"/>
          </a:p>
          <a:p>
            <a:r>
              <a:rPr lang="en-AU" dirty="0"/>
              <a:t>Because cusps are named to dentition with pyramidal elevation, it applies to all posterior dentition, but also the </a:t>
            </a:r>
            <a:r>
              <a:rPr lang="en-AU" b="1" u="sng" dirty="0"/>
              <a:t>canine</a:t>
            </a:r>
            <a:r>
              <a:rPr lang="en-AU" dirty="0"/>
              <a:t> (despite being anterior dentition!)</a:t>
            </a:r>
          </a:p>
        </p:txBody>
      </p:sp>
      <p:sp>
        <p:nvSpPr>
          <p:cNvPr id="3" name="Title 2">
            <a:extLst>
              <a:ext uri="{FF2B5EF4-FFF2-40B4-BE49-F238E27FC236}">
                <a16:creationId xmlns:a16="http://schemas.microsoft.com/office/drawing/2014/main" id="{C8EA0397-962F-2794-0F96-6DE5096AEEF4}"/>
              </a:ext>
            </a:extLst>
          </p:cNvPr>
          <p:cNvSpPr>
            <a:spLocks noGrp="1"/>
          </p:cNvSpPr>
          <p:nvPr>
            <p:ph type="title"/>
          </p:nvPr>
        </p:nvSpPr>
        <p:spPr/>
        <p:txBody>
          <a:bodyPr/>
          <a:lstStyle/>
          <a:p>
            <a:r>
              <a:rPr lang="en-AU" dirty="0"/>
              <a:t>Cusps</a:t>
            </a:r>
          </a:p>
        </p:txBody>
      </p:sp>
      <p:sp>
        <p:nvSpPr>
          <p:cNvPr id="4" name="Text Placeholder 3">
            <a:extLst>
              <a:ext uri="{FF2B5EF4-FFF2-40B4-BE49-F238E27FC236}">
                <a16:creationId xmlns:a16="http://schemas.microsoft.com/office/drawing/2014/main" id="{0A7DA33B-718C-1EC3-5744-C70D331615FF}"/>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D9146366-3226-CF9D-DE4A-496FF2499E7F}"/>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ECC93E25-6D67-F79C-DDE3-D95AC4AAE2C7}"/>
              </a:ext>
            </a:extLst>
          </p:cNvPr>
          <p:cNvSpPr>
            <a:spLocks noGrp="1"/>
          </p:cNvSpPr>
          <p:nvPr>
            <p:ph type="sldNum" sz="quarter" idx="18"/>
          </p:nvPr>
        </p:nvSpPr>
        <p:spPr/>
        <p:txBody>
          <a:bodyPr/>
          <a:lstStyle/>
          <a:p>
            <a:fld id="{E917DE0E-AFB1-41FD-BC35-27DB61CA125F}" type="slidenum">
              <a:rPr lang="en-AU" smtClean="0"/>
              <a:pPr/>
              <a:t>15</a:t>
            </a:fld>
            <a:endParaRPr lang="en-AU" dirty="0"/>
          </a:p>
        </p:txBody>
      </p:sp>
      <p:sp>
        <p:nvSpPr>
          <p:cNvPr id="7" name="Date Placeholder 6">
            <a:extLst>
              <a:ext uri="{FF2B5EF4-FFF2-40B4-BE49-F238E27FC236}">
                <a16:creationId xmlns:a16="http://schemas.microsoft.com/office/drawing/2014/main" id="{3C46FAFC-731D-F626-3E20-B0954C972ABC}"/>
              </a:ext>
            </a:extLst>
          </p:cNvPr>
          <p:cNvSpPr>
            <a:spLocks noGrp="1"/>
          </p:cNvSpPr>
          <p:nvPr>
            <p:ph type="dt" sz="half" idx="2"/>
          </p:nvPr>
        </p:nvSpPr>
        <p:spPr/>
        <p:txBody>
          <a:bodyPr/>
          <a:lstStyle/>
          <a:p>
            <a:r>
              <a:rPr lang="en-US"/>
              <a:t>[Entity Name]</a:t>
            </a:r>
            <a:endParaRPr lang="en-AU" dirty="0"/>
          </a:p>
        </p:txBody>
      </p:sp>
      <p:grpSp>
        <p:nvGrpSpPr>
          <p:cNvPr id="8" name="object 4">
            <a:extLst>
              <a:ext uri="{FF2B5EF4-FFF2-40B4-BE49-F238E27FC236}">
                <a16:creationId xmlns:a16="http://schemas.microsoft.com/office/drawing/2014/main" id="{E03C9A43-6535-5A90-3964-F9D3936CCB33}"/>
              </a:ext>
            </a:extLst>
          </p:cNvPr>
          <p:cNvGrpSpPr/>
          <p:nvPr/>
        </p:nvGrpSpPr>
        <p:grpSpPr>
          <a:xfrm>
            <a:off x="7605321" y="1452453"/>
            <a:ext cx="3891279" cy="4582795"/>
            <a:chOff x="7527035" y="1456944"/>
            <a:chExt cx="3891279" cy="4582795"/>
          </a:xfrm>
        </p:grpSpPr>
        <p:pic>
          <p:nvPicPr>
            <p:cNvPr id="9" name="object 5">
              <a:extLst>
                <a:ext uri="{FF2B5EF4-FFF2-40B4-BE49-F238E27FC236}">
                  <a16:creationId xmlns:a16="http://schemas.microsoft.com/office/drawing/2014/main" id="{5664EB5A-4881-079A-7A22-90D9374E7F53}"/>
                </a:ext>
              </a:extLst>
            </p:cNvPr>
            <p:cNvPicPr/>
            <p:nvPr/>
          </p:nvPicPr>
          <p:blipFill>
            <a:blip r:embed="rId2" cstate="print"/>
            <a:stretch>
              <a:fillRect/>
            </a:stretch>
          </p:blipFill>
          <p:spPr>
            <a:xfrm>
              <a:off x="7527035" y="1456944"/>
              <a:ext cx="3891145" cy="2505455"/>
            </a:xfrm>
            <a:prstGeom prst="rect">
              <a:avLst/>
            </a:prstGeom>
          </p:spPr>
        </p:pic>
        <p:pic>
          <p:nvPicPr>
            <p:cNvPr id="10" name="object 6">
              <a:extLst>
                <a:ext uri="{FF2B5EF4-FFF2-40B4-BE49-F238E27FC236}">
                  <a16:creationId xmlns:a16="http://schemas.microsoft.com/office/drawing/2014/main" id="{84DA0EE9-96E0-7E80-5E67-DB47E57A7178}"/>
                </a:ext>
              </a:extLst>
            </p:cNvPr>
            <p:cNvPicPr/>
            <p:nvPr/>
          </p:nvPicPr>
          <p:blipFill>
            <a:blip r:embed="rId3" cstate="print"/>
            <a:stretch>
              <a:fillRect/>
            </a:stretch>
          </p:blipFill>
          <p:spPr>
            <a:xfrm>
              <a:off x="8558783" y="3971941"/>
              <a:ext cx="1904999" cy="2067670"/>
            </a:xfrm>
            <a:prstGeom prst="rect">
              <a:avLst/>
            </a:prstGeom>
          </p:spPr>
        </p:pic>
      </p:grpSp>
    </p:spTree>
    <p:extLst>
      <p:ext uri="{BB962C8B-B14F-4D97-AF65-F5344CB8AC3E}">
        <p14:creationId xmlns:p14="http://schemas.microsoft.com/office/powerpoint/2010/main" val="114536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3E71B7-1A3D-7816-24D9-1423AB5855D9}"/>
              </a:ext>
            </a:extLst>
          </p:cNvPr>
          <p:cNvSpPr>
            <a:spLocks noGrp="1"/>
          </p:cNvSpPr>
          <p:nvPr>
            <p:ph type="title"/>
          </p:nvPr>
        </p:nvSpPr>
        <p:spPr>
          <a:xfrm>
            <a:off x="692208" y="3429000"/>
            <a:ext cx="10801350" cy="469056"/>
          </a:xfrm>
        </p:spPr>
        <p:txBody>
          <a:bodyPr/>
          <a:lstStyle/>
          <a:p>
            <a:r>
              <a:rPr lang="en-AU" dirty="0"/>
              <a:t>The canine has an incisal surface, but a cusp tip</a:t>
            </a:r>
          </a:p>
        </p:txBody>
      </p:sp>
      <p:sp>
        <p:nvSpPr>
          <p:cNvPr id="4" name="Text Placeholder 3">
            <a:extLst>
              <a:ext uri="{FF2B5EF4-FFF2-40B4-BE49-F238E27FC236}">
                <a16:creationId xmlns:a16="http://schemas.microsoft.com/office/drawing/2014/main" id="{CC55BD1A-8464-7954-7884-B99BFCD467E8}"/>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FFCD8EDF-D711-B7CB-2638-1B12C752B442}"/>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FAFE98F4-32D7-B672-EEF8-4533A69D17FB}"/>
              </a:ext>
            </a:extLst>
          </p:cNvPr>
          <p:cNvSpPr>
            <a:spLocks noGrp="1"/>
          </p:cNvSpPr>
          <p:nvPr>
            <p:ph type="sldNum" sz="quarter" idx="18"/>
          </p:nvPr>
        </p:nvSpPr>
        <p:spPr/>
        <p:txBody>
          <a:bodyPr/>
          <a:lstStyle/>
          <a:p>
            <a:fld id="{E917DE0E-AFB1-41FD-BC35-27DB61CA125F}" type="slidenum">
              <a:rPr lang="en-AU" smtClean="0"/>
              <a:pPr/>
              <a:t>16</a:t>
            </a:fld>
            <a:endParaRPr lang="en-AU" dirty="0"/>
          </a:p>
        </p:txBody>
      </p:sp>
      <p:sp>
        <p:nvSpPr>
          <p:cNvPr id="7" name="Date Placeholder 6">
            <a:extLst>
              <a:ext uri="{FF2B5EF4-FFF2-40B4-BE49-F238E27FC236}">
                <a16:creationId xmlns:a16="http://schemas.microsoft.com/office/drawing/2014/main" id="{B0859D3F-82E1-C14B-A206-8A2CC0092188}"/>
              </a:ext>
            </a:extLst>
          </p:cNvPr>
          <p:cNvSpPr>
            <a:spLocks noGrp="1"/>
          </p:cNvSpPr>
          <p:nvPr>
            <p:ph type="dt" sz="half" idx="2"/>
          </p:nvPr>
        </p:nvSpPr>
        <p:spPr/>
        <p:txBody>
          <a:bodyPr/>
          <a:lstStyle/>
          <a:p>
            <a:r>
              <a:rPr lang="en-US"/>
              <a:t>[Entity Name]</a:t>
            </a:r>
            <a:endParaRPr lang="en-AU" dirty="0"/>
          </a:p>
        </p:txBody>
      </p:sp>
      <p:sp>
        <p:nvSpPr>
          <p:cNvPr id="8" name="TextBox 7">
            <a:extLst>
              <a:ext uri="{FF2B5EF4-FFF2-40B4-BE49-F238E27FC236}">
                <a16:creationId xmlns:a16="http://schemas.microsoft.com/office/drawing/2014/main" id="{3AAC5E09-C15B-664C-DD52-86F941EDF041}"/>
              </a:ext>
            </a:extLst>
          </p:cNvPr>
          <p:cNvSpPr txBox="1"/>
          <p:nvPr/>
        </p:nvSpPr>
        <p:spPr>
          <a:xfrm>
            <a:off x="1319781" y="4559555"/>
            <a:ext cx="9546203" cy="923330"/>
          </a:xfrm>
          <a:prstGeom prst="rect">
            <a:avLst/>
          </a:prstGeom>
          <a:noFill/>
        </p:spPr>
        <p:txBody>
          <a:bodyPr wrap="none" rtlCol="0">
            <a:spAutoFit/>
          </a:bodyPr>
          <a:lstStyle/>
          <a:p>
            <a:r>
              <a:rPr lang="en-AU" dirty="0"/>
              <a:t>By all intents, remember that the canine is described anatomically by anterior dentition traits</a:t>
            </a:r>
          </a:p>
          <a:p>
            <a:pPr marL="285750" indent="-285750">
              <a:buFont typeface="Arial" panose="020B0604020202020204" pitchFamily="34" charset="0"/>
              <a:buChar char="•"/>
            </a:pPr>
            <a:r>
              <a:rPr lang="en-AU" dirty="0"/>
              <a:t>It’s only uniqueness is that its incisal edge is non-existent and instead a cusp tip</a:t>
            </a:r>
          </a:p>
          <a:p>
            <a:pPr marL="285750" indent="-285750">
              <a:buFont typeface="Arial" panose="020B0604020202020204" pitchFamily="34" charset="0"/>
              <a:buChar char="•"/>
            </a:pPr>
            <a:r>
              <a:rPr lang="en-AU" dirty="0"/>
              <a:t>We will see that the canine cannot be described by </a:t>
            </a:r>
            <a:r>
              <a:rPr lang="en-AU" dirty="0" err="1"/>
              <a:t>cuspal</a:t>
            </a:r>
            <a:r>
              <a:rPr lang="en-AU" dirty="0"/>
              <a:t> anatomy, only incisal anatomy</a:t>
            </a:r>
          </a:p>
        </p:txBody>
      </p:sp>
    </p:spTree>
    <p:extLst>
      <p:ext uri="{BB962C8B-B14F-4D97-AF65-F5344CB8AC3E}">
        <p14:creationId xmlns:p14="http://schemas.microsoft.com/office/powerpoint/2010/main" val="21212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663CDD-0246-5236-733F-AE77144C1A63}"/>
              </a:ext>
            </a:extLst>
          </p:cNvPr>
          <p:cNvSpPr>
            <a:spLocks noGrp="1"/>
          </p:cNvSpPr>
          <p:nvPr>
            <p:ph sz="quarter" idx="10"/>
          </p:nvPr>
        </p:nvSpPr>
        <p:spPr>
          <a:xfrm>
            <a:off x="695326" y="1700213"/>
            <a:ext cx="7860924" cy="4608512"/>
          </a:xfrm>
        </p:spPr>
        <p:txBody>
          <a:bodyPr/>
          <a:lstStyle/>
          <a:p>
            <a:r>
              <a:rPr lang="en-AU" dirty="0"/>
              <a:t>Despite common logic, the formation of the tooth does not begin from the apex of the root (the lowest base of the tooth), but the cusp tip/incisal edge of the tooth!</a:t>
            </a:r>
          </a:p>
          <a:p>
            <a:pPr marL="285750" indent="-285750">
              <a:buFont typeface="Arial" panose="020B0604020202020204" pitchFamily="34" charset="0"/>
              <a:buChar char="•"/>
            </a:pPr>
            <a:r>
              <a:rPr lang="en-AU" dirty="0"/>
              <a:t>IE, if the cusp is a pyramidal shape, naturally we can also define the local surfaces that descend from the cusp tip</a:t>
            </a:r>
          </a:p>
          <a:p>
            <a:endParaRPr lang="en-AU" dirty="0"/>
          </a:p>
          <a:p>
            <a:r>
              <a:rPr lang="en-AU" dirty="0"/>
              <a:t>The ridge is named by the following convention:</a:t>
            </a:r>
          </a:p>
          <a:p>
            <a:pPr marL="285750" indent="-285750">
              <a:buFont typeface="Arial" panose="020B0604020202020204" pitchFamily="34" charset="0"/>
              <a:buChar char="•"/>
            </a:pPr>
            <a:r>
              <a:rPr lang="en-AU" dirty="0"/>
              <a:t>The direction the surface is facing</a:t>
            </a:r>
          </a:p>
          <a:p>
            <a:pPr marL="285750" indent="-285750">
              <a:buFont typeface="Arial" panose="020B0604020202020204" pitchFamily="34" charset="0"/>
              <a:buChar char="•"/>
            </a:pPr>
            <a:r>
              <a:rPr lang="en-AU" dirty="0"/>
              <a:t>The cusp it is associated with</a:t>
            </a:r>
          </a:p>
          <a:p>
            <a:pPr marL="285750" indent="-285750">
              <a:buFont typeface="Arial" panose="020B0604020202020204" pitchFamily="34" charset="0"/>
              <a:buChar char="•"/>
            </a:pPr>
            <a:r>
              <a:rPr lang="en-AU" dirty="0"/>
              <a:t>EG, buccal ridge of lingual cusp</a:t>
            </a:r>
          </a:p>
          <a:p>
            <a:pPr marL="645750" lvl="2" indent="-285750"/>
            <a:r>
              <a:rPr lang="en-AU" dirty="0"/>
              <a:t>This should given you the idea that it is the lingual cusp of some tooth, and it is the surface that faces the buccal direction, IE faces towards the centre of the tooth</a:t>
            </a:r>
          </a:p>
        </p:txBody>
      </p:sp>
      <p:sp>
        <p:nvSpPr>
          <p:cNvPr id="3" name="Title 2">
            <a:extLst>
              <a:ext uri="{FF2B5EF4-FFF2-40B4-BE49-F238E27FC236}">
                <a16:creationId xmlns:a16="http://schemas.microsoft.com/office/drawing/2014/main" id="{47D247DF-23A2-C8F5-788C-1739A1BC3D21}"/>
              </a:ext>
            </a:extLst>
          </p:cNvPr>
          <p:cNvSpPr>
            <a:spLocks noGrp="1"/>
          </p:cNvSpPr>
          <p:nvPr>
            <p:ph type="title"/>
          </p:nvPr>
        </p:nvSpPr>
        <p:spPr/>
        <p:txBody>
          <a:bodyPr/>
          <a:lstStyle/>
          <a:p>
            <a:r>
              <a:rPr lang="en-AU" dirty="0"/>
              <a:t>Ridge</a:t>
            </a:r>
          </a:p>
        </p:txBody>
      </p:sp>
      <p:sp>
        <p:nvSpPr>
          <p:cNvPr id="4" name="Text Placeholder 3">
            <a:extLst>
              <a:ext uri="{FF2B5EF4-FFF2-40B4-BE49-F238E27FC236}">
                <a16:creationId xmlns:a16="http://schemas.microsoft.com/office/drawing/2014/main" id="{1475B6E3-F643-0927-92F1-4698BF33C0E2}"/>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2B03CA9F-372B-902A-FF55-4FA920A07488}"/>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8512FF52-2533-371B-BEE4-237FEB4D436E}"/>
              </a:ext>
            </a:extLst>
          </p:cNvPr>
          <p:cNvSpPr>
            <a:spLocks noGrp="1"/>
          </p:cNvSpPr>
          <p:nvPr>
            <p:ph type="sldNum" sz="quarter" idx="18"/>
          </p:nvPr>
        </p:nvSpPr>
        <p:spPr/>
        <p:txBody>
          <a:bodyPr/>
          <a:lstStyle/>
          <a:p>
            <a:fld id="{E917DE0E-AFB1-41FD-BC35-27DB61CA125F}" type="slidenum">
              <a:rPr lang="en-AU" smtClean="0"/>
              <a:pPr/>
              <a:t>17</a:t>
            </a:fld>
            <a:endParaRPr lang="en-AU" dirty="0"/>
          </a:p>
        </p:txBody>
      </p:sp>
      <p:sp>
        <p:nvSpPr>
          <p:cNvPr id="7" name="Date Placeholder 6">
            <a:extLst>
              <a:ext uri="{FF2B5EF4-FFF2-40B4-BE49-F238E27FC236}">
                <a16:creationId xmlns:a16="http://schemas.microsoft.com/office/drawing/2014/main" id="{896FBB50-E9FD-1AC2-F306-56CE26112036}"/>
              </a:ext>
            </a:extLst>
          </p:cNvPr>
          <p:cNvSpPr>
            <a:spLocks noGrp="1"/>
          </p:cNvSpPr>
          <p:nvPr>
            <p:ph type="dt" sz="half" idx="2"/>
          </p:nvPr>
        </p:nvSpPr>
        <p:spPr/>
        <p:txBody>
          <a:bodyPr/>
          <a:lstStyle/>
          <a:p>
            <a:r>
              <a:rPr lang="en-US"/>
              <a:t>[Entity Name]</a:t>
            </a:r>
            <a:endParaRPr lang="en-AU" dirty="0"/>
          </a:p>
        </p:txBody>
      </p:sp>
      <p:pic>
        <p:nvPicPr>
          <p:cNvPr id="1026" name="Picture 2" descr="square pyramid shape composition vector">
            <a:extLst>
              <a:ext uri="{FF2B5EF4-FFF2-40B4-BE49-F238E27FC236}">
                <a16:creationId xmlns:a16="http://schemas.microsoft.com/office/drawing/2014/main" id="{CA6AC1E7-428C-CBD3-F465-9E4C6B68D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4312" y="3780724"/>
            <a:ext cx="3287688" cy="307727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AFB704F-1013-1A89-4478-B18B6A385381}"/>
              </a:ext>
            </a:extLst>
          </p:cNvPr>
          <p:cNvSpPr txBox="1"/>
          <p:nvPr/>
        </p:nvSpPr>
        <p:spPr>
          <a:xfrm>
            <a:off x="9264352" y="3780724"/>
            <a:ext cx="1031051" cy="369332"/>
          </a:xfrm>
          <a:prstGeom prst="rect">
            <a:avLst/>
          </a:prstGeom>
          <a:noFill/>
        </p:spPr>
        <p:txBody>
          <a:bodyPr wrap="none" rtlCol="0">
            <a:spAutoFit/>
          </a:bodyPr>
          <a:lstStyle/>
          <a:p>
            <a:r>
              <a:rPr lang="en-AU" dirty="0"/>
              <a:t>Cusp tip</a:t>
            </a:r>
          </a:p>
        </p:txBody>
      </p:sp>
      <p:sp>
        <p:nvSpPr>
          <p:cNvPr id="9" name="TextBox 8">
            <a:extLst>
              <a:ext uri="{FF2B5EF4-FFF2-40B4-BE49-F238E27FC236}">
                <a16:creationId xmlns:a16="http://schemas.microsoft.com/office/drawing/2014/main" id="{5D9A85E2-06E4-A066-D7AA-FD6A07037B99}"/>
              </a:ext>
            </a:extLst>
          </p:cNvPr>
          <p:cNvSpPr txBox="1"/>
          <p:nvPr/>
        </p:nvSpPr>
        <p:spPr>
          <a:xfrm>
            <a:off x="8100245" y="4752142"/>
            <a:ext cx="1608133" cy="369332"/>
          </a:xfrm>
          <a:prstGeom prst="rect">
            <a:avLst/>
          </a:prstGeom>
          <a:noFill/>
        </p:spPr>
        <p:txBody>
          <a:bodyPr wrap="none" rtlCol="0">
            <a:spAutoFit/>
          </a:bodyPr>
          <a:lstStyle/>
          <a:p>
            <a:r>
              <a:rPr lang="en-AU" dirty="0"/>
              <a:t>Ridge surface</a:t>
            </a:r>
          </a:p>
        </p:txBody>
      </p:sp>
      <p:cxnSp>
        <p:nvCxnSpPr>
          <p:cNvPr id="11" name="Straight Arrow Connector 10">
            <a:extLst>
              <a:ext uri="{FF2B5EF4-FFF2-40B4-BE49-F238E27FC236}">
                <a16:creationId xmlns:a16="http://schemas.microsoft.com/office/drawing/2014/main" id="{517A8170-0B1E-5721-2FD9-FE7D4DC12C0B}"/>
              </a:ext>
            </a:extLst>
          </p:cNvPr>
          <p:cNvCxnSpPr/>
          <p:nvPr/>
        </p:nvCxnSpPr>
        <p:spPr>
          <a:xfrm>
            <a:off x="9984432" y="4150056"/>
            <a:ext cx="563724" cy="7103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B7EE1A74-40B7-45D0-18F0-3F918D9B6D5C}"/>
              </a:ext>
            </a:extLst>
          </p:cNvPr>
          <p:cNvCxnSpPr>
            <a:cxnSpLocks/>
          </p:cNvCxnSpPr>
          <p:nvPr/>
        </p:nvCxnSpPr>
        <p:spPr>
          <a:xfrm>
            <a:off x="9498015" y="5121474"/>
            <a:ext cx="918465" cy="10791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0674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2BDB1A-5C1D-318F-20D2-9D98C0A29527}"/>
              </a:ext>
            </a:extLst>
          </p:cNvPr>
          <p:cNvSpPr>
            <a:spLocks noGrp="1"/>
          </p:cNvSpPr>
          <p:nvPr>
            <p:ph sz="quarter" idx="10"/>
          </p:nvPr>
        </p:nvSpPr>
        <p:spPr>
          <a:xfrm>
            <a:off x="695326" y="1700213"/>
            <a:ext cx="7183065" cy="4608512"/>
          </a:xfrm>
        </p:spPr>
        <p:txBody>
          <a:bodyPr/>
          <a:lstStyle/>
          <a:p>
            <a:r>
              <a:rPr lang="en-AU" dirty="0"/>
              <a:t>Denoted as such due to the narrow apex (cusp tip) and wide base (along occlusal surface)</a:t>
            </a:r>
          </a:p>
          <a:p>
            <a:pPr marL="285750" indent="-285750">
              <a:buFont typeface="Arial" panose="020B0604020202020204" pitchFamily="34" charset="0"/>
              <a:buChar char="•"/>
            </a:pPr>
            <a:r>
              <a:rPr lang="en-AU" dirty="0"/>
              <a:t>As long as the tooth has multiple cusps, ridges will communicate with each other in some fashion</a:t>
            </a:r>
          </a:p>
          <a:p>
            <a:pPr marL="645750" lvl="2" indent="-285750"/>
            <a:r>
              <a:rPr lang="en-AU" dirty="0"/>
              <a:t>Triangular ridges communicate with each other at the base to form prominent depression/sulcus</a:t>
            </a:r>
          </a:p>
          <a:p>
            <a:endParaRPr lang="en-AU" dirty="0"/>
          </a:p>
          <a:p>
            <a:r>
              <a:rPr lang="en-AU" dirty="0"/>
              <a:t>Function:</a:t>
            </a:r>
          </a:p>
          <a:p>
            <a:pPr marL="285750" indent="-285750">
              <a:buFont typeface="Arial" panose="020B0604020202020204" pitchFamily="34" charset="0"/>
              <a:buChar char="•"/>
            </a:pPr>
            <a:r>
              <a:rPr lang="en-AU" dirty="0"/>
              <a:t>Structural integrity to the cusp -&gt; adds volume to the cusp</a:t>
            </a:r>
          </a:p>
          <a:p>
            <a:pPr marL="285750" indent="-285750">
              <a:buFont typeface="Arial" panose="020B0604020202020204" pitchFamily="34" charset="0"/>
              <a:buChar char="•"/>
            </a:pPr>
            <a:r>
              <a:rPr lang="en-AU" dirty="0"/>
              <a:t>Topography -&gt; formation of depression and sulcus allows complex distribution and interaction of food with the cusp tips -&gt; efficient crushing</a:t>
            </a:r>
          </a:p>
          <a:p>
            <a:pPr marL="285750" indent="-285750">
              <a:buFont typeface="Arial" panose="020B0604020202020204" pitchFamily="34" charset="0"/>
              <a:buChar char="•"/>
            </a:pPr>
            <a:endParaRPr lang="en-AU" dirty="0"/>
          </a:p>
        </p:txBody>
      </p:sp>
      <p:sp>
        <p:nvSpPr>
          <p:cNvPr id="3" name="Title 2">
            <a:extLst>
              <a:ext uri="{FF2B5EF4-FFF2-40B4-BE49-F238E27FC236}">
                <a16:creationId xmlns:a16="http://schemas.microsoft.com/office/drawing/2014/main" id="{AFCD1220-9435-FD67-BF3B-1763FCB3714B}"/>
              </a:ext>
            </a:extLst>
          </p:cNvPr>
          <p:cNvSpPr>
            <a:spLocks noGrp="1"/>
          </p:cNvSpPr>
          <p:nvPr>
            <p:ph type="title"/>
          </p:nvPr>
        </p:nvSpPr>
        <p:spPr/>
        <p:txBody>
          <a:bodyPr/>
          <a:lstStyle/>
          <a:p>
            <a:r>
              <a:rPr lang="en-AU" dirty="0"/>
              <a:t>Triangular ridge</a:t>
            </a:r>
          </a:p>
        </p:txBody>
      </p:sp>
      <p:sp>
        <p:nvSpPr>
          <p:cNvPr id="4" name="Text Placeholder 3">
            <a:extLst>
              <a:ext uri="{FF2B5EF4-FFF2-40B4-BE49-F238E27FC236}">
                <a16:creationId xmlns:a16="http://schemas.microsoft.com/office/drawing/2014/main" id="{5DA6617C-9188-A7F4-59AE-9BFA3EBD17AB}"/>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F764E5F5-6DC8-2759-DED1-5E746ED948F9}"/>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668A2B93-27E3-72D8-8662-575697344E8D}"/>
              </a:ext>
            </a:extLst>
          </p:cNvPr>
          <p:cNvSpPr>
            <a:spLocks noGrp="1"/>
          </p:cNvSpPr>
          <p:nvPr>
            <p:ph type="sldNum" sz="quarter" idx="18"/>
          </p:nvPr>
        </p:nvSpPr>
        <p:spPr/>
        <p:txBody>
          <a:bodyPr/>
          <a:lstStyle/>
          <a:p>
            <a:fld id="{E917DE0E-AFB1-41FD-BC35-27DB61CA125F}" type="slidenum">
              <a:rPr lang="en-AU" smtClean="0"/>
              <a:pPr/>
              <a:t>18</a:t>
            </a:fld>
            <a:endParaRPr lang="en-AU" dirty="0"/>
          </a:p>
        </p:txBody>
      </p:sp>
      <p:sp>
        <p:nvSpPr>
          <p:cNvPr id="7" name="Date Placeholder 6">
            <a:extLst>
              <a:ext uri="{FF2B5EF4-FFF2-40B4-BE49-F238E27FC236}">
                <a16:creationId xmlns:a16="http://schemas.microsoft.com/office/drawing/2014/main" id="{67E5CA26-8202-F8E9-1033-B7EF6C06C2AA}"/>
              </a:ext>
            </a:extLst>
          </p:cNvPr>
          <p:cNvSpPr>
            <a:spLocks noGrp="1"/>
          </p:cNvSpPr>
          <p:nvPr>
            <p:ph type="dt" sz="half" idx="2"/>
          </p:nvPr>
        </p:nvSpPr>
        <p:spPr/>
        <p:txBody>
          <a:bodyPr/>
          <a:lstStyle/>
          <a:p>
            <a:r>
              <a:rPr lang="en-US"/>
              <a:t>[Entity Name]</a:t>
            </a:r>
            <a:endParaRPr lang="en-AU" dirty="0"/>
          </a:p>
        </p:txBody>
      </p:sp>
      <p:pic>
        <p:nvPicPr>
          <p:cNvPr id="9" name="object 4">
            <a:extLst>
              <a:ext uri="{FF2B5EF4-FFF2-40B4-BE49-F238E27FC236}">
                <a16:creationId xmlns:a16="http://schemas.microsoft.com/office/drawing/2014/main" id="{3DEA17BE-B25F-3195-60BE-C3AC1413BCFA}"/>
              </a:ext>
            </a:extLst>
          </p:cNvPr>
          <p:cNvPicPr/>
          <p:nvPr/>
        </p:nvPicPr>
        <p:blipFill>
          <a:blip r:embed="rId2" cstate="print"/>
          <a:stretch>
            <a:fillRect/>
          </a:stretch>
        </p:blipFill>
        <p:spPr>
          <a:xfrm>
            <a:off x="7878391" y="692696"/>
            <a:ext cx="4287011" cy="3218687"/>
          </a:xfrm>
          <a:prstGeom prst="rect">
            <a:avLst/>
          </a:prstGeom>
        </p:spPr>
      </p:pic>
    </p:spTree>
    <p:extLst>
      <p:ext uri="{BB962C8B-B14F-4D97-AF65-F5344CB8AC3E}">
        <p14:creationId xmlns:p14="http://schemas.microsoft.com/office/powerpoint/2010/main" val="151337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8179A3-F205-300D-05DE-EE7FA581ED81}"/>
              </a:ext>
            </a:extLst>
          </p:cNvPr>
          <p:cNvSpPr>
            <a:spLocks noGrp="1"/>
          </p:cNvSpPr>
          <p:nvPr>
            <p:ph sz="quarter" idx="10"/>
          </p:nvPr>
        </p:nvSpPr>
        <p:spPr>
          <a:xfrm>
            <a:off x="695326" y="1700213"/>
            <a:ext cx="7686675" cy="4608512"/>
          </a:xfrm>
        </p:spPr>
        <p:txBody>
          <a:bodyPr/>
          <a:lstStyle/>
          <a:p>
            <a:r>
              <a:rPr lang="en-AU" dirty="0"/>
              <a:t>Prominent elevation of the triangular ridge to near eliminates the depression/sulcus formed between two or more ridges</a:t>
            </a:r>
          </a:p>
          <a:p>
            <a:pPr marL="285750" indent="-285750">
              <a:buFont typeface="Arial" panose="020B0604020202020204" pitchFamily="34" charset="0"/>
              <a:buChar char="•"/>
            </a:pPr>
            <a:r>
              <a:rPr lang="en-AU" dirty="0"/>
              <a:t>IE, forms an elevated connection between two cusps, forming a relative union</a:t>
            </a:r>
          </a:p>
          <a:p>
            <a:endParaRPr lang="en-AU" dirty="0"/>
          </a:p>
          <a:p>
            <a:r>
              <a:rPr lang="en-AU" dirty="0"/>
              <a:t>Function:</a:t>
            </a:r>
          </a:p>
          <a:p>
            <a:pPr marL="285750" indent="-285750">
              <a:buFont typeface="Arial" panose="020B0604020202020204" pitchFamily="34" charset="0"/>
              <a:buChar char="•"/>
            </a:pPr>
            <a:r>
              <a:rPr lang="en-AU" dirty="0"/>
              <a:t>Structural integrity to tooth -&gt; adds volume to the communicating pathway between the  two cusps</a:t>
            </a:r>
          </a:p>
        </p:txBody>
      </p:sp>
      <p:sp>
        <p:nvSpPr>
          <p:cNvPr id="3" name="Title 2">
            <a:extLst>
              <a:ext uri="{FF2B5EF4-FFF2-40B4-BE49-F238E27FC236}">
                <a16:creationId xmlns:a16="http://schemas.microsoft.com/office/drawing/2014/main" id="{A1E7B97A-7913-72B5-5B09-6D058796FC60}"/>
              </a:ext>
            </a:extLst>
          </p:cNvPr>
          <p:cNvSpPr>
            <a:spLocks noGrp="1"/>
          </p:cNvSpPr>
          <p:nvPr>
            <p:ph type="title"/>
          </p:nvPr>
        </p:nvSpPr>
        <p:spPr/>
        <p:txBody>
          <a:bodyPr/>
          <a:lstStyle/>
          <a:p>
            <a:r>
              <a:rPr lang="en-AU" dirty="0"/>
              <a:t>Transverse ridge</a:t>
            </a:r>
          </a:p>
        </p:txBody>
      </p:sp>
      <p:sp>
        <p:nvSpPr>
          <p:cNvPr id="4" name="Text Placeholder 3">
            <a:extLst>
              <a:ext uri="{FF2B5EF4-FFF2-40B4-BE49-F238E27FC236}">
                <a16:creationId xmlns:a16="http://schemas.microsoft.com/office/drawing/2014/main" id="{C5D38DCD-E11C-DE96-E278-63D9486042BB}"/>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16B4B545-8EA3-0DEB-BC4C-AB653B03A03D}"/>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E48CE6C5-8BF8-D6BB-E33C-9F099D69DBF7}"/>
              </a:ext>
            </a:extLst>
          </p:cNvPr>
          <p:cNvSpPr>
            <a:spLocks noGrp="1"/>
          </p:cNvSpPr>
          <p:nvPr>
            <p:ph type="sldNum" sz="quarter" idx="18"/>
          </p:nvPr>
        </p:nvSpPr>
        <p:spPr/>
        <p:txBody>
          <a:bodyPr/>
          <a:lstStyle/>
          <a:p>
            <a:fld id="{E917DE0E-AFB1-41FD-BC35-27DB61CA125F}" type="slidenum">
              <a:rPr lang="en-AU" smtClean="0"/>
              <a:pPr/>
              <a:t>19</a:t>
            </a:fld>
            <a:endParaRPr lang="en-AU" dirty="0"/>
          </a:p>
        </p:txBody>
      </p:sp>
      <p:sp>
        <p:nvSpPr>
          <p:cNvPr id="7" name="Date Placeholder 6">
            <a:extLst>
              <a:ext uri="{FF2B5EF4-FFF2-40B4-BE49-F238E27FC236}">
                <a16:creationId xmlns:a16="http://schemas.microsoft.com/office/drawing/2014/main" id="{A6D634BA-5898-C1FF-4AC4-5AB9717C41E0}"/>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9DC1D09B-BE81-C051-DAD8-8A4F388E3F92}"/>
              </a:ext>
            </a:extLst>
          </p:cNvPr>
          <p:cNvPicPr/>
          <p:nvPr/>
        </p:nvPicPr>
        <p:blipFill>
          <a:blip r:embed="rId2" cstate="print"/>
          <a:stretch>
            <a:fillRect/>
          </a:stretch>
        </p:blipFill>
        <p:spPr>
          <a:xfrm>
            <a:off x="8382001" y="549275"/>
            <a:ext cx="3809999" cy="3809999"/>
          </a:xfrm>
          <a:prstGeom prst="rect">
            <a:avLst/>
          </a:prstGeom>
        </p:spPr>
      </p:pic>
    </p:spTree>
    <p:extLst>
      <p:ext uri="{BB962C8B-B14F-4D97-AF65-F5344CB8AC3E}">
        <p14:creationId xmlns:p14="http://schemas.microsoft.com/office/powerpoint/2010/main" val="1727124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2A81A5-EACF-89E7-07AB-577D04B028A9}"/>
              </a:ext>
            </a:extLst>
          </p:cNvPr>
          <p:cNvSpPr>
            <a:spLocks noGrp="1"/>
          </p:cNvSpPr>
          <p:nvPr>
            <p:ph sz="quarter" idx="10"/>
          </p:nvPr>
        </p:nvSpPr>
        <p:spPr>
          <a:xfrm>
            <a:off x="695326" y="1700213"/>
            <a:ext cx="7686675" cy="4608512"/>
          </a:xfrm>
        </p:spPr>
        <p:txBody>
          <a:bodyPr/>
          <a:lstStyle/>
          <a:p>
            <a:r>
              <a:rPr lang="en-AU" dirty="0"/>
              <a:t>Unique ridge formation, and a variant of transverse ridge, that forms only in maxillary molars</a:t>
            </a:r>
          </a:p>
          <a:p>
            <a:pPr marL="285750" indent="-285750">
              <a:buFont typeface="Arial" panose="020B0604020202020204" pitchFamily="34" charset="0"/>
              <a:buChar char="•"/>
            </a:pPr>
            <a:r>
              <a:rPr lang="en-AU" dirty="0"/>
              <a:t>The maxillary molar has 4 uneven cusps with minimal symmetry</a:t>
            </a:r>
          </a:p>
          <a:p>
            <a:pPr marL="285750" indent="-285750">
              <a:buFont typeface="Arial" panose="020B0604020202020204" pitchFamily="34" charset="0"/>
              <a:buChar char="•"/>
            </a:pPr>
            <a:r>
              <a:rPr lang="en-AU" dirty="0"/>
              <a:t>The oblique ridge always communicates between the </a:t>
            </a:r>
            <a:r>
              <a:rPr lang="en-AU" dirty="0" err="1"/>
              <a:t>disto</a:t>
            </a:r>
            <a:r>
              <a:rPr lang="en-AU" dirty="0"/>
              <a:t>-buccal cusp and </a:t>
            </a:r>
            <a:r>
              <a:rPr lang="en-AU" dirty="0" err="1"/>
              <a:t>mesio</a:t>
            </a:r>
            <a:r>
              <a:rPr lang="en-AU" dirty="0"/>
              <a:t>-palatal cusp</a:t>
            </a:r>
          </a:p>
          <a:p>
            <a:pPr marL="645750" lvl="2" indent="-285750"/>
            <a:r>
              <a:rPr lang="en-AU" dirty="0"/>
              <a:t>Concurrently, it forms a prominent oblique groove adjacent to the MP cusp, communicating with the </a:t>
            </a:r>
            <a:r>
              <a:rPr lang="en-AU" dirty="0" err="1"/>
              <a:t>disto</a:t>
            </a:r>
            <a:r>
              <a:rPr lang="en-AU" dirty="0"/>
              <a:t>-palatal cusp</a:t>
            </a:r>
          </a:p>
          <a:p>
            <a:pPr marL="285750" indent="-285750">
              <a:buFont typeface="Arial" panose="020B0604020202020204" pitchFamily="34" charset="0"/>
              <a:buChar char="•"/>
            </a:pPr>
            <a:endParaRPr lang="en-AU" dirty="0"/>
          </a:p>
        </p:txBody>
      </p:sp>
      <p:sp>
        <p:nvSpPr>
          <p:cNvPr id="3" name="Title 2">
            <a:extLst>
              <a:ext uri="{FF2B5EF4-FFF2-40B4-BE49-F238E27FC236}">
                <a16:creationId xmlns:a16="http://schemas.microsoft.com/office/drawing/2014/main" id="{480BA4F5-15D7-2F09-9E80-84BEF6A303DE}"/>
              </a:ext>
            </a:extLst>
          </p:cNvPr>
          <p:cNvSpPr>
            <a:spLocks noGrp="1"/>
          </p:cNvSpPr>
          <p:nvPr>
            <p:ph type="title"/>
          </p:nvPr>
        </p:nvSpPr>
        <p:spPr/>
        <p:txBody>
          <a:bodyPr/>
          <a:lstStyle/>
          <a:p>
            <a:r>
              <a:rPr lang="en-AU" dirty="0"/>
              <a:t>Oblique ridge</a:t>
            </a:r>
          </a:p>
        </p:txBody>
      </p:sp>
      <p:sp>
        <p:nvSpPr>
          <p:cNvPr id="4" name="Text Placeholder 3">
            <a:extLst>
              <a:ext uri="{FF2B5EF4-FFF2-40B4-BE49-F238E27FC236}">
                <a16:creationId xmlns:a16="http://schemas.microsoft.com/office/drawing/2014/main" id="{432FEFB0-8A54-00CC-762B-AE740C35AC67}"/>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D0DF4A4A-ED81-3B08-EF1E-4056BA387890}"/>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63A1AD7F-5A43-EE15-C9D7-6B4C642A77CA}"/>
              </a:ext>
            </a:extLst>
          </p:cNvPr>
          <p:cNvSpPr>
            <a:spLocks noGrp="1"/>
          </p:cNvSpPr>
          <p:nvPr>
            <p:ph type="sldNum" sz="quarter" idx="18"/>
          </p:nvPr>
        </p:nvSpPr>
        <p:spPr/>
        <p:txBody>
          <a:bodyPr/>
          <a:lstStyle/>
          <a:p>
            <a:fld id="{E917DE0E-AFB1-41FD-BC35-27DB61CA125F}" type="slidenum">
              <a:rPr lang="en-AU" smtClean="0"/>
              <a:pPr/>
              <a:t>20</a:t>
            </a:fld>
            <a:endParaRPr lang="en-AU" dirty="0"/>
          </a:p>
        </p:txBody>
      </p:sp>
      <p:sp>
        <p:nvSpPr>
          <p:cNvPr id="7" name="Date Placeholder 6">
            <a:extLst>
              <a:ext uri="{FF2B5EF4-FFF2-40B4-BE49-F238E27FC236}">
                <a16:creationId xmlns:a16="http://schemas.microsoft.com/office/drawing/2014/main" id="{18F916DB-1E76-E7BD-05B2-A16A2A3D0CF2}"/>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AE84C31F-570E-8DB4-9C0C-419A5D91864E}"/>
              </a:ext>
            </a:extLst>
          </p:cNvPr>
          <p:cNvPicPr/>
          <p:nvPr/>
        </p:nvPicPr>
        <p:blipFill>
          <a:blip r:embed="rId2" cstate="print"/>
          <a:stretch>
            <a:fillRect/>
          </a:stretch>
        </p:blipFill>
        <p:spPr>
          <a:xfrm>
            <a:off x="8382001" y="549275"/>
            <a:ext cx="3809999" cy="3809999"/>
          </a:xfrm>
          <a:prstGeom prst="rect">
            <a:avLst/>
          </a:prstGeom>
        </p:spPr>
      </p:pic>
    </p:spTree>
    <p:extLst>
      <p:ext uri="{BB962C8B-B14F-4D97-AF65-F5344CB8AC3E}">
        <p14:creationId xmlns:p14="http://schemas.microsoft.com/office/powerpoint/2010/main" val="3946905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bject 3">
            <a:extLst>
              <a:ext uri="{FF2B5EF4-FFF2-40B4-BE49-F238E27FC236}">
                <a16:creationId xmlns:a16="http://schemas.microsoft.com/office/drawing/2014/main" id="{74697F37-3227-239B-8B9D-9BBAB5105F3C}"/>
              </a:ext>
            </a:extLst>
          </p:cNvPr>
          <p:cNvPicPr/>
          <p:nvPr/>
        </p:nvPicPr>
        <p:blipFill>
          <a:blip r:embed="rId2" cstate="print"/>
          <a:stretch>
            <a:fillRect/>
          </a:stretch>
        </p:blipFill>
        <p:spPr>
          <a:xfrm>
            <a:off x="7740269" y="692696"/>
            <a:ext cx="4451731" cy="2232660"/>
          </a:xfrm>
          <a:prstGeom prst="rect">
            <a:avLst/>
          </a:prstGeom>
        </p:spPr>
      </p:pic>
      <p:sp>
        <p:nvSpPr>
          <p:cNvPr id="2" name="Content Placeholder 1">
            <a:extLst>
              <a:ext uri="{FF2B5EF4-FFF2-40B4-BE49-F238E27FC236}">
                <a16:creationId xmlns:a16="http://schemas.microsoft.com/office/drawing/2014/main" id="{FBA00E1A-1F54-68DA-5697-7CC840CA91CC}"/>
              </a:ext>
            </a:extLst>
          </p:cNvPr>
          <p:cNvSpPr>
            <a:spLocks noGrp="1"/>
          </p:cNvSpPr>
          <p:nvPr>
            <p:ph sz="quarter" idx="10"/>
          </p:nvPr>
        </p:nvSpPr>
        <p:spPr>
          <a:xfrm>
            <a:off x="695326" y="1700213"/>
            <a:ext cx="7920954" cy="4608512"/>
          </a:xfrm>
        </p:spPr>
        <p:txBody>
          <a:bodyPr/>
          <a:lstStyle/>
          <a:p>
            <a:r>
              <a:rPr lang="en-AU" dirty="0"/>
              <a:t>Locally elevated ridge that forms the terminal boundary of the lateral edges of the dentition</a:t>
            </a:r>
          </a:p>
          <a:p>
            <a:pPr marL="285750" indent="-285750">
              <a:buFont typeface="Arial" panose="020B0604020202020204" pitchFamily="34" charset="0"/>
              <a:buChar char="•"/>
            </a:pPr>
            <a:r>
              <a:rPr lang="en-AU" dirty="0"/>
              <a:t>On anterior dentition, this forms the mesial/distal marginal ridges along the palatal/lingual surfaces</a:t>
            </a:r>
          </a:p>
          <a:p>
            <a:pPr marL="285750" indent="-285750">
              <a:buFont typeface="Arial" panose="020B0604020202020204" pitchFamily="34" charset="0"/>
              <a:buChar char="•"/>
            </a:pPr>
            <a:r>
              <a:rPr lang="en-AU" dirty="0"/>
              <a:t>On the posterior dentition, this forms the mesial/distal marginal ridges along the occlusal surface</a:t>
            </a:r>
          </a:p>
          <a:p>
            <a:endParaRPr lang="en-AU" dirty="0"/>
          </a:p>
          <a:p>
            <a:r>
              <a:rPr lang="en-AU" dirty="0"/>
              <a:t>Function:</a:t>
            </a:r>
          </a:p>
          <a:p>
            <a:pPr marL="285750" indent="-285750">
              <a:buFont typeface="Arial" panose="020B0604020202020204" pitchFamily="34" charset="0"/>
              <a:buChar char="•"/>
            </a:pPr>
            <a:r>
              <a:rPr lang="en-AU" dirty="0"/>
              <a:t>Structural integrity against flexion -&gt; holds the structures along the terminal ends of the ridge together</a:t>
            </a:r>
          </a:p>
          <a:p>
            <a:pPr marL="645750" lvl="2" indent="-285750"/>
            <a:r>
              <a:rPr lang="en-AU" dirty="0"/>
              <a:t>The destruction of a marginal ridge pre-disposes the tooth to </a:t>
            </a:r>
            <a:r>
              <a:rPr lang="en-AU" dirty="0" err="1"/>
              <a:t>cuspal</a:t>
            </a:r>
            <a:r>
              <a:rPr lang="en-AU" dirty="0"/>
              <a:t> fracture (on the involved area), however sometimes we have no choice but to remove this entity to remove disease associated with the area</a:t>
            </a:r>
          </a:p>
        </p:txBody>
      </p:sp>
      <p:sp>
        <p:nvSpPr>
          <p:cNvPr id="3" name="Title 2">
            <a:extLst>
              <a:ext uri="{FF2B5EF4-FFF2-40B4-BE49-F238E27FC236}">
                <a16:creationId xmlns:a16="http://schemas.microsoft.com/office/drawing/2014/main" id="{3D0E5AFA-BB81-5846-7B8E-26B8BBDC4BCA}"/>
              </a:ext>
            </a:extLst>
          </p:cNvPr>
          <p:cNvSpPr>
            <a:spLocks noGrp="1"/>
          </p:cNvSpPr>
          <p:nvPr>
            <p:ph type="title"/>
          </p:nvPr>
        </p:nvSpPr>
        <p:spPr/>
        <p:txBody>
          <a:bodyPr/>
          <a:lstStyle/>
          <a:p>
            <a:r>
              <a:rPr lang="en-AU" dirty="0"/>
              <a:t>Marginal ridge</a:t>
            </a:r>
          </a:p>
        </p:txBody>
      </p:sp>
      <p:sp>
        <p:nvSpPr>
          <p:cNvPr id="4" name="Text Placeholder 3">
            <a:extLst>
              <a:ext uri="{FF2B5EF4-FFF2-40B4-BE49-F238E27FC236}">
                <a16:creationId xmlns:a16="http://schemas.microsoft.com/office/drawing/2014/main" id="{B844CD94-D701-7C2D-EFBD-C94A50D2072E}"/>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81400A4F-AEB0-8CB8-5941-41D5032E5A4A}"/>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48E8A0D4-12A2-D4B9-2A79-681B40F4F9A7}"/>
              </a:ext>
            </a:extLst>
          </p:cNvPr>
          <p:cNvSpPr>
            <a:spLocks noGrp="1"/>
          </p:cNvSpPr>
          <p:nvPr>
            <p:ph type="sldNum" sz="quarter" idx="18"/>
          </p:nvPr>
        </p:nvSpPr>
        <p:spPr/>
        <p:txBody>
          <a:bodyPr/>
          <a:lstStyle/>
          <a:p>
            <a:fld id="{E917DE0E-AFB1-41FD-BC35-27DB61CA125F}" type="slidenum">
              <a:rPr lang="en-AU" smtClean="0"/>
              <a:pPr/>
              <a:t>21</a:t>
            </a:fld>
            <a:endParaRPr lang="en-AU" dirty="0"/>
          </a:p>
        </p:txBody>
      </p:sp>
      <p:sp>
        <p:nvSpPr>
          <p:cNvPr id="7" name="Date Placeholder 6">
            <a:extLst>
              <a:ext uri="{FF2B5EF4-FFF2-40B4-BE49-F238E27FC236}">
                <a16:creationId xmlns:a16="http://schemas.microsoft.com/office/drawing/2014/main" id="{7A234FD5-1B56-8FE3-2020-040DB372DF6C}"/>
              </a:ext>
            </a:extLst>
          </p:cNvPr>
          <p:cNvSpPr>
            <a:spLocks noGrp="1"/>
          </p:cNvSpPr>
          <p:nvPr>
            <p:ph type="dt" sz="half" idx="2"/>
          </p:nvPr>
        </p:nvSpPr>
        <p:spPr/>
        <p:txBody>
          <a:bodyPr/>
          <a:lstStyle/>
          <a:p>
            <a:r>
              <a:rPr lang="en-US"/>
              <a:t>[Entity Name]</a:t>
            </a:r>
            <a:endParaRPr lang="en-AU" dirty="0"/>
          </a:p>
        </p:txBody>
      </p:sp>
      <p:pic>
        <p:nvPicPr>
          <p:cNvPr id="9" name="object 5">
            <a:extLst>
              <a:ext uri="{FF2B5EF4-FFF2-40B4-BE49-F238E27FC236}">
                <a16:creationId xmlns:a16="http://schemas.microsoft.com/office/drawing/2014/main" id="{833FF6EE-57CB-AB16-F4BF-B874F64AC7F4}"/>
              </a:ext>
            </a:extLst>
          </p:cNvPr>
          <p:cNvPicPr/>
          <p:nvPr/>
        </p:nvPicPr>
        <p:blipFill>
          <a:blip r:embed="rId3" cstate="print"/>
          <a:stretch>
            <a:fillRect/>
          </a:stretch>
        </p:blipFill>
        <p:spPr>
          <a:xfrm>
            <a:off x="8757980" y="2925356"/>
            <a:ext cx="3451858" cy="3453383"/>
          </a:xfrm>
          <a:prstGeom prst="rect">
            <a:avLst/>
          </a:prstGeom>
        </p:spPr>
      </p:pic>
    </p:spTree>
    <p:extLst>
      <p:ext uri="{BB962C8B-B14F-4D97-AF65-F5344CB8AC3E}">
        <p14:creationId xmlns:p14="http://schemas.microsoft.com/office/powerpoint/2010/main" val="3035605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0F41CD-9075-0F3E-09F3-279FA5129385}"/>
              </a:ext>
            </a:extLst>
          </p:cNvPr>
          <p:cNvSpPr>
            <a:spLocks noGrp="1"/>
          </p:cNvSpPr>
          <p:nvPr>
            <p:ph sz="quarter" idx="10"/>
          </p:nvPr>
        </p:nvSpPr>
        <p:spPr/>
        <p:txBody>
          <a:bodyPr/>
          <a:lstStyle/>
          <a:p>
            <a:r>
              <a:rPr lang="en-AU" dirty="0"/>
              <a:t>A specific outline of the circumference of the tooth, following the highest elevation peripherally</a:t>
            </a:r>
          </a:p>
          <a:p>
            <a:pPr marL="285750" indent="-285750">
              <a:buFont typeface="Arial" panose="020B0604020202020204" pitchFamily="34" charset="0"/>
              <a:buChar char="•"/>
            </a:pPr>
            <a:r>
              <a:rPr lang="en-AU" dirty="0"/>
              <a:t>IE, the highest elevation of the cusps and ridges form what is known as the cusp ridge</a:t>
            </a:r>
          </a:p>
          <a:p>
            <a:pPr marL="285750" indent="-285750">
              <a:buFont typeface="Arial" panose="020B0604020202020204" pitchFamily="34" charset="0"/>
              <a:buChar char="•"/>
            </a:pPr>
            <a:r>
              <a:rPr lang="en-AU" dirty="0"/>
              <a:t>Despite common logic, cusp ridge to cusp ridge is not a primary form of contact between opposing dentition</a:t>
            </a:r>
          </a:p>
        </p:txBody>
      </p:sp>
      <p:sp>
        <p:nvSpPr>
          <p:cNvPr id="3" name="Title 2">
            <a:extLst>
              <a:ext uri="{FF2B5EF4-FFF2-40B4-BE49-F238E27FC236}">
                <a16:creationId xmlns:a16="http://schemas.microsoft.com/office/drawing/2014/main" id="{A165ED30-822B-5401-DA80-800611904315}"/>
              </a:ext>
            </a:extLst>
          </p:cNvPr>
          <p:cNvSpPr>
            <a:spLocks noGrp="1"/>
          </p:cNvSpPr>
          <p:nvPr>
            <p:ph type="title"/>
          </p:nvPr>
        </p:nvSpPr>
        <p:spPr/>
        <p:txBody>
          <a:bodyPr/>
          <a:lstStyle/>
          <a:p>
            <a:r>
              <a:rPr lang="en-AU" dirty="0"/>
              <a:t>Cusp ridge</a:t>
            </a:r>
          </a:p>
        </p:txBody>
      </p:sp>
      <p:sp>
        <p:nvSpPr>
          <p:cNvPr id="4" name="Text Placeholder 3">
            <a:extLst>
              <a:ext uri="{FF2B5EF4-FFF2-40B4-BE49-F238E27FC236}">
                <a16:creationId xmlns:a16="http://schemas.microsoft.com/office/drawing/2014/main" id="{59B70832-5DBB-AE63-A94B-A9C1AB95054B}"/>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A63C3E55-621C-F3CC-A3B3-5EDA6CA024AF}"/>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7575D652-4596-F715-4E67-C44C26F5AFA9}"/>
              </a:ext>
            </a:extLst>
          </p:cNvPr>
          <p:cNvSpPr>
            <a:spLocks noGrp="1"/>
          </p:cNvSpPr>
          <p:nvPr>
            <p:ph type="sldNum" sz="quarter" idx="18"/>
          </p:nvPr>
        </p:nvSpPr>
        <p:spPr/>
        <p:txBody>
          <a:bodyPr/>
          <a:lstStyle/>
          <a:p>
            <a:fld id="{E917DE0E-AFB1-41FD-BC35-27DB61CA125F}" type="slidenum">
              <a:rPr lang="en-AU" smtClean="0"/>
              <a:pPr/>
              <a:t>22</a:t>
            </a:fld>
            <a:endParaRPr lang="en-AU" dirty="0"/>
          </a:p>
        </p:txBody>
      </p:sp>
      <p:sp>
        <p:nvSpPr>
          <p:cNvPr id="7" name="Date Placeholder 6">
            <a:extLst>
              <a:ext uri="{FF2B5EF4-FFF2-40B4-BE49-F238E27FC236}">
                <a16:creationId xmlns:a16="http://schemas.microsoft.com/office/drawing/2014/main" id="{F79A01E2-E4A6-9EB4-9896-B2DEBD00C0AD}"/>
              </a:ext>
            </a:extLst>
          </p:cNvPr>
          <p:cNvSpPr>
            <a:spLocks noGrp="1"/>
          </p:cNvSpPr>
          <p:nvPr>
            <p:ph type="dt" sz="half" idx="2"/>
          </p:nvPr>
        </p:nvSpPr>
        <p:spPr/>
        <p:txBody>
          <a:bodyPr/>
          <a:lstStyle/>
          <a:p>
            <a:r>
              <a:rPr lang="en-US"/>
              <a:t>[Entity Name]</a:t>
            </a:r>
            <a:endParaRPr lang="en-AU" dirty="0"/>
          </a:p>
        </p:txBody>
      </p:sp>
      <p:pic>
        <p:nvPicPr>
          <p:cNvPr id="8" name="object 3">
            <a:extLst>
              <a:ext uri="{FF2B5EF4-FFF2-40B4-BE49-F238E27FC236}">
                <a16:creationId xmlns:a16="http://schemas.microsoft.com/office/drawing/2014/main" id="{2C6858A7-7A8F-F9FC-A2A1-57EA72021117}"/>
              </a:ext>
            </a:extLst>
          </p:cNvPr>
          <p:cNvPicPr/>
          <p:nvPr/>
        </p:nvPicPr>
        <p:blipFill>
          <a:blip r:embed="rId2" cstate="print"/>
          <a:stretch>
            <a:fillRect/>
          </a:stretch>
        </p:blipFill>
        <p:spPr>
          <a:xfrm>
            <a:off x="8686059" y="4218433"/>
            <a:ext cx="3505941" cy="2639567"/>
          </a:xfrm>
          <a:prstGeom prst="rect">
            <a:avLst/>
          </a:prstGeom>
        </p:spPr>
      </p:pic>
    </p:spTree>
    <p:extLst>
      <p:ext uri="{BB962C8B-B14F-4D97-AF65-F5344CB8AC3E}">
        <p14:creationId xmlns:p14="http://schemas.microsoft.com/office/powerpoint/2010/main" val="304509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305376-D948-AF04-EEB3-08712433B0C4}"/>
              </a:ext>
            </a:extLst>
          </p:cNvPr>
          <p:cNvSpPr>
            <a:spLocks noGrp="1"/>
          </p:cNvSpPr>
          <p:nvPr>
            <p:ph sz="quarter" idx="10"/>
          </p:nvPr>
        </p:nvSpPr>
        <p:spPr/>
        <p:txBody>
          <a:bodyPr/>
          <a:lstStyle/>
          <a:p>
            <a:r>
              <a:rPr lang="en-AU" dirty="0"/>
              <a:t>Occlusal contact refers to the intricate relationship of contact between opposing dentition, primarily driven by its anatomy</a:t>
            </a:r>
          </a:p>
          <a:p>
            <a:pPr marL="285750" indent="-285750">
              <a:buFont typeface="Arial" panose="020B0604020202020204" pitchFamily="34" charset="0"/>
              <a:buChar char="•"/>
            </a:pPr>
            <a:r>
              <a:rPr lang="en-AU" dirty="0"/>
              <a:t>The alignment of occlusion, in the ideal occlusion (proper tooth positioning), is when the cusp tip/ridge of one tooth meets the central groove of the opposing tooth</a:t>
            </a:r>
          </a:p>
          <a:p>
            <a:pPr marL="285750" indent="-285750">
              <a:buFont typeface="Arial" panose="020B0604020202020204" pitchFamily="34" charset="0"/>
              <a:buChar char="•"/>
            </a:pPr>
            <a:r>
              <a:rPr lang="en-AU" dirty="0"/>
              <a:t>It is only when there is lateral movement of the jaw, the opposing dentition may simultaneously meet at both cusp tips/ridges</a:t>
            </a:r>
          </a:p>
        </p:txBody>
      </p:sp>
      <p:sp>
        <p:nvSpPr>
          <p:cNvPr id="3" name="Title 2">
            <a:extLst>
              <a:ext uri="{FF2B5EF4-FFF2-40B4-BE49-F238E27FC236}">
                <a16:creationId xmlns:a16="http://schemas.microsoft.com/office/drawing/2014/main" id="{9D31BC78-D475-DA29-D7C3-812AB19134C3}"/>
              </a:ext>
            </a:extLst>
          </p:cNvPr>
          <p:cNvSpPr>
            <a:spLocks noGrp="1"/>
          </p:cNvSpPr>
          <p:nvPr>
            <p:ph type="title"/>
          </p:nvPr>
        </p:nvSpPr>
        <p:spPr/>
        <p:txBody>
          <a:bodyPr/>
          <a:lstStyle/>
          <a:p>
            <a:r>
              <a:rPr lang="en-AU" dirty="0"/>
              <a:t>Occlusal contact</a:t>
            </a:r>
          </a:p>
        </p:txBody>
      </p:sp>
      <p:sp>
        <p:nvSpPr>
          <p:cNvPr id="4" name="Text Placeholder 3">
            <a:extLst>
              <a:ext uri="{FF2B5EF4-FFF2-40B4-BE49-F238E27FC236}">
                <a16:creationId xmlns:a16="http://schemas.microsoft.com/office/drawing/2014/main" id="{C56A0BEB-65DD-7C6A-4385-19FE1619D069}"/>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F999A3CE-D4CF-E8E8-8634-1C1C6E635064}"/>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4BF37331-2163-AAE6-86CC-831523D62FAA}"/>
              </a:ext>
            </a:extLst>
          </p:cNvPr>
          <p:cNvSpPr>
            <a:spLocks noGrp="1"/>
          </p:cNvSpPr>
          <p:nvPr>
            <p:ph type="sldNum" sz="quarter" idx="18"/>
          </p:nvPr>
        </p:nvSpPr>
        <p:spPr/>
        <p:txBody>
          <a:bodyPr/>
          <a:lstStyle/>
          <a:p>
            <a:fld id="{E917DE0E-AFB1-41FD-BC35-27DB61CA125F}" type="slidenum">
              <a:rPr lang="en-AU" smtClean="0"/>
              <a:pPr/>
              <a:t>23</a:t>
            </a:fld>
            <a:endParaRPr lang="en-AU" dirty="0"/>
          </a:p>
        </p:txBody>
      </p:sp>
      <p:sp>
        <p:nvSpPr>
          <p:cNvPr id="7" name="Date Placeholder 6">
            <a:extLst>
              <a:ext uri="{FF2B5EF4-FFF2-40B4-BE49-F238E27FC236}">
                <a16:creationId xmlns:a16="http://schemas.microsoft.com/office/drawing/2014/main" id="{FE701226-AF07-F2D6-FB2A-84062E545333}"/>
              </a:ext>
            </a:extLst>
          </p:cNvPr>
          <p:cNvSpPr>
            <a:spLocks noGrp="1"/>
          </p:cNvSpPr>
          <p:nvPr>
            <p:ph type="dt" sz="half" idx="2"/>
          </p:nvPr>
        </p:nvSpPr>
        <p:spPr/>
        <p:txBody>
          <a:bodyPr/>
          <a:lstStyle/>
          <a:p>
            <a:r>
              <a:rPr lang="en-US"/>
              <a:t>[Entity Name]</a:t>
            </a:r>
            <a:endParaRPr lang="en-AU" dirty="0"/>
          </a:p>
        </p:txBody>
      </p:sp>
      <p:grpSp>
        <p:nvGrpSpPr>
          <p:cNvPr id="8" name="object 4">
            <a:extLst>
              <a:ext uri="{FF2B5EF4-FFF2-40B4-BE49-F238E27FC236}">
                <a16:creationId xmlns:a16="http://schemas.microsoft.com/office/drawing/2014/main" id="{63FA6B11-C67F-7026-92A6-C179383B781B}"/>
              </a:ext>
            </a:extLst>
          </p:cNvPr>
          <p:cNvGrpSpPr/>
          <p:nvPr/>
        </p:nvGrpSpPr>
        <p:grpSpPr>
          <a:xfrm>
            <a:off x="7815230" y="3807460"/>
            <a:ext cx="4298315" cy="2958465"/>
            <a:chOff x="7116826" y="2421636"/>
            <a:chExt cx="4298315" cy="2958465"/>
          </a:xfrm>
        </p:grpSpPr>
        <p:pic>
          <p:nvPicPr>
            <p:cNvPr id="9" name="object 5">
              <a:extLst>
                <a:ext uri="{FF2B5EF4-FFF2-40B4-BE49-F238E27FC236}">
                  <a16:creationId xmlns:a16="http://schemas.microsoft.com/office/drawing/2014/main" id="{12AF47C6-80FB-D824-B220-E6D96CDC231E}"/>
                </a:ext>
              </a:extLst>
            </p:cNvPr>
            <p:cNvPicPr/>
            <p:nvPr/>
          </p:nvPicPr>
          <p:blipFill>
            <a:blip r:embed="rId2" cstate="print"/>
            <a:stretch>
              <a:fillRect/>
            </a:stretch>
          </p:blipFill>
          <p:spPr>
            <a:xfrm>
              <a:off x="7123176" y="2421636"/>
              <a:ext cx="4291622" cy="2958083"/>
            </a:xfrm>
            <a:prstGeom prst="rect">
              <a:avLst/>
            </a:prstGeom>
          </p:spPr>
        </p:pic>
        <p:sp>
          <p:nvSpPr>
            <p:cNvPr id="10" name="object 6">
              <a:extLst>
                <a:ext uri="{FF2B5EF4-FFF2-40B4-BE49-F238E27FC236}">
                  <a16:creationId xmlns:a16="http://schemas.microsoft.com/office/drawing/2014/main" id="{B3C69AF2-FDA3-2FDA-F1CE-290C2CBC78F2}"/>
                </a:ext>
              </a:extLst>
            </p:cNvPr>
            <p:cNvSpPr/>
            <p:nvPr/>
          </p:nvSpPr>
          <p:spPr>
            <a:xfrm>
              <a:off x="7123176" y="3608832"/>
              <a:ext cx="547370" cy="582295"/>
            </a:xfrm>
            <a:custGeom>
              <a:avLst/>
              <a:gdLst/>
              <a:ahLst/>
              <a:cxnLst/>
              <a:rect l="l" t="t" r="r" b="b"/>
              <a:pathLst>
                <a:path w="547370" h="582295">
                  <a:moveTo>
                    <a:pt x="0" y="291083"/>
                  </a:moveTo>
                  <a:lnTo>
                    <a:pt x="3580" y="243869"/>
                  </a:lnTo>
                  <a:lnTo>
                    <a:pt x="13946" y="199080"/>
                  </a:lnTo>
                  <a:lnTo>
                    <a:pt x="30534" y="157316"/>
                  </a:lnTo>
                  <a:lnTo>
                    <a:pt x="52781" y="119175"/>
                  </a:lnTo>
                  <a:lnTo>
                    <a:pt x="80124" y="85258"/>
                  </a:lnTo>
                  <a:lnTo>
                    <a:pt x="111999" y="56163"/>
                  </a:lnTo>
                  <a:lnTo>
                    <a:pt x="147843" y="32491"/>
                  </a:lnTo>
                  <a:lnTo>
                    <a:pt x="187093" y="14840"/>
                  </a:lnTo>
                  <a:lnTo>
                    <a:pt x="229186" y="3809"/>
                  </a:lnTo>
                  <a:lnTo>
                    <a:pt x="273558" y="0"/>
                  </a:lnTo>
                  <a:lnTo>
                    <a:pt x="317929" y="3809"/>
                  </a:lnTo>
                  <a:lnTo>
                    <a:pt x="360022" y="14840"/>
                  </a:lnTo>
                  <a:lnTo>
                    <a:pt x="399272" y="32491"/>
                  </a:lnTo>
                  <a:lnTo>
                    <a:pt x="435116" y="56163"/>
                  </a:lnTo>
                  <a:lnTo>
                    <a:pt x="466991" y="85258"/>
                  </a:lnTo>
                  <a:lnTo>
                    <a:pt x="494334" y="119175"/>
                  </a:lnTo>
                  <a:lnTo>
                    <a:pt x="516581" y="157316"/>
                  </a:lnTo>
                  <a:lnTo>
                    <a:pt x="533169" y="199080"/>
                  </a:lnTo>
                  <a:lnTo>
                    <a:pt x="543535" y="243869"/>
                  </a:lnTo>
                  <a:lnTo>
                    <a:pt x="547116" y="291083"/>
                  </a:lnTo>
                  <a:lnTo>
                    <a:pt x="543535" y="338298"/>
                  </a:lnTo>
                  <a:lnTo>
                    <a:pt x="533169" y="383087"/>
                  </a:lnTo>
                  <a:lnTo>
                    <a:pt x="516581" y="424851"/>
                  </a:lnTo>
                  <a:lnTo>
                    <a:pt x="494334" y="462992"/>
                  </a:lnTo>
                  <a:lnTo>
                    <a:pt x="466991" y="496909"/>
                  </a:lnTo>
                  <a:lnTo>
                    <a:pt x="435116" y="526004"/>
                  </a:lnTo>
                  <a:lnTo>
                    <a:pt x="399272" y="549676"/>
                  </a:lnTo>
                  <a:lnTo>
                    <a:pt x="360022" y="567327"/>
                  </a:lnTo>
                  <a:lnTo>
                    <a:pt x="317929" y="578358"/>
                  </a:lnTo>
                  <a:lnTo>
                    <a:pt x="273558" y="582167"/>
                  </a:lnTo>
                  <a:lnTo>
                    <a:pt x="229186" y="578358"/>
                  </a:lnTo>
                  <a:lnTo>
                    <a:pt x="187093" y="567327"/>
                  </a:lnTo>
                  <a:lnTo>
                    <a:pt x="147843" y="549676"/>
                  </a:lnTo>
                  <a:lnTo>
                    <a:pt x="111999" y="526004"/>
                  </a:lnTo>
                  <a:lnTo>
                    <a:pt x="80124" y="496909"/>
                  </a:lnTo>
                  <a:lnTo>
                    <a:pt x="52781" y="462992"/>
                  </a:lnTo>
                  <a:lnTo>
                    <a:pt x="30534" y="424851"/>
                  </a:lnTo>
                  <a:lnTo>
                    <a:pt x="13946" y="383087"/>
                  </a:lnTo>
                  <a:lnTo>
                    <a:pt x="3580" y="338298"/>
                  </a:lnTo>
                  <a:lnTo>
                    <a:pt x="0" y="291083"/>
                  </a:lnTo>
                  <a:close/>
                </a:path>
              </a:pathLst>
            </a:custGeom>
            <a:ln w="12700">
              <a:solidFill>
                <a:srgbClr val="391657"/>
              </a:solidFill>
            </a:ln>
          </p:spPr>
          <p:txBody>
            <a:bodyPr wrap="square" lIns="0" tIns="0" rIns="0" bIns="0" rtlCol="0"/>
            <a:lstStyle/>
            <a:p>
              <a:endParaRPr/>
            </a:p>
          </p:txBody>
        </p:sp>
        <p:sp>
          <p:nvSpPr>
            <p:cNvPr id="11" name="object 7">
              <a:extLst>
                <a:ext uri="{FF2B5EF4-FFF2-40B4-BE49-F238E27FC236}">
                  <a16:creationId xmlns:a16="http://schemas.microsoft.com/office/drawing/2014/main" id="{137335B8-2F90-3D79-0CD4-ADB4C599EE5E}"/>
                </a:ext>
              </a:extLst>
            </p:cNvPr>
            <p:cNvSpPr/>
            <p:nvPr/>
          </p:nvSpPr>
          <p:spPr>
            <a:xfrm>
              <a:off x="9008364" y="3663696"/>
              <a:ext cx="548640" cy="582295"/>
            </a:xfrm>
            <a:custGeom>
              <a:avLst/>
              <a:gdLst/>
              <a:ahLst/>
              <a:cxnLst/>
              <a:rect l="l" t="t" r="r" b="b"/>
              <a:pathLst>
                <a:path w="548640" h="582295">
                  <a:moveTo>
                    <a:pt x="0" y="291083"/>
                  </a:moveTo>
                  <a:lnTo>
                    <a:pt x="3590" y="243869"/>
                  </a:lnTo>
                  <a:lnTo>
                    <a:pt x="13985" y="199080"/>
                  </a:lnTo>
                  <a:lnTo>
                    <a:pt x="30619" y="157316"/>
                  </a:lnTo>
                  <a:lnTo>
                    <a:pt x="52929" y="119175"/>
                  </a:lnTo>
                  <a:lnTo>
                    <a:pt x="80348" y="85258"/>
                  </a:lnTo>
                  <a:lnTo>
                    <a:pt x="112312" y="56163"/>
                  </a:lnTo>
                  <a:lnTo>
                    <a:pt x="148256" y="32491"/>
                  </a:lnTo>
                  <a:lnTo>
                    <a:pt x="187615" y="14840"/>
                  </a:lnTo>
                  <a:lnTo>
                    <a:pt x="229824" y="3809"/>
                  </a:lnTo>
                  <a:lnTo>
                    <a:pt x="274320" y="0"/>
                  </a:lnTo>
                  <a:lnTo>
                    <a:pt x="318815" y="3809"/>
                  </a:lnTo>
                  <a:lnTo>
                    <a:pt x="361024" y="14840"/>
                  </a:lnTo>
                  <a:lnTo>
                    <a:pt x="400383" y="32491"/>
                  </a:lnTo>
                  <a:lnTo>
                    <a:pt x="436327" y="56163"/>
                  </a:lnTo>
                  <a:lnTo>
                    <a:pt x="468291" y="85258"/>
                  </a:lnTo>
                  <a:lnTo>
                    <a:pt x="495710" y="119175"/>
                  </a:lnTo>
                  <a:lnTo>
                    <a:pt x="518020" y="157316"/>
                  </a:lnTo>
                  <a:lnTo>
                    <a:pt x="534654" y="199080"/>
                  </a:lnTo>
                  <a:lnTo>
                    <a:pt x="545049" y="243869"/>
                  </a:lnTo>
                  <a:lnTo>
                    <a:pt x="548640" y="291083"/>
                  </a:lnTo>
                  <a:lnTo>
                    <a:pt x="545049" y="338298"/>
                  </a:lnTo>
                  <a:lnTo>
                    <a:pt x="534654" y="383087"/>
                  </a:lnTo>
                  <a:lnTo>
                    <a:pt x="518020" y="424851"/>
                  </a:lnTo>
                  <a:lnTo>
                    <a:pt x="495710" y="462992"/>
                  </a:lnTo>
                  <a:lnTo>
                    <a:pt x="468291" y="496909"/>
                  </a:lnTo>
                  <a:lnTo>
                    <a:pt x="436327" y="526004"/>
                  </a:lnTo>
                  <a:lnTo>
                    <a:pt x="400383" y="549676"/>
                  </a:lnTo>
                  <a:lnTo>
                    <a:pt x="361024" y="567327"/>
                  </a:lnTo>
                  <a:lnTo>
                    <a:pt x="318815" y="578358"/>
                  </a:lnTo>
                  <a:lnTo>
                    <a:pt x="274320" y="582167"/>
                  </a:lnTo>
                  <a:lnTo>
                    <a:pt x="229824" y="578358"/>
                  </a:lnTo>
                  <a:lnTo>
                    <a:pt x="187615" y="567327"/>
                  </a:lnTo>
                  <a:lnTo>
                    <a:pt x="148256" y="549676"/>
                  </a:lnTo>
                  <a:lnTo>
                    <a:pt x="112312" y="526004"/>
                  </a:lnTo>
                  <a:lnTo>
                    <a:pt x="80348" y="496909"/>
                  </a:lnTo>
                  <a:lnTo>
                    <a:pt x="52929" y="462992"/>
                  </a:lnTo>
                  <a:lnTo>
                    <a:pt x="30619" y="424851"/>
                  </a:lnTo>
                  <a:lnTo>
                    <a:pt x="13985" y="383087"/>
                  </a:lnTo>
                  <a:lnTo>
                    <a:pt x="3590" y="338298"/>
                  </a:lnTo>
                  <a:lnTo>
                    <a:pt x="0" y="291083"/>
                  </a:lnTo>
                  <a:close/>
                </a:path>
              </a:pathLst>
            </a:custGeom>
            <a:ln w="12700">
              <a:solidFill>
                <a:srgbClr val="391657"/>
              </a:solidFill>
            </a:ln>
          </p:spPr>
          <p:txBody>
            <a:bodyPr wrap="square" lIns="0" tIns="0" rIns="0" bIns="0" rtlCol="0"/>
            <a:lstStyle/>
            <a:p>
              <a:endParaRPr/>
            </a:p>
          </p:txBody>
        </p:sp>
        <p:sp>
          <p:nvSpPr>
            <p:cNvPr id="12" name="object 8">
              <a:extLst>
                <a:ext uri="{FF2B5EF4-FFF2-40B4-BE49-F238E27FC236}">
                  <a16:creationId xmlns:a16="http://schemas.microsoft.com/office/drawing/2014/main" id="{D2049E19-32CA-EC8B-F92E-09DCBE049012}"/>
                </a:ext>
              </a:extLst>
            </p:cNvPr>
            <p:cNvSpPr/>
            <p:nvPr/>
          </p:nvSpPr>
          <p:spPr>
            <a:xfrm>
              <a:off x="10747247" y="3651503"/>
              <a:ext cx="547370" cy="582295"/>
            </a:xfrm>
            <a:custGeom>
              <a:avLst/>
              <a:gdLst/>
              <a:ahLst/>
              <a:cxnLst/>
              <a:rect l="l" t="t" r="r" b="b"/>
              <a:pathLst>
                <a:path w="547370" h="582295">
                  <a:moveTo>
                    <a:pt x="0" y="291084"/>
                  </a:moveTo>
                  <a:lnTo>
                    <a:pt x="3580" y="243869"/>
                  </a:lnTo>
                  <a:lnTo>
                    <a:pt x="13946" y="199080"/>
                  </a:lnTo>
                  <a:lnTo>
                    <a:pt x="30534" y="157316"/>
                  </a:lnTo>
                  <a:lnTo>
                    <a:pt x="52781" y="119175"/>
                  </a:lnTo>
                  <a:lnTo>
                    <a:pt x="80124" y="85258"/>
                  </a:lnTo>
                  <a:lnTo>
                    <a:pt x="111999" y="56163"/>
                  </a:lnTo>
                  <a:lnTo>
                    <a:pt x="147843" y="32491"/>
                  </a:lnTo>
                  <a:lnTo>
                    <a:pt x="187093" y="14840"/>
                  </a:lnTo>
                  <a:lnTo>
                    <a:pt x="229186" y="3809"/>
                  </a:lnTo>
                  <a:lnTo>
                    <a:pt x="273558" y="0"/>
                  </a:lnTo>
                  <a:lnTo>
                    <a:pt x="317929" y="3809"/>
                  </a:lnTo>
                  <a:lnTo>
                    <a:pt x="360022" y="14840"/>
                  </a:lnTo>
                  <a:lnTo>
                    <a:pt x="399272" y="32491"/>
                  </a:lnTo>
                  <a:lnTo>
                    <a:pt x="435116" y="56163"/>
                  </a:lnTo>
                  <a:lnTo>
                    <a:pt x="466991" y="85258"/>
                  </a:lnTo>
                  <a:lnTo>
                    <a:pt x="494334" y="119175"/>
                  </a:lnTo>
                  <a:lnTo>
                    <a:pt x="516581" y="157316"/>
                  </a:lnTo>
                  <a:lnTo>
                    <a:pt x="533169" y="199080"/>
                  </a:lnTo>
                  <a:lnTo>
                    <a:pt x="543535" y="243869"/>
                  </a:lnTo>
                  <a:lnTo>
                    <a:pt x="547116" y="291084"/>
                  </a:lnTo>
                  <a:lnTo>
                    <a:pt x="543535" y="338298"/>
                  </a:lnTo>
                  <a:lnTo>
                    <a:pt x="533169" y="383087"/>
                  </a:lnTo>
                  <a:lnTo>
                    <a:pt x="516581" y="424851"/>
                  </a:lnTo>
                  <a:lnTo>
                    <a:pt x="494334" y="462992"/>
                  </a:lnTo>
                  <a:lnTo>
                    <a:pt x="466991" y="496909"/>
                  </a:lnTo>
                  <a:lnTo>
                    <a:pt x="435116" y="526004"/>
                  </a:lnTo>
                  <a:lnTo>
                    <a:pt x="399272" y="549676"/>
                  </a:lnTo>
                  <a:lnTo>
                    <a:pt x="360022" y="567327"/>
                  </a:lnTo>
                  <a:lnTo>
                    <a:pt x="317929" y="578358"/>
                  </a:lnTo>
                  <a:lnTo>
                    <a:pt x="273558" y="582168"/>
                  </a:lnTo>
                  <a:lnTo>
                    <a:pt x="229186" y="578358"/>
                  </a:lnTo>
                  <a:lnTo>
                    <a:pt x="187093" y="567327"/>
                  </a:lnTo>
                  <a:lnTo>
                    <a:pt x="147843" y="549676"/>
                  </a:lnTo>
                  <a:lnTo>
                    <a:pt x="111999" y="526004"/>
                  </a:lnTo>
                  <a:lnTo>
                    <a:pt x="80124" y="496909"/>
                  </a:lnTo>
                  <a:lnTo>
                    <a:pt x="52781" y="462992"/>
                  </a:lnTo>
                  <a:lnTo>
                    <a:pt x="30534" y="424851"/>
                  </a:lnTo>
                  <a:lnTo>
                    <a:pt x="13946" y="383087"/>
                  </a:lnTo>
                  <a:lnTo>
                    <a:pt x="3580" y="338298"/>
                  </a:lnTo>
                  <a:lnTo>
                    <a:pt x="0" y="291084"/>
                  </a:lnTo>
                  <a:close/>
                </a:path>
              </a:pathLst>
            </a:custGeom>
            <a:ln w="12700">
              <a:solidFill>
                <a:srgbClr val="391657"/>
              </a:solidFill>
            </a:ln>
          </p:spPr>
          <p:txBody>
            <a:bodyPr wrap="square" lIns="0" tIns="0" rIns="0" bIns="0" rtlCol="0"/>
            <a:lstStyle/>
            <a:p>
              <a:endParaRPr/>
            </a:p>
          </p:txBody>
        </p:sp>
      </p:grpSp>
    </p:spTree>
    <p:extLst>
      <p:ext uri="{BB962C8B-B14F-4D97-AF65-F5344CB8AC3E}">
        <p14:creationId xmlns:p14="http://schemas.microsoft.com/office/powerpoint/2010/main" val="313632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48CA8C-64DE-585F-1A3D-968F61F9F088}"/>
              </a:ext>
            </a:extLst>
          </p:cNvPr>
          <p:cNvSpPr>
            <a:spLocks noGrp="1"/>
          </p:cNvSpPr>
          <p:nvPr>
            <p:ph sz="quarter" idx="10"/>
          </p:nvPr>
        </p:nvSpPr>
        <p:spPr>
          <a:xfrm>
            <a:off x="695326" y="1700213"/>
            <a:ext cx="8030845" cy="4608512"/>
          </a:xfrm>
        </p:spPr>
        <p:txBody>
          <a:bodyPr/>
          <a:lstStyle/>
          <a:p>
            <a:r>
              <a:rPr lang="en-AU" dirty="0"/>
              <a:t>A subtle ridge that runs </a:t>
            </a:r>
            <a:r>
              <a:rPr lang="en-AU" dirty="0" err="1"/>
              <a:t>mesio</a:t>
            </a:r>
            <a:r>
              <a:rPr lang="en-AU" dirty="0"/>
              <a:t>-distally along the cervical region of all dentition, however is most prominent on the permanent molars and primary dentition</a:t>
            </a:r>
          </a:p>
          <a:p>
            <a:pPr marL="285750" indent="-285750">
              <a:buFont typeface="Arial" panose="020B0604020202020204" pitchFamily="34" charset="0"/>
              <a:buChar char="•"/>
            </a:pPr>
            <a:r>
              <a:rPr lang="en-AU" dirty="0"/>
              <a:t>Remember, the cervical region is the location that approximates the junction between the crown and the root</a:t>
            </a:r>
          </a:p>
          <a:p>
            <a:pPr marL="285750" indent="-285750">
              <a:buFont typeface="Arial" panose="020B0604020202020204" pitchFamily="34" charset="0"/>
              <a:buChar char="•"/>
            </a:pPr>
            <a:r>
              <a:rPr lang="en-AU" dirty="0"/>
              <a:t>Note that the cervical ridge does </a:t>
            </a:r>
            <a:r>
              <a:rPr lang="en-AU" b="1" u="sng" dirty="0"/>
              <a:t>not</a:t>
            </a:r>
            <a:r>
              <a:rPr lang="en-AU" dirty="0"/>
              <a:t> extend into the root, only the crown, where the enamel exists</a:t>
            </a:r>
          </a:p>
        </p:txBody>
      </p:sp>
      <p:sp>
        <p:nvSpPr>
          <p:cNvPr id="3" name="Title 2">
            <a:extLst>
              <a:ext uri="{FF2B5EF4-FFF2-40B4-BE49-F238E27FC236}">
                <a16:creationId xmlns:a16="http://schemas.microsoft.com/office/drawing/2014/main" id="{7F0A959C-7CC5-EC0F-61C4-7EE2D4CE6DF2}"/>
              </a:ext>
            </a:extLst>
          </p:cNvPr>
          <p:cNvSpPr>
            <a:spLocks noGrp="1"/>
          </p:cNvSpPr>
          <p:nvPr>
            <p:ph type="title"/>
          </p:nvPr>
        </p:nvSpPr>
        <p:spPr/>
        <p:txBody>
          <a:bodyPr/>
          <a:lstStyle/>
          <a:p>
            <a:r>
              <a:rPr lang="en-AU" dirty="0"/>
              <a:t>Cervical ridge</a:t>
            </a:r>
          </a:p>
        </p:txBody>
      </p:sp>
      <p:sp>
        <p:nvSpPr>
          <p:cNvPr id="4" name="Text Placeholder 3">
            <a:extLst>
              <a:ext uri="{FF2B5EF4-FFF2-40B4-BE49-F238E27FC236}">
                <a16:creationId xmlns:a16="http://schemas.microsoft.com/office/drawing/2014/main" id="{B761FE56-4D26-CECA-719C-F0C091867708}"/>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1302FA7C-968A-06B7-42B0-16C52B53C07D}"/>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42EA2D70-F7C3-D43A-7AF3-9C111E345784}"/>
              </a:ext>
            </a:extLst>
          </p:cNvPr>
          <p:cNvSpPr>
            <a:spLocks noGrp="1"/>
          </p:cNvSpPr>
          <p:nvPr>
            <p:ph type="sldNum" sz="quarter" idx="18"/>
          </p:nvPr>
        </p:nvSpPr>
        <p:spPr/>
        <p:txBody>
          <a:bodyPr/>
          <a:lstStyle/>
          <a:p>
            <a:fld id="{E917DE0E-AFB1-41FD-BC35-27DB61CA125F}" type="slidenum">
              <a:rPr lang="en-AU" smtClean="0"/>
              <a:pPr/>
              <a:t>24</a:t>
            </a:fld>
            <a:endParaRPr lang="en-AU" dirty="0"/>
          </a:p>
        </p:txBody>
      </p:sp>
      <p:sp>
        <p:nvSpPr>
          <p:cNvPr id="7" name="Date Placeholder 6">
            <a:extLst>
              <a:ext uri="{FF2B5EF4-FFF2-40B4-BE49-F238E27FC236}">
                <a16:creationId xmlns:a16="http://schemas.microsoft.com/office/drawing/2014/main" id="{C5612A02-8526-4042-4F12-9C64081AA0D3}"/>
              </a:ext>
            </a:extLst>
          </p:cNvPr>
          <p:cNvSpPr>
            <a:spLocks noGrp="1"/>
          </p:cNvSpPr>
          <p:nvPr>
            <p:ph type="dt" sz="half" idx="2"/>
          </p:nvPr>
        </p:nvSpPr>
        <p:spPr/>
        <p:txBody>
          <a:bodyPr/>
          <a:lstStyle/>
          <a:p>
            <a:r>
              <a:rPr lang="en-US"/>
              <a:t>[Entity Name]</a:t>
            </a:r>
            <a:endParaRPr lang="en-AU" dirty="0"/>
          </a:p>
        </p:txBody>
      </p:sp>
      <p:grpSp>
        <p:nvGrpSpPr>
          <p:cNvPr id="8" name="object 4">
            <a:extLst>
              <a:ext uri="{FF2B5EF4-FFF2-40B4-BE49-F238E27FC236}">
                <a16:creationId xmlns:a16="http://schemas.microsoft.com/office/drawing/2014/main" id="{4A720236-D61D-86CC-AE2D-79F78506FFB5}"/>
              </a:ext>
            </a:extLst>
          </p:cNvPr>
          <p:cNvGrpSpPr/>
          <p:nvPr/>
        </p:nvGrpSpPr>
        <p:grpSpPr>
          <a:xfrm>
            <a:off x="8726171" y="369641"/>
            <a:ext cx="3465829" cy="3950335"/>
            <a:chOff x="7464564" y="1908429"/>
            <a:chExt cx="3465829" cy="3950335"/>
          </a:xfrm>
        </p:grpSpPr>
        <p:pic>
          <p:nvPicPr>
            <p:cNvPr id="9" name="object 5">
              <a:extLst>
                <a:ext uri="{FF2B5EF4-FFF2-40B4-BE49-F238E27FC236}">
                  <a16:creationId xmlns:a16="http://schemas.microsoft.com/office/drawing/2014/main" id="{FAF7A51C-0D43-930F-33E7-0A45DB8C0BCE}"/>
                </a:ext>
              </a:extLst>
            </p:cNvPr>
            <p:cNvPicPr/>
            <p:nvPr/>
          </p:nvPicPr>
          <p:blipFill>
            <a:blip r:embed="rId2" cstate="print"/>
            <a:stretch>
              <a:fillRect/>
            </a:stretch>
          </p:blipFill>
          <p:spPr>
            <a:xfrm>
              <a:off x="7464564" y="2127504"/>
              <a:ext cx="3465563" cy="3730739"/>
            </a:xfrm>
            <a:prstGeom prst="rect">
              <a:avLst/>
            </a:prstGeom>
          </p:spPr>
        </p:pic>
        <p:sp>
          <p:nvSpPr>
            <p:cNvPr id="10" name="object 6">
              <a:extLst>
                <a:ext uri="{FF2B5EF4-FFF2-40B4-BE49-F238E27FC236}">
                  <a16:creationId xmlns:a16="http://schemas.microsoft.com/office/drawing/2014/main" id="{6DFAC51B-893D-E59F-285A-6C48910AECA5}"/>
                </a:ext>
              </a:extLst>
            </p:cNvPr>
            <p:cNvSpPr/>
            <p:nvPr/>
          </p:nvSpPr>
          <p:spPr>
            <a:xfrm>
              <a:off x="8472677" y="1917954"/>
              <a:ext cx="830580" cy="1315085"/>
            </a:xfrm>
            <a:custGeom>
              <a:avLst/>
              <a:gdLst/>
              <a:ahLst/>
              <a:cxnLst/>
              <a:rect l="l" t="t" r="r" b="b"/>
              <a:pathLst>
                <a:path w="830579" h="1315085">
                  <a:moveTo>
                    <a:pt x="0" y="0"/>
                  </a:moveTo>
                  <a:lnTo>
                    <a:pt x="830186" y="1314462"/>
                  </a:lnTo>
                </a:path>
              </a:pathLst>
            </a:custGeom>
            <a:ln w="19050">
              <a:solidFill>
                <a:srgbClr val="FFFF00"/>
              </a:solidFill>
            </a:ln>
          </p:spPr>
          <p:txBody>
            <a:bodyPr wrap="square" lIns="0" tIns="0" rIns="0" bIns="0" rtlCol="0"/>
            <a:lstStyle/>
            <a:p>
              <a:endParaRPr/>
            </a:p>
          </p:txBody>
        </p:sp>
        <p:sp>
          <p:nvSpPr>
            <p:cNvPr id="11" name="object 7">
              <a:extLst>
                <a:ext uri="{FF2B5EF4-FFF2-40B4-BE49-F238E27FC236}">
                  <a16:creationId xmlns:a16="http://schemas.microsoft.com/office/drawing/2014/main" id="{7B3A2A2E-11A8-8C6E-146F-A0F559F5701C}"/>
                </a:ext>
              </a:extLst>
            </p:cNvPr>
            <p:cNvSpPr/>
            <p:nvPr/>
          </p:nvSpPr>
          <p:spPr>
            <a:xfrm>
              <a:off x="9263873" y="3201333"/>
              <a:ext cx="73025" cy="85090"/>
            </a:xfrm>
            <a:custGeom>
              <a:avLst/>
              <a:gdLst/>
              <a:ahLst/>
              <a:cxnLst/>
              <a:rect l="l" t="t" r="r" b="b"/>
              <a:pathLst>
                <a:path w="73025" h="85089">
                  <a:moveTo>
                    <a:pt x="64427" y="0"/>
                  </a:moveTo>
                  <a:lnTo>
                    <a:pt x="0" y="40690"/>
                  </a:lnTo>
                  <a:lnTo>
                    <a:pt x="72897" y="84772"/>
                  </a:lnTo>
                  <a:lnTo>
                    <a:pt x="64427" y="0"/>
                  </a:lnTo>
                  <a:close/>
                </a:path>
              </a:pathLst>
            </a:custGeom>
            <a:solidFill>
              <a:srgbClr val="FFFF00"/>
            </a:solidFill>
          </p:spPr>
          <p:txBody>
            <a:bodyPr wrap="square" lIns="0" tIns="0" rIns="0" bIns="0" rtlCol="0"/>
            <a:lstStyle/>
            <a:p>
              <a:endParaRPr/>
            </a:p>
          </p:txBody>
        </p:sp>
      </p:grpSp>
    </p:spTree>
    <p:extLst>
      <p:ext uri="{BB962C8B-B14F-4D97-AF65-F5344CB8AC3E}">
        <p14:creationId xmlns:p14="http://schemas.microsoft.com/office/powerpoint/2010/main" val="2446226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26795F-D58B-6FE7-40FB-427B64090798}"/>
              </a:ext>
            </a:extLst>
          </p:cNvPr>
          <p:cNvSpPr>
            <a:spLocks noGrp="1"/>
          </p:cNvSpPr>
          <p:nvPr>
            <p:ph sz="quarter" idx="10"/>
          </p:nvPr>
        </p:nvSpPr>
        <p:spPr>
          <a:xfrm>
            <a:off x="695326" y="1700213"/>
            <a:ext cx="8153779" cy="4608512"/>
          </a:xfrm>
        </p:spPr>
        <p:txBody>
          <a:bodyPr/>
          <a:lstStyle/>
          <a:p>
            <a:r>
              <a:rPr lang="en-AU" dirty="0"/>
              <a:t>Cingulum:</a:t>
            </a:r>
          </a:p>
          <a:p>
            <a:pPr marL="285750" indent="-285750">
              <a:buFont typeface="Arial" panose="020B0604020202020204" pitchFamily="34" charset="0"/>
              <a:buChar char="•"/>
            </a:pPr>
            <a:r>
              <a:rPr lang="en-AU" dirty="0"/>
              <a:t>Local prominence formed on the cervical region of the crown, along the lingual/palatal surface, of all </a:t>
            </a:r>
            <a:r>
              <a:rPr lang="en-AU" b="1" u="sng" dirty="0"/>
              <a:t>anterior</a:t>
            </a:r>
            <a:r>
              <a:rPr lang="en-AU" dirty="0"/>
              <a:t> dentition</a:t>
            </a:r>
          </a:p>
          <a:p>
            <a:pPr marL="645750" lvl="2" indent="-285750"/>
            <a:r>
              <a:rPr lang="en-AU" dirty="0"/>
              <a:t>Note that the outline of the anterior, from lingual/palatal view, shows that the incisal edge, marginal ridges, and cingulum all connect to form a margin</a:t>
            </a:r>
          </a:p>
          <a:p>
            <a:r>
              <a:rPr lang="en-AU" dirty="0"/>
              <a:t>Tubercle:</a:t>
            </a:r>
          </a:p>
          <a:p>
            <a:pPr marL="285750" indent="-285750">
              <a:buFont typeface="Arial" panose="020B0604020202020204" pitchFamily="34" charset="0"/>
              <a:buChar char="•"/>
            </a:pPr>
            <a:r>
              <a:rPr lang="en-AU" dirty="0"/>
              <a:t>Local prominence of enamel formed on some portion of the crown</a:t>
            </a:r>
          </a:p>
          <a:p>
            <a:pPr marL="645750" lvl="2" indent="-285750"/>
            <a:r>
              <a:rPr lang="en-AU" dirty="0"/>
              <a:t>The tubercle may sometimes be large, and may form in any particular surface</a:t>
            </a:r>
          </a:p>
          <a:p>
            <a:pPr marL="645750" lvl="2" indent="-285750"/>
            <a:r>
              <a:rPr lang="en-AU" dirty="0"/>
              <a:t>It </a:t>
            </a:r>
            <a:r>
              <a:rPr lang="en-AU" b="1" u="sng" dirty="0"/>
              <a:t>always</a:t>
            </a:r>
            <a:r>
              <a:rPr lang="en-AU" dirty="0"/>
              <a:t> forms on the palatal surface of the </a:t>
            </a:r>
            <a:r>
              <a:rPr lang="en-AU" dirty="0" err="1"/>
              <a:t>mesio</a:t>
            </a:r>
            <a:r>
              <a:rPr lang="en-AU" dirty="0"/>
              <a:t>-palatal cusp on the 1</a:t>
            </a:r>
            <a:r>
              <a:rPr lang="en-AU" baseline="30000" dirty="0"/>
              <a:t>st</a:t>
            </a:r>
            <a:r>
              <a:rPr lang="en-AU" dirty="0"/>
              <a:t> maxillary molar (Cusp of Carabelli)</a:t>
            </a:r>
          </a:p>
        </p:txBody>
      </p:sp>
      <p:sp>
        <p:nvSpPr>
          <p:cNvPr id="3" name="Title 2">
            <a:extLst>
              <a:ext uri="{FF2B5EF4-FFF2-40B4-BE49-F238E27FC236}">
                <a16:creationId xmlns:a16="http://schemas.microsoft.com/office/drawing/2014/main" id="{D5A893B4-36EB-C73F-6A99-4E47EFF53FC2}"/>
              </a:ext>
            </a:extLst>
          </p:cNvPr>
          <p:cNvSpPr>
            <a:spLocks noGrp="1"/>
          </p:cNvSpPr>
          <p:nvPr>
            <p:ph type="title"/>
          </p:nvPr>
        </p:nvSpPr>
        <p:spPr/>
        <p:txBody>
          <a:bodyPr/>
          <a:lstStyle/>
          <a:p>
            <a:r>
              <a:rPr lang="en-AU" dirty="0"/>
              <a:t>Back to </a:t>
            </a:r>
            <a:r>
              <a:rPr lang="en-AU" dirty="0" err="1"/>
              <a:t>anteriors</a:t>
            </a:r>
            <a:r>
              <a:rPr lang="en-AU" dirty="0"/>
              <a:t>, elevation</a:t>
            </a:r>
          </a:p>
        </p:txBody>
      </p:sp>
      <p:sp>
        <p:nvSpPr>
          <p:cNvPr id="4" name="Text Placeholder 3">
            <a:extLst>
              <a:ext uri="{FF2B5EF4-FFF2-40B4-BE49-F238E27FC236}">
                <a16:creationId xmlns:a16="http://schemas.microsoft.com/office/drawing/2014/main" id="{63ADD875-63E3-D67B-C8FC-30AD97E59980}"/>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B42AA4AB-6798-E361-7219-A63A52AEE556}"/>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A4A7C6C2-D97F-3E9E-1D56-607BE961342E}"/>
              </a:ext>
            </a:extLst>
          </p:cNvPr>
          <p:cNvSpPr>
            <a:spLocks noGrp="1"/>
          </p:cNvSpPr>
          <p:nvPr>
            <p:ph type="sldNum" sz="quarter" idx="18"/>
          </p:nvPr>
        </p:nvSpPr>
        <p:spPr/>
        <p:txBody>
          <a:bodyPr/>
          <a:lstStyle/>
          <a:p>
            <a:fld id="{E917DE0E-AFB1-41FD-BC35-27DB61CA125F}" type="slidenum">
              <a:rPr lang="en-AU" smtClean="0"/>
              <a:pPr/>
              <a:t>25</a:t>
            </a:fld>
            <a:endParaRPr lang="en-AU" dirty="0"/>
          </a:p>
        </p:txBody>
      </p:sp>
      <p:sp>
        <p:nvSpPr>
          <p:cNvPr id="7" name="Date Placeholder 6">
            <a:extLst>
              <a:ext uri="{FF2B5EF4-FFF2-40B4-BE49-F238E27FC236}">
                <a16:creationId xmlns:a16="http://schemas.microsoft.com/office/drawing/2014/main" id="{AF0864EA-5FA1-9945-C145-0B4B8F148BE6}"/>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43DCC349-A0F9-000A-2DFF-7DBB1B6DEC5F}"/>
              </a:ext>
            </a:extLst>
          </p:cNvPr>
          <p:cNvPicPr/>
          <p:nvPr/>
        </p:nvPicPr>
        <p:blipFill>
          <a:blip r:embed="rId2" cstate="print"/>
          <a:stretch>
            <a:fillRect/>
          </a:stretch>
        </p:blipFill>
        <p:spPr>
          <a:xfrm>
            <a:off x="9840416" y="620688"/>
            <a:ext cx="2351584" cy="2420888"/>
          </a:xfrm>
          <a:prstGeom prst="rect">
            <a:avLst/>
          </a:prstGeom>
        </p:spPr>
      </p:pic>
      <p:pic>
        <p:nvPicPr>
          <p:cNvPr id="10" name="Picture 2" descr="Figure 1">
            <a:extLst>
              <a:ext uri="{FF2B5EF4-FFF2-40B4-BE49-F238E27FC236}">
                <a16:creationId xmlns:a16="http://schemas.microsoft.com/office/drawing/2014/main" id="{950DC99B-3441-334C-2111-A3F620C621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919" r="23725" b="44982"/>
          <a:stretch>
            <a:fillRect/>
          </a:stretch>
        </p:blipFill>
        <p:spPr bwMode="auto">
          <a:xfrm>
            <a:off x="8835175" y="4291560"/>
            <a:ext cx="3354865" cy="256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249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8BB463-DA03-C72D-E322-6CA392532129}"/>
              </a:ext>
            </a:extLst>
          </p:cNvPr>
          <p:cNvSpPr>
            <a:spLocks noGrp="1"/>
          </p:cNvSpPr>
          <p:nvPr>
            <p:ph sz="quarter" idx="10"/>
          </p:nvPr>
        </p:nvSpPr>
        <p:spPr/>
        <p:txBody>
          <a:bodyPr/>
          <a:lstStyle/>
          <a:p>
            <a:r>
              <a:rPr lang="en-AU" dirty="0"/>
              <a:t>Mamelons</a:t>
            </a:r>
          </a:p>
          <a:p>
            <a:pPr marL="285750" indent="-285750">
              <a:buFont typeface="Arial" panose="020B0604020202020204" pitchFamily="34" charset="0"/>
              <a:buChar char="•"/>
            </a:pPr>
            <a:r>
              <a:rPr lang="en-AU" dirty="0"/>
              <a:t>3 minor tubercles formed along the incisal edges of newly-erupted incisors</a:t>
            </a:r>
          </a:p>
          <a:p>
            <a:pPr marL="285750" indent="-285750">
              <a:buFont typeface="Arial" panose="020B0604020202020204" pitchFamily="34" charset="0"/>
              <a:buChar char="•"/>
            </a:pPr>
            <a:r>
              <a:rPr lang="en-AU" dirty="0"/>
              <a:t>This is associated with the developmental lobe of the tooth during tooth formation</a:t>
            </a:r>
          </a:p>
          <a:p>
            <a:pPr marL="285750" indent="-285750">
              <a:buFont typeface="Arial" panose="020B0604020202020204" pitchFamily="34" charset="0"/>
              <a:buChar char="•"/>
            </a:pPr>
            <a:r>
              <a:rPr lang="en-AU" dirty="0"/>
              <a:t>Mamelons are not present in most adolescents/adults as the dentition grind down from wear over time</a:t>
            </a:r>
          </a:p>
        </p:txBody>
      </p:sp>
      <p:sp>
        <p:nvSpPr>
          <p:cNvPr id="3" name="Title 2">
            <a:extLst>
              <a:ext uri="{FF2B5EF4-FFF2-40B4-BE49-F238E27FC236}">
                <a16:creationId xmlns:a16="http://schemas.microsoft.com/office/drawing/2014/main" id="{9A18122A-9225-BD6F-4A5D-E185B684A72A}"/>
              </a:ext>
            </a:extLst>
          </p:cNvPr>
          <p:cNvSpPr>
            <a:spLocks noGrp="1"/>
          </p:cNvSpPr>
          <p:nvPr>
            <p:ph type="title"/>
          </p:nvPr>
        </p:nvSpPr>
        <p:spPr/>
        <p:txBody>
          <a:bodyPr/>
          <a:lstStyle/>
          <a:p>
            <a:r>
              <a:rPr lang="en-AU" dirty="0"/>
              <a:t>Elevations 2</a:t>
            </a:r>
          </a:p>
        </p:txBody>
      </p:sp>
      <p:sp>
        <p:nvSpPr>
          <p:cNvPr id="4" name="Text Placeholder 3">
            <a:extLst>
              <a:ext uri="{FF2B5EF4-FFF2-40B4-BE49-F238E27FC236}">
                <a16:creationId xmlns:a16="http://schemas.microsoft.com/office/drawing/2014/main" id="{1704DA31-3868-B174-4176-1074EDC340EF}"/>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58F21814-0E38-2876-A599-8C15B2C50AD0}"/>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95D5604A-B3F7-27AD-81E2-197CF3325757}"/>
              </a:ext>
            </a:extLst>
          </p:cNvPr>
          <p:cNvSpPr>
            <a:spLocks noGrp="1"/>
          </p:cNvSpPr>
          <p:nvPr>
            <p:ph type="sldNum" sz="quarter" idx="18"/>
          </p:nvPr>
        </p:nvSpPr>
        <p:spPr/>
        <p:txBody>
          <a:bodyPr/>
          <a:lstStyle/>
          <a:p>
            <a:fld id="{E917DE0E-AFB1-41FD-BC35-27DB61CA125F}" type="slidenum">
              <a:rPr lang="en-AU" smtClean="0"/>
              <a:pPr/>
              <a:t>26</a:t>
            </a:fld>
            <a:endParaRPr lang="en-AU" dirty="0"/>
          </a:p>
        </p:txBody>
      </p:sp>
      <p:sp>
        <p:nvSpPr>
          <p:cNvPr id="7" name="Date Placeholder 6">
            <a:extLst>
              <a:ext uri="{FF2B5EF4-FFF2-40B4-BE49-F238E27FC236}">
                <a16:creationId xmlns:a16="http://schemas.microsoft.com/office/drawing/2014/main" id="{CF97547C-89AD-9C39-9CA3-0D1CBB19888D}"/>
              </a:ext>
            </a:extLst>
          </p:cNvPr>
          <p:cNvSpPr>
            <a:spLocks noGrp="1"/>
          </p:cNvSpPr>
          <p:nvPr>
            <p:ph type="dt" sz="half" idx="2"/>
          </p:nvPr>
        </p:nvSpPr>
        <p:spPr/>
        <p:txBody>
          <a:bodyPr/>
          <a:lstStyle/>
          <a:p>
            <a:r>
              <a:rPr lang="en-US"/>
              <a:t>[Entity Name]</a:t>
            </a:r>
            <a:endParaRPr lang="en-AU" dirty="0"/>
          </a:p>
        </p:txBody>
      </p:sp>
      <p:pic>
        <p:nvPicPr>
          <p:cNvPr id="9" name="object 6">
            <a:extLst>
              <a:ext uri="{FF2B5EF4-FFF2-40B4-BE49-F238E27FC236}">
                <a16:creationId xmlns:a16="http://schemas.microsoft.com/office/drawing/2014/main" id="{37B93881-7C17-605B-DC34-59F359B7CF93}"/>
              </a:ext>
            </a:extLst>
          </p:cNvPr>
          <p:cNvPicPr/>
          <p:nvPr/>
        </p:nvPicPr>
        <p:blipFill>
          <a:blip r:embed="rId2" cstate="print"/>
          <a:srcRect t="11942" b="15002"/>
          <a:stretch>
            <a:fillRect/>
          </a:stretch>
        </p:blipFill>
        <p:spPr>
          <a:xfrm>
            <a:off x="8807197" y="5207989"/>
            <a:ext cx="3384803" cy="1650011"/>
          </a:xfrm>
          <a:prstGeom prst="rect">
            <a:avLst/>
          </a:prstGeom>
        </p:spPr>
      </p:pic>
    </p:spTree>
    <p:extLst>
      <p:ext uri="{BB962C8B-B14F-4D97-AF65-F5344CB8AC3E}">
        <p14:creationId xmlns:p14="http://schemas.microsoft.com/office/powerpoint/2010/main" val="224277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2CD713-DE73-3A97-747C-58CC90805BE9}"/>
              </a:ext>
            </a:extLst>
          </p:cNvPr>
          <p:cNvSpPr>
            <a:spLocks noGrp="1"/>
          </p:cNvSpPr>
          <p:nvPr>
            <p:ph sz="quarter" idx="10"/>
          </p:nvPr>
        </p:nvSpPr>
        <p:spPr>
          <a:xfrm>
            <a:off x="695326" y="1700213"/>
            <a:ext cx="7848946" cy="4608512"/>
          </a:xfrm>
        </p:spPr>
        <p:txBody>
          <a:bodyPr/>
          <a:lstStyle/>
          <a:p>
            <a:r>
              <a:rPr lang="en-AU" dirty="0"/>
              <a:t>Each lobe serves as the local growth centre from which tooth structures form</a:t>
            </a:r>
          </a:p>
          <a:p>
            <a:pPr marL="285750" indent="-285750">
              <a:buFont typeface="Arial" panose="020B0604020202020204" pitchFamily="34" charset="0"/>
              <a:buChar char="•"/>
            </a:pPr>
            <a:r>
              <a:rPr lang="en-AU" dirty="0"/>
              <a:t>Remember that the tooth forms from the crown, not the root</a:t>
            </a:r>
          </a:p>
          <a:p>
            <a:pPr marL="285750" indent="-285750">
              <a:buFont typeface="Arial" panose="020B0604020202020204" pitchFamily="34" charset="0"/>
              <a:buChar char="•"/>
            </a:pPr>
            <a:r>
              <a:rPr lang="en-AU" dirty="0"/>
              <a:t>As the lobes form the tooth, they fuse to form a unified structure</a:t>
            </a:r>
          </a:p>
          <a:p>
            <a:pPr marL="645750" lvl="2" indent="-285750"/>
            <a:r>
              <a:rPr lang="en-AU" dirty="0"/>
              <a:t>Such formation may usually result in shallow depressions along the fusion lines -&gt; adds character to the appearance of dentition</a:t>
            </a:r>
          </a:p>
          <a:p>
            <a:pPr marL="285750" indent="-285750">
              <a:buFont typeface="Arial" panose="020B0604020202020204" pitchFamily="34" charset="0"/>
              <a:buChar char="•"/>
            </a:pPr>
            <a:r>
              <a:rPr lang="en-AU" dirty="0"/>
              <a:t>Note that this is the reason why mamelons form as 3 entities in incisors from eruption</a:t>
            </a:r>
          </a:p>
          <a:p>
            <a:endParaRPr lang="en-AU" dirty="0"/>
          </a:p>
          <a:p>
            <a:r>
              <a:rPr lang="en-AU" dirty="0"/>
              <a:t>In rare instances, lobes of adjacent dentition may accidentally fuse, resulting in a mal-fused tooth/teeth</a:t>
            </a:r>
          </a:p>
        </p:txBody>
      </p:sp>
      <p:sp>
        <p:nvSpPr>
          <p:cNvPr id="3" name="Title 2">
            <a:extLst>
              <a:ext uri="{FF2B5EF4-FFF2-40B4-BE49-F238E27FC236}">
                <a16:creationId xmlns:a16="http://schemas.microsoft.com/office/drawing/2014/main" id="{21D8561A-C297-B4D1-5734-9D4A309C9721}"/>
              </a:ext>
            </a:extLst>
          </p:cNvPr>
          <p:cNvSpPr>
            <a:spLocks noGrp="1"/>
          </p:cNvSpPr>
          <p:nvPr>
            <p:ph type="title"/>
          </p:nvPr>
        </p:nvSpPr>
        <p:spPr/>
        <p:txBody>
          <a:bodyPr/>
          <a:lstStyle/>
          <a:p>
            <a:r>
              <a:rPr lang="en-AU" dirty="0"/>
              <a:t>Developmental lobes</a:t>
            </a:r>
          </a:p>
        </p:txBody>
      </p:sp>
      <p:sp>
        <p:nvSpPr>
          <p:cNvPr id="4" name="Text Placeholder 3">
            <a:extLst>
              <a:ext uri="{FF2B5EF4-FFF2-40B4-BE49-F238E27FC236}">
                <a16:creationId xmlns:a16="http://schemas.microsoft.com/office/drawing/2014/main" id="{D9163846-CC60-2281-9B23-65A004A1FF41}"/>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92B48573-252A-21CA-C90E-05363335C620}"/>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8B01AF95-CC5F-7EB2-2BF6-69A798749EF6}"/>
              </a:ext>
            </a:extLst>
          </p:cNvPr>
          <p:cNvSpPr>
            <a:spLocks noGrp="1"/>
          </p:cNvSpPr>
          <p:nvPr>
            <p:ph type="sldNum" sz="quarter" idx="18"/>
          </p:nvPr>
        </p:nvSpPr>
        <p:spPr/>
        <p:txBody>
          <a:bodyPr/>
          <a:lstStyle/>
          <a:p>
            <a:fld id="{E917DE0E-AFB1-41FD-BC35-27DB61CA125F}" type="slidenum">
              <a:rPr lang="en-AU" smtClean="0"/>
              <a:pPr/>
              <a:t>27</a:t>
            </a:fld>
            <a:endParaRPr lang="en-AU" dirty="0"/>
          </a:p>
        </p:txBody>
      </p:sp>
      <p:sp>
        <p:nvSpPr>
          <p:cNvPr id="7" name="Date Placeholder 6">
            <a:extLst>
              <a:ext uri="{FF2B5EF4-FFF2-40B4-BE49-F238E27FC236}">
                <a16:creationId xmlns:a16="http://schemas.microsoft.com/office/drawing/2014/main" id="{9045AF39-EE7B-64AB-0C93-BDB0EAB8A4DE}"/>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A2709990-DDCF-A656-370C-C622D93DAC9C}"/>
              </a:ext>
            </a:extLst>
          </p:cNvPr>
          <p:cNvPicPr/>
          <p:nvPr/>
        </p:nvPicPr>
        <p:blipFill>
          <a:blip r:embed="rId2" cstate="print"/>
          <a:stretch>
            <a:fillRect/>
          </a:stretch>
        </p:blipFill>
        <p:spPr>
          <a:xfrm>
            <a:off x="8431739" y="665426"/>
            <a:ext cx="3760261" cy="3317815"/>
          </a:xfrm>
          <a:prstGeom prst="rect">
            <a:avLst/>
          </a:prstGeom>
        </p:spPr>
      </p:pic>
      <p:sp>
        <p:nvSpPr>
          <p:cNvPr id="9" name="TextBox 8">
            <a:extLst>
              <a:ext uri="{FF2B5EF4-FFF2-40B4-BE49-F238E27FC236}">
                <a16:creationId xmlns:a16="http://schemas.microsoft.com/office/drawing/2014/main" id="{7AD2597C-3C67-8378-ECF9-78830F752B0D}"/>
              </a:ext>
            </a:extLst>
          </p:cNvPr>
          <p:cNvSpPr txBox="1"/>
          <p:nvPr/>
        </p:nvSpPr>
        <p:spPr>
          <a:xfrm>
            <a:off x="9542219" y="4881874"/>
            <a:ext cx="1954381" cy="369332"/>
          </a:xfrm>
          <a:prstGeom prst="rect">
            <a:avLst/>
          </a:prstGeom>
          <a:noFill/>
        </p:spPr>
        <p:txBody>
          <a:bodyPr wrap="none" rtlCol="0">
            <a:spAutoFit/>
          </a:bodyPr>
          <a:lstStyle/>
          <a:p>
            <a:r>
              <a:rPr lang="en-AU" dirty="0"/>
              <a:t>Cusp of Carabelli</a:t>
            </a:r>
          </a:p>
        </p:txBody>
      </p:sp>
      <p:cxnSp>
        <p:nvCxnSpPr>
          <p:cNvPr id="11" name="Straight Arrow Connector 10">
            <a:extLst>
              <a:ext uri="{FF2B5EF4-FFF2-40B4-BE49-F238E27FC236}">
                <a16:creationId xmlns:a16="http://schemas.microsoft.com/office/drawing/2014/main" id="{1855B5DD-6E5E-C55E-BC1F-416DE4D60183}"/>
              </a:ext>
            </a:extLst>
          </p:cNvPr>
          <p:cNvCxnSpPr/>
          <p:nvPr/>
        </p:nvCxnSpPr>
        <p:spPr>
          <a:xfrm flipH="1" flipV="1">
            <a:off x="10632504" y="3789040"/>
            <a:ext cx="72008" cy="10801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28929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B954E4-05E2-643D-8508-02BD8B9440C7}"/>
              </a:ext>
            </a:extLst>
          </p:cNvPr>
          <p:cNvSpPr>
            <a:spLocks noGrp="1"/>
          </p:cNvSpPr>
          <p:nvPr>
            <p:ph sz="quarter" idx="10"/>
          </p:nvPr>
        </p:nvSpPr>
        <p:spPr>
          <a:xfrm>
            <a:off x="695326" y="1700213"/>
            <a:ext cx="8280994" cy="4608512"/>
          </a:xfrm>
        </p:spPr>
        <p:txBody>
          <a:bodyPr/>
          <a:lstStyle/>
          <a:p>
            <a:r>
              <a:rPr lang="en-AU" dirty="0"/>
              <a:t>Remember that the union of two or more cusps form local depressions and sulcus</a:t>
            </a:r>
          </a:p>
          <a:p>
            <a:pPr marL="285750" indent="-285750">
              <a:buFont typeface="Arial" panose="020B0604020202020204" pitchFamily="34" charset="0"/>
              <a:buChar char="•"/>
            </a:pPr>
            <a:r>
              <a:rPr lang="en-AU" dirty="0"/>
              <a:t>Groove -&gt; a developmental anatomy that forms a major, but narrow, linear depression</a:t>
            </a:r>
          </a:p>
          <a:p>
            <a:pPr marL="645750" lvl="2" indent="-285750"/>
            <a:r>
              <a:rPr lang="en-AU" dirty="0"/>
              <a:t>Developmental groove -&gt; the primary entity that denotes the identification of cusps</a:t>
            </a:r>
          </a:p>
          <a:p>
            <a:pPr marL="825750" lvl="3" indent="-285750"/>
            <a:r>
              <a:rPr lang="en-AU" dirty="0"/>
              <a:t>IE, the base of cusps (junction of lobes) form the developmental groove</a:t>
            </a:r>
          </a:p>
          <a:p>
            <a:pPr marL="645750" lvl="2" indent="-285750"/>
            <a:r>
              <a:rPr lang="en-AU" dirty="0"/>
              <a:t>Supplemental groove -&gt; secondary entities that define characteristics on the local cusp</a:t>
            </a:r>
          </a:p>
          <a:p>
            <a:pPr marL="285750" indent="-285750">
              <a:buFont typeface="Arial" panose="020B0604020202020204" pitchFamily="34" charset="0"/>
              <a:buChar char="•"/>
            </a:pPr>
            <a:r>
              <a:rPr lang="en-AU" dirty="0"/>
              <a:t>Fossa -&gt; local, but overall, concavity/depression regions along regions of the lobe junctions</a:t>
            </a:r>
          </a:p>
          <a:p>
            <a:pPr marL="645750" lvl="2" indent="-285750"/>
            <a:r>
              <a:rPr lang="en-AU" dirty="0"/>
              <a:t>Forms the indentation regions, along which grooves may concurrently traverse to further depress a narrow region in the fossa</a:t>
            </a:r>
          </a:p>
        </p:txBody>
      </p:sp>
      <p:sp>
        <p:nvSpPr>
          <p:cNvPr id="3" name="Title 2">
            <a:extLst>
              <a:ext uri="{FF2B5EF4-FFF2-40B4-BE49-F238E27FC236}">
                <a16:creationId xmlns:a16="http://schemas.microsoft.com/office/drawing/2014/main" id="{E25F4588-FFBB-062B-FEE0-A2AFD0952001}"/>
              </a:ext>
            </a:extLst>
          </p:cNvPr>
          <p:cNvSpPr>
            <a:spLocks noGrp="1"/>
          </p:cNvSpPr>
          <p:nvPr>
            <p:ph type="title"/>
          </p:nvPr>
        </p:nvSpPr>
        <p:spPr/>
        <p:txBody>
          <a:bodyPr/>
          <a:lstStyle/>
          <a:p>
            <a:r>
              <a:rPr lang="en-AU" dirty="0"/>
              <a:t>Back to posteriors, grooves &amp; fossae</a:t>
            </a:r>
          </a:p>
        </p:txBody>
      </p:sp>
      <p:sp>
        <p:nvSpPr>
          <p:cNvPr id="4" name="Text Placeholder 3">
            <a:extLst>
              <a:ext uri="{FF2B5EF4-FFF2-40B4-BE49-F238E27FC236}">
                <a16:creationId xmlns:a16="http://schemas.microsoft.com/office/drawing/2014/main" id="{CBE5B14C-E289-CBA7-066E-14A0381B2D22}"/>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83B5F3E3-4550-CB41-7DA5-8F7DC6191342}"/>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54189551-AB82-9C79-BA46-79D1104B37CA}"/>
              </a:ext>
            </a:extLst>
          </p:cNvPr>
          <p:cNvSpPr>
            <a:spLocks noGrp="1"/>
          </p:cNvSpPr>
          <p:nvPr>
            <p:ph type="sldNum" sz="quarter" idx="18"/>
          </p:nvPr>
        </p:nvSpPr>
        <p:spPr/>
        <p:txBody>
          <a:bodyPr/>
          <a:lstStyle/>
          <a:p>
            <a:fld id="{E917DE0E-AFB1-41FD-BC35-27DB61CA125F}" type="slidenum">
              <a:rPr lang="en-AU" smtClean="0"/>
              <a:pPr/>
              <a:t>28</a:t>
            </a:fld>
            <a:endParaRPr lang="en-AU" dirty="0"/>
          </a:p>
        </p:txBody>
      </p:sp>
      <p:sp>
        <p:nvSpPr>
          <p:cNvPr id="7" name="Date Placeholder 6">
            <a:extLst>
              <a:ext uri="{FF2B5EF4-FFF2-40B4-BE49-F238E27FC236}">
                <a16:creationId xmlns:a16="http://schemas.microsoft.com/office/drawing/2014/main" id="{57E5CEA5-D894-BEBF-5FF7-65A056056C78}"/>
              </a:ext>
            </a:extLst>
          </p:cNvPr>
          <p:cNvSpPr>
            <a:spLocks noGrp="1"/>
          </p:cNvSpPr>
          <p:nvPr>
            <p:ph type="dt" sz="half" idx="2"/>
          </p:nvPr>
        </p:nvSpPr>
        <p:spPr/>
        <p:txBody>
          <a:bodyPr/>
          <a:lstStyle/>
          <a:p>
            <a:r>
              <a:rPr lang="en-US"/>
              <a:t>[Entity Name]</a:t>
            </a:r>
            <a:endParaRPr lang="en-AU" dirty="0"/>
          </a:p>
        </p:txBody>
      </p:sp>
      <p:pic>
        <p:nvPicPr>
          <p:cNvPr id="8" name="object 5">
            <a:extLst>
              <a:ext uri="{FF2B5EF4-FFF2-40B4-BE49-F238E27FC236}">
                <a16:creationId xmlns:a16="http://schemas.microsoft.com/office/drawing/2014/main" id="{330DB6A8-DD3E-1C37-A37A-53977409C66D}"/>
              </a:ext>
            </a:extLst>
          </p:cNvPr>
          <p:cNvPicPr/>
          <p:nvPr/>
        </p:nvPicPr>
        <p:blipFill>
          <a:blip r:embed="rId2" cstate="print"/>
          <a:stretch>
            <a:fillRect/>
          </a:stretch>
        </p:blipFill>
        <p:spPr>
          <a:xfrm>
            <a:off x="9112888" y="4593349"/>
            <a:ext cx="3051047" cy="2264651"/>
          </a:xfrm>
          <a:prstGeom prst="rect">
            <a:avLst/>
          </a:prstGeom>
        </p:spPr>
      </p:pic>
      <p:pic>
        <p:nvPicPr>
          <p:cNvPr id="10" name="object 6">
            <a:extLst>
              <a:ext uri="{FF2B5EF4-FFF2-40B4-BE49-F238E27FC236}">
                <a16:creationId xmlns:a16="http://schemas.microsoft.com/office/drawing/2014/main" id="{4CA84767-58E6-6527-8F5C-2FE6C9AA8298}"/>
              </a:ext>
            </a:extLst>
          </p:cNvPr>
          <p:cNvPicPr/>
          <p:nvPr/>
        </p:nvPicPr>
        <p:blipFill>
          <a:blip r:embed="rId3" cstate="print"/>
          <a:stretch>
            <a:fillRect/>
          </a:stretch>
        </p:blipFill>
        <p:spPr>
          <a:xfrm>
            <a:off x="8976320" y="620255"/>
            <a:ext cx="3231098" cy="3240793"/>
          </a:xfrm>
          <a:prstGeom prst="rect">
            <a:avLst/>
          </a:prstGeom>
        </p:spPr>
      </p:pic>
    </p:spTree>
    <p:extLst>
      <p:ext uri="{BB962C8B-B14F-4D97-AF65-F5344CB8AC3E}">
        <p14:creationId xmlns:p14="http://schemas.microsoft.com/office/powerpoint/2010/main" val="91864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BDEC83-A4E1-5BFD-B8F3-61815ED08FA8}"/>
              </a:ext>
            </a:extLst>
          </p:cNvPr>
          <p:cNvSpPr>
            <a:spLocks noGrp="1"/>
          </p:cNvSpPr>
          <p:nvPr>
            <p:ph sz="quarter" idx="10"/>
          </p:nvPr>
        </p:nvSpPr>
        <p:spPr>
          <a:xfrm>
            <a:off x="695326" y="1700213"/>
            <a:ext cx="8280994" cy="4608512"/>
          </a:xfrm>
        </p:spPr>
        <p:txBody>
          <a:bodyPr/>
          <a:lstStyle/>
          <a:p>
            <a:r>
              <a:rPr lang="en-AU" dirty="0"/>
              <a:t>Grooves are named based on their primary location</a:t>
            </a:r>
          </a:p>
          <a:p>
            <a:pPr marL="285750" indent="-285750">
              <a:buFont typeface="Arial" panose="020B0604020202020204" pitchFamily="34" charset="0"/>
              <a:buChar char="•"/>
            </a:pPr>
            <a:r>
              <a:rPr lang="en-AU" dirty="0"/>
              <a:t>Central groove -&gt; the main groove that segregates the primary axis of the tooth is defined as the central groove (</a:t>
            </a:r>
            <a:r>
              <a:rPr lang="en-AU" dirty="0" err="1"/>
              <a:t>mesio</a:t>
            </a:r>
            <a:r>
              <a:rPr lang="en-AU" dirty="0"/>
              <a:t>-distal axis)</a:t>
            </a:r>
          </a:p>
          <a:p>
            <a:pPr marL="645750" lvl="2" indent="-285750"/>
            <a:r>
              <a:rPr lang="en-AU" dirty="0"/>
              <a:t>If the tooth has more than two cusps, further </a:t>
            </a:r>
            <a:r>
              <a:rPr lang="en-AU" b="1" u="sng" dirty="0"/>
              <a:t>perpendicular</a:t>
            </a:r>
            <a:r>
              <a:rPr lang="en-AU" dirty="0"/>
              <a:t> extensions from the central groove may occur, denoted as the buccal groove or lingual/palatal/oblique groove</a:t>
            </a:r>
          </a:p>
          <a:p>
            <a:pPr marL="285750" indent="-285750">
              <a:buFont typeface="Arial" panose="020B0604020202020204" pitchFamily="34" charset="0"/>
              <a:buChar char="•"/>
            </a:pPr>
            <a:r>
              <a:rPr lang="en-AU" dirty="0"/>
              <a:t>Supplemental groove -&gt; defined by the local cusp it is associated with, but also explicitly identified as a supplemental form (</a:t>
            </a:r>
            <a:r>
              <a:rPr lang="en-AU" dirty="0" err="1"/>
              <a:t>eg</a:t>
            </a:r>
            <a:r>
              <a:rPr lang="en-AU" dirty="0"/>
              <a:t> lingual </a:t>
            </a:r>
            <a:r>
              <a:rPr lang="en-AU" b="1" u="sng" dirty="0"/>
              <a:t>supplemental</a:t>
            </a:r>
            <a:r>
              <a:rPr lang="en-AU" dirty="0"/>
              <a:t> groove)</a:t>
            </a:r>
          </a:p>
          <a:p>
            <a:endParaRPr lang="en-AU" dirty="0"/>
          </a:p>
          <a:p>
            <a:r>
              <a:rPr lang="en-AU" dirty="0"/>
              <a:t>Fossae (plural) are named based on either their location or shape</a:t>
            </a:r>
          </a:p>
          <a:p>
            <a:pPr marL="285750" indent="-285750">
              <a:buFont typeface="Arial" panose="020B0604020202020204" pitchFamily="34" charset="0"/>
              <a:buChar char="•"/>
            </a:pPr>
            <a:r>
              <a:rPr lang="en-AU" dirty="0"/>
              <a:t>Note that the naming convention is either just by location (central, distal, etc) if the shape is circular or ovoid), or location + shape (mesial triangular fossa) if the shape is unique</a:t>
            </a:r>
          </a:p>
          <a:p>
            <a:pPr marL="285750" indent="-285750">
              <a:buFont typeface="Arial" panose="020B0604020202020204" pitchFamily="34" charset="0"/>
              <a:buChar char="•"/>
            </a:pPr>
            <a:endParaRPr lang="en-AU" dirty="0"/>
          </a:p>
        </p:txBody>
      </p:sp>
      <p:sp>
        <p:nvSpPr>
          <p:cNvPr id="3" name="Title 2">
            <a:extLst>
              <a:ext uri="{FF2B5EF4-FFF2-40B4-BE49-F238E27FC236}">
                <a16:creationId xmlns:a16="http://schemas.microsoft.com/office/drawing/2014/main" id="{FACC430D-8A84-E511-376F-EA91419A71C9}"/>
              </a:ext>
            </a:extLst>
          </p:cNvPr>
          <p:cNvSpPr>
            <a:spLocks noGrp="1"/>
          </p:cNvSpPr>
          <p:nvPr>
            <p:ph type="title"/>
          </p:nvPr>
        </p:nvSpPr>
        <p:spPr/>
        <p:txBody>
          <a:bodyPr/>
          <a:lstStyle/>
          <a:p>
            <a:r>
              <a:rPr lang="en-AU" dirty="0"/>
              <a:t>Naming of grooves and fossa</a:t>
            </a:r>
          </a:p>
        </p:txBody>
      </p:sp>
      <p:sp>
        <p:nvSpPr>
          <p:cNvPr id="4" name="Text Placeholder 3">
            <a:extLst>
              <a:ext uri="{FF2B5EF4-FFF2-40B4-BE49-F238E27FC236}">
                <a16:creationId xmlns:a16="http://schemas.microsoft.com/office/drawing/2014/main" id="{79513D75-437B-A6DA-8692-5F669CC58771}"/>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F9DDF478-6E72-CEF5-698D-3E883454734F}"/>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04D446E3-1454-3BA2-1002-039A6D228B96}"/>
              </a:ext>
            </a:extLst>
          </p:cNvPr>
          <p:cNvSpPr>
            <a:spLocks noGrp="1"/>
          </p:cNvSpPr>
          <p:nvPr>
            <p:ph type="sldNum" sz="quarter" idx="18"/>
          </p:nvPr>
        </p:nvSpPr>
        <p:spPr/>
        <p:txBody>
          <a:bodyPr/>
          <a:lstStyle/>
          <a:p>
            <a:fld id="{E917DE0E-AFB1-41FD-BC35-27DB61CA125F}" type="slidenum">
              <a:rPr lang="en-AU" smtClean="0"/>
              <a:pPr/>
              <a:t>29</a:t>
            </a:fld>
            <a:endParaRPr lang="en-AU" dirty="0"/>
          </a:p>
        </p:txBody>
      </p:sp>
      <p:sp>
        <p:nvSpPr>
          <p:cNvPr id="7" name="Date Placeholder 6">
            <a:extLst>
              <a:ext uri="{FF2B5EF4-FFF2-40B4-BE49-F238E27FC236}">
                <a16:creationId xmlns:a16="http://schemas.microsoft.com/office/drawing/2014/main" id="{B4A3E148-E94E-9D61-9E68-68815F3FABD6}"/>
              </a:ext>
            </a:extLst>
          </p:cNvPr>
          <p:cNvSpPr>
            <a:spLocks noGrp="1"/>
          </p:cNvSpPr>
          <p:nvPr>
            <p:ph type="dt" sz="half" idx="2"/>
          </p:nvPr>
        </p:nvSpPr>
        <p:spPr/>
        <p:txBody>
          <a:bodyPr/>
          <a:lstStyle/>
          <a:p>
            <a:r>
              <a:rPr lang="en-US"/>
              <a:t>[Entity Name]</a:t>
            </a:r>
            <a:endParaRPr lang="en-AU" dirty="0"/>
          </a:p>
        </p:txBody>
      </p:sp>
      <p:pic>
        <p:nvPicPr>
          <p:cNvPr id="8" name="object 6">
            <a:extLst>
              <a:ext uri="{FF2B5EF4-FFF2-40B4-BE49-F238E27FC236}">
                <a16:creationId xmlns:a16="http://schemas.microsoft.com/office/drawing/2014/main" id="{FC32576F-30B5-4DEA-BC02-67A0D4C59EEA}"/>
              </a:ext>
            </a:extLst>
          </p:cNvPr>
          <p:cNvPicPr/>
          <p:nvPr/>
        </p:nvPicPr>
        <p:blipFill>
          <a:blip r:embed="rId2" cstate="print"/>
          <a:stretch>
            <a:fillRect/>
          </a:stretch>
        </p:blipFill>
        <p:spPr>
          <a:xfrm>
            <a:off x="8976320" y="620255"/>
            <a:ext cx="3231098" cy="3240793"/>
          </a:xfrm>
          <a:prstGeom prst="rect">
            <a:avLst/>
          </a:prstGeom>
        </p:spPr>
      </p:pic>
      <p:pic>
        <p:nvPicPr>
          <p:cNvPr id="9" name="object 5">
            <a:extLst>
              <a:ext uri="{FF2B5EF4-FFF2-40B4-BE49-F238E27FC236}">
                <a16:creationId xmlns:a16="http://schemas.microsoft.com/office/drawing/2014/main" id="{C3E6A202-B091-A8C5-0FA2-B8ED6621BACE}"/>
              </a:ext>
            </a:extLst>
          </p:cNvPr>
          <p:cNvPicPr/>
          <p:nvPr/>
        </p:nvPicPr>
        <p:blipFill>
          <a:blip r:embed="rId3" cstate="print"/>
          <a:stretch>
            <a:fillRect/>
          </a:stretch>
        </p:blipFill>
        <p:spPr>
          <a:xfrm>
            <a:off x="9112888" y="4593349"/>
            <a:ext cx="3051047" cy="2264651"/>
          </a:xfrm>
          <a:prstGeom prst="rect">
            <a:avLst/>
          </a:prstGeom>
        </p:spPr>
      </p:pic>
    </p:spTree>
    <p:extLst>
      <p:ext uri="{BB962C8B-B14F-4D97-AF65-F5344CB8AC3E}">
        <p14:creationId xmlns:p14="http://schemas.microsoft.com/office/powerpoint/2010/main" val="106704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11D510-F633-A379-17A6-51A12D70ED55}"/>
              </a:ext>
            </a:extLst>
          </p:cNvPr>
          <p:cNvSpPr>
            <a:spLocks noGrp="1"/>
          </p:cNvSpPr>
          <p:nvPr>
            <p:ph sz="quarter" idx="10"/>
          </p:nvPr>
        </p:nvSpPr>
        <p:spPr/>
        <p:txBody>
          <a:bodyPr/>
          <a:lstStyle/>
          <a:p>
            <a:r>
              <a:rPr lang="en-AU" dirty="0"/>
              <a:t>The formation of pits and fissures are from anatomical anomaly, despite it being common in occurrence</a:t>
            </a:r>
          </a:p>
          <a:p>
            <a:pPr marL="285750" indent="-285750">
              <a:buFont typeface="Arial" panose="020B0604020202020204" pitchFamily="34" charset="0"/>
              <a:buChar char="•"/>
            </a:pPr>
            <a:r>
              <a:rPr lang="en-AU" dirty="0"/>
              <a:t>They are denoted by the formation of some cleft (incomplete fusion) of the enamel</a:t>
            </a:r>
          </a:p>
          <a:p>
            <a:endParaRPr lang="en-AU" dirty="0"/>
          </a:p>
          <a:p>
            <a:r>
              <a:rPr lang="en-AU" dirty="0"/>
              <a:t>Pits</a:t>
            </a:r>
          </a:p>
          <a:p>
            <a:pPr marL="285750" indent="-285750">
              <a:buFont typeface="Arial" panose="020B0604020202020204" pitchFamily="34" charset="0"/>
              <a:buChar char="•"/>
            </a:pPr>
            <a:r>
              <a:rPr lang="en-AU" dirty="0"/>
              <a:t>Local, pinpoint entities that form a visible “hole” generally within a fossa</a:t>
            </a:r>
          </a:p>
          <a:p>
            <a:pPr marL="285750" indent="-285750">
              <a:buFont typeface="Arial" panose="020B0604020202020204" pitchFamily="34" charset="0"/>
              <a:buChar char="•"/>
            </a:pPr>
            <a:r>
              <a:rPr lang="en-AU" dirty="0"/>
              <a:t>Pits occur at communicating locations between two or more grooves</a:t>
            </a:r>
          </a:p>
          <a:p>
            <a:endParaRPr lang="en-AU" dirty="0"/>
          </a:p>
          <a:p>
            <a:r>
              <a:rPr lang="en-AU" dirty="0"/>
              <a:t>Fissures</a:t>
            </a:r>
          </a:p>
          <a:p>
            <a:pPr marL="285750" indent="-285750">
              <a:buFont typeface="Arial" panose="020B0604020202020204" pitchFamily="34" charset="0"/>
              <a:buChar char="•"/>
            </a:pPr>
            <a:r>
              <a:rPr lang="en-AU" dirty="0"/>
              <a:t>Narrow, linear cleft in the depth of a groove</a:t>
            </a:r>
          </a:p>
          <a:p>
            <a:pPr marL="645750" lvl="2" indent="-285750"/>
            <a:r>
              <a:rPr lang="en-AU" dirty="0"/>
              <a:t>IE, incomplete fusion of lobe junctions</a:t>
            </a:r>
          </a:p>
        </p:txBody>
      </p:sp>
      <p:sp>
        <p:nvSpPr>
          <p:cNvPr id="3" name="Title 2">
            <a:extLst>
              <a:ext uri="{FF2B5EF4-FFF2-40B4-BE49-F238E27FC236}">
                <a16:creationId xmlns:a16="http://schemas.microsoft.com/office/drawing/2014/main" id="{21D6252D-7FEC-9C71-FB09-A25F0328FE78}"/>
              </a:ext>
            </a:extLst>
          </p:cNvPr>
          <p:cNvSpPr>
            <a:spLocks noGrp="1"/>
          </p:cNvSpPr>
          <p:nvPr>
            <p:ph type="title"/>
          </p:nvPr>
        </p:nvSpPr>
        <p:spPr/>
        <p:txBody>
          <a:bodyPr/>
          <a:lstStyle/>
          <a:p>
            <a:r>
              <a:rPr lang="en-AU" dirty="0"/>
              <a:t>Pits and fissures</a:t>
            </a:r>
          </a:p>
        </p:txBody>
      </p:sp>
      <p:sp>
        <p:nvSpPr>
          <p:cNvPr id="4" name="Text Placeholder 3">
            <a:extLst>
              <a:ext uri="{FF2B5EF4-FFF2-40B4-BE49-F238E27FC236}">
                <a16:creationId xmlns:a16="http://schemas.microsoft.com/office/drawing/2014/main" id="{2E6EEBA4-2B1D-8324-440F-0FD7F0EC11C1}"/>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D7A5CDB6-9C13-A945-B815-42BAC2312CEC}"/>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C88B20F8-A408-6930-9BA6-A3701F38692C}"/>
              </a:ext>
            </a:extLst>
          </p:cNvPr>
          <p:cNvSpPr>
            <a:spLocks noGrp="1"/>
          </p:cNvSpPr>
          <p:nvPr>
            <p:ph type="sldNum" sz="quarter" idx="18"/>
          </p:nvPr>
        </p:nvSpPr>
        <p:spPr/>
        <p:txBody>
          <a:bodyPr/>
          <a:lstStyle/>
          <a:p>
            <a:fld id="{E917DE0E-AFB1-41FD-BC35-27DB61CA125F}" type="slidenum">
              <a:rPr lang="en-AU" smtClean="0"/>
              <a:pPr/>
              <a:t>30</a:t>
            </a:fld>
            <a:endParaRPr lang="en-AU" dirty="0"/>
          </a:p>
        </p:txBody>
      </p:sp>
      <p:sp>
        <p:nvSpPr>
          <p:cNvPr id="7" name="Date Placeholder 6">
            <a:extLst>
              <a:ext uri="{FF2B5EF4-FFF2-40B4-BE49-F238E27FC236}">
                <a16:creationId xmlns:a16="http://schemas.microsoft.com/office/drawing/2014/main" id="{853A0870-F16E-331A-EDFD-02679EBDB080}"/>
              </a:ext>
            </a:extLst>
          </p:cNvPr>
          <p:cNvSpPr>
            <a:spLocks noGrp="1"/>
          </p:cNvSpPr>
          <p:nvPr>
            <p:ph type="dt" sz="half" idx="2"/>
          </p:nvPr>
        </p:nvSpPr>
        <p:spPr/>
        <p:txBody>
          <a:bodyPr/>
          <a:lstStyle/>
          <a:p>
            <a:r>
              <a:rPr lang="en-US"/>
              <a:t>[Entity Name]</a:t>
            </a:r>
            <a:endParaRPr lang="en-AU" dirty="0"/>
          </a:p>
        </p:txBody>
      </p:sp>
      <p:pic>
        <p:nvPicPr>
          <p:cNvPr id="8" name="object 6">
            <a:extLst>
              <a:ext uri="{FF2B5EF4-FFF2-40B4-BE49-F238E27FC236}">
                <a16:creationId xmlns:a16="http://schemas.microsoft.com/office/drawing/2014/main" id="{CED49C60-19D9-CB8F-E2DD-8542F8BD5F72}"/>
              </a:ext>
            </a:extLst>
          </p:cNvPr>
          <p:cNvPicPr/>
          <p:nvPr/>
        </p:nvPicPr>
        <p:blipFill>
          <a:blip r:embed="rId2" cstate="print"/>
          <a:stretch>
            <a:fillRect/>
          </a:stretch>
        </p:blipFill>
        <p:spPr>
          <a:xfrm>
            <a:off x="9264353" y="4437113"/>
            <a:ext cx="2927648" cy="2447106"/>
          </a:xfrm>
          <a:prstGeom prst="rect">
            <a:avLst/>
          </a:prstGeom>
        </p:spPr>
      </p:pic>
    </p:spTree>
    <p:extLst>
      <p:ext uri="{BB962C8B-B14F-4D97-AF65-F5344CB8AC3E}">
        <p14:creationId xmlns:p14="http://schemas.microsoft.com/office/powerpoint/2010/main" val="3305079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86C352-4084-E07D-379F-7C8804FBAE96}"/>
              </a:ext>
            </a:extLst>
          </p:cNvPr>
          <p:cNvSpPr>
            <a:spLocks noGrp="1"/>
          </p:cNvSpPr>
          <p:nvPr>
            <p:ph sz="quarter" idx="10"/>
          </p:nvPr>
        </p:nvSpPr>
        <p:spPr/>
        <p:txBody>
          <a:bodyPr/>
          <a:lstStyle/>
          <a:p>
            <a:r>
              <a:rPr lang="en-AU" dirty="0"/>
              <a:t>The height of contour is important from both the anatomical and positional point of views</a:t>
            </a:r>
          </a:p>
          <a:p>
            <a:pPr marL="285750" indent="-285750">
              <a:buFont typeface="Arial" panose="020B0604020202020204" pitchFamily="34" charset="0"/>
              <a:buChar char="•"/>
            </a:pPr>
            <a:r>
              <a:rPr lang="en-AU" dirty="0"/>
              <a:t>Contour -&gt; shape and extent of the greatest volume/bulge</a:t>
            </a:r>
          </a:p>
          <a:p>
            <a:pPr marL="645750" lvl="2" indent="-285750"/>
            <a:r>
              <a:rPr lang="en-AU" dirty="0"/>
              <a:t>On buccal and lingual/palatal surfaces -&gt; determines direction of food particles being deflected during mastication</a:t>
            </a:r>
          </a:p>
          <a:p>
            <a:pPr marL="645750" lvl="2" indent="-285750"/>
            <a:r>
              <a:rPr lang="en-AU" dirty="0"/>
              <a:t>On lateral surfaces -&gt; defines the point of contact with adjacent dentition</a:t>
            </a:r>
          </a:p>
        </p:txBody>
      </p:sp>
      <p:sp>
        <p:nvSpPr>
          <p:cNvPr id="3" name="Title 2">
            <a:extLst>
              <a:ext uri="{FF2B5EF4-FFF2-40B4-BE49-F238E27FC236}">
                <a16:creationId xmlns:a16="http://schemas.microsoft.com/office/drawing/2014/main" id="{519EEBF9-B090-5377-7308-6D012F54A5F3}"/>
              </a:ext>
            </a:extLst>
          </p:cNvPr>
          <p:cNvSpPr>
            <a:spLocks noGrp="1"/>
          </p:cNvSpPr>
          <p:nvPr>
            <p:ph type="title"/>
          </p:nvPr>
        </p:nvSpPr>
        <p:spPr/>
        <p:txBody>
          <a:bodyPr/>
          <a:lstStyle/>
          <a:p>
            <a:r>
              <a:rPr lang="en-AU" dirty="0"/>
              <a:t>Height of contour</a:t>
            </a:r>
          </a:p>
        </p:txBody>
      </p:sp>
      <p:sp>
        <p:nvSpPr>
          <p:cNvPr id="4" name="Text Placeholder 3">
            <a:extLst>
              <a:ext uri="{FF2B5EF4-FFF2-40B4-BE49-F238E27FC236}">
                <a16:creationId xmlns:a16="http://schemas.microsoft.com/office/drawing/2014/main" id="{64DA9D12-C37E-7204-5306-6217F1EFD190}"/>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31473A7F-5E49-8C91-9360-AFB47A630879}"/>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278F8401-2369-5EA3-8C52-B8E113BFD3E0}"/>
              </a:ext>
            </a:extLst>
          </p:cNvPr>
          <p:cNvSpPr>
            <a:spLocks noGrp="1"/>
          </p:cNvSpPr>
          <p:nvPr>
            <p:ph type="sldNum" sz="quarter" idx="18"/>
          </p:nvPr>
        </p:nvSpPr>
        <p:spPr/>
        <p:txBody>
          <a:bodyPr/>
          <a:lstStyle/>
          <a:p>
            <a:fld id="{E917DE0E-AFB1-41FD-BC35-27DB61CA125F}" type="slidenum">
              <a:rPr lang="en-AU" smtClean="0"/>
              <a:pPr/>
              <a:t>31</a:t>
            </a:fld>
            <a:endParaRPr lang="en-AU" dirty="0"/>
          </a:p>
        </p:txBody>
      </p:sp>
      <p:sp>
        <p:nvSpPr>
          <p:cNvPr id="7" name="Date Placeholder 6">
            <a:extLst>
              <a:ext uri="{FF2B5EF4-FFF2-40B4-BE49-F238E27FC236}">
                <a16:creationId xmlns:a16="http://schemas.microsoft.com/office/drawing/2014/main" id="{657A6816-9BDC-E86C-9E2A-ED66DDDA5416}"/>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9400D31A-312F-0D37-8CC5-02DAE5637711}"/>
              </a:ext>
            </a:extLst>
          </p:cNvPr>
          <p:cNvPicPr/>
          <p:nvPr/>
        </p:nvPicPr>
        <p:blipFill>
          <a:blip r:embed="rId2" cstate="print"/>
          <a:stretch>
            <a:fillRect/>
          </a:stretch>
        </p:blipFill>
        <p:spPr>
          <a:xfrm>
            <a:off x="8130332" y="3992881"/>
            <a:ext cx="4035539" cy="2865119"/>
          </a:xfrm>
          <a:prstGeom prst="rect">
            <a:avLst/>
          </a:prstGeom>
        </p:spPr>
      </p:pic>
    </p:spTree>
    <p:extLst>
      <p:ext uri="{BB962C8B-B14F-4D97-AF65-F5344CB8AC3E}">
        <p14:creationId xmlns:p14="http://schemas.microsoft.com/office/powerpoint/2010/main" val="341014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2B963E-52DA-01FA-5072-E1B758F1A64B}"/>
              </a:ext>
            </a:extLst>
          </p:cNvPr>
          <p:cNvSpPr>
            <a:spLocks noGrp="1"/>
          </p:cNvSpPr>
          <p:nvPr>
            <p:ph sz="quarter" idx="10"/>
          </p:nvPr>
        </p:nvSpPr>
        <p:spPr/>
        <p:txBody>
          <a:bodyPr/>
          <a:lstStyle/>
          <a:p>
            <a:r>
              <a:rPr lang="en-AU" dirty="0"/>
              <a:t>The contact point is the widest region of contour that is flattened such that it forms as surface area of contact between adjacent dentition</a:t>
            </a:r>
          </a:p>
          <a:p>
            <a:pPr marL="285750" indent="-285750">
              <a:buFont typeface="Arial" panose="020B0604020202020204" pitchFamily="34" charset="0"/>
              <a:buChar char="•"/>
            </a:pPr>
            <a:r>
              <a:rPr lang="en-AU" dirty="0"/>
              <a:t>Protects the underlying interproximal gingival (gum) tissue by minimising/preventing food impaction</a:t>
            </a:r>
          </a:p>
          <a:p>
            <a:pPr marL="285750" indent="-285750">
              <a:buFont typeface="Arial" panose="020B0604020202020204" pitchFamily="34" charset="0"/>
              <a:buChar char="•"/>
            </a:pPr>
            <a:r>
              <a:rPr lang="en-AU" dirty="0"/>
              <a:t>Provides support via indirect anchorage of dentition</a:t>
            </a:r>
          </a:p>
          <a:p>
            <a:endParaRPr lang="en-AU" dirty="0"/>
          </a:p>
          <a:p>
            <a:r>
              <a:rPr lang="en-AU" dirty="0"/>
              <a:t>IE, contact point, despite being called a point, is a specific area on the mesial/distal surfaces that contact the adjacent tooth, but is also </a:t>
            </a:r>
            <a:r>
              <a:rPr lang="en-AU" b="1" u="sng" dirty="0"/>
              <a:t>not</a:t>
            </a:r>
            <a:r>
              <a:rPr lang="en-AU" dirty="0"/>
              <a:t> the entire mesial/distal surface that contacts</a:t>
            </a:r>
          </a:p>
        </p:txBody>
      </p:sp>
      <p:sp>
        <p:nvSpPr>
          <p:cNvPr id="3" name="Title 2">
            <a:extLst>
              <a:ext uri="{FF2B5EF4-FFF2-40B4-BE49-F238E27FC236}">
                <a16:creationId xmlns:a16="http://schemas.microsoft.com/office/drawing/2014/main" id="{E2C506D6-F592-D261-AB01-5510846A86D9}"/>
              </a:ext>
            </a:extLst>
          </p:cNvPr>
          <p:cNvSpPr>
            <a:spLocks noGrp="1"/>
          </p:cNvSpPr>
          <p:nvPr>
            <p:ph type="title"/>
          </p:nvPr>
        </p:nvSpPr>
        <p:spPr/>
        <p:txBody>
          <a:bodyPr/>
          <a:lstStyle/>
          <a:p>
            <a:r>
              <a:rPr lang="en-AU" dirty="0"/>
              <a:t>Contact point</a:t>
            </a:r>
          </a:p>
        </p:txBody>
      </p:sp>
      <p:sp>
        <p:nvSpPr>
          <p:cNvPr id="4" name="Text Placeholder 3">
            <a:extLst>
              <a:ext uri="{FF2B5EF4-FFF2-40B4-BE49-F238E27FC236}">
                <a16:creationId xmlns:a16="http://schemas.microsoft.com/office/drawing/2014/main" id="{A79482BD-4312-508A-3948-AB3923AB893D}"/>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919CA0C2-B671-EBB5-3E26-55FAB0C99DB9}"/>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60945C4F-FCDC-BD0F-55FC-DBAC123B64E0}"/>
              </a:ext>
            </a:extLst>
          </p:cNvPr>
          <p:cNvSpPr>
            <a:spLocks noGrp="1"/>
          </p:cNvSpPr>
          <p:nvPr>
            <p:ph type="sldNum" sz="quarter" idx="18"/>
          </p:nvPr>
        </p:nvSpPr>
        <p:spPr/>
        <p:txBody>
          <a:bodyPr/>
          <a:lstStyle/>
          <a:p>
            <a:fld id="{E917DE0E-AFB1-41FD-BC35-27DB61CA125F}" type="slidenum">
              <a:rPr lang="en-AU" smtClean="0"/>
              <a:pPr/>
              <a:t>32</a:t>
            </a:fld>
            <a:endParaRPr lang="en-AU" dirty="0"/>
          </a:p>
        </p:txBody>
      </p:sp>
      <p:sp>
        <p:nvSpPr>
          <p:cNvPr id="7" name="Date Placeholder 6">
            <a:extLst>
              <a:ext uri="{FF2B5EF4-FFF2-40B4-BE49-F238E27FC236}">
                <a16:creationId xmlns:a16="http://schemas.microsoft.com/office/drawing/2014/main" id="{D20E3663-6F86-BBF0-EF69-43451F3F1393}"/>
              </a:ext>
            </a:extLst>
          </p:cNvPr>
          <p:cNvSpPr>
            <a:spLocks noGrp="1"/>
          </p:cNvSpPr>
          <p:nvPr>
            <p:ph type="dt" sz="half" idx="2"/>
          </p:nvPr>
        </p:nvSpPr>
        <p:spPr/>
        <p:txBody>
          <a:bodyPr/>
          <a:lstStyle/>
          <a:p>
            <a:r>
              <a:rPr lang="en-US"/>
              <a:t>[Entity Name]</a:t>
            </a:r>
            <a:endParaRPr lang="en-AU" dirty="0"/>
          </a:p>
        </p:txBody>
      </p:sp>
      <p:pic>
        <p:nvPicPr>
          <p:cNvPr id="8" name="object 7">
            <a:extLst>
              <a:ext uri="{FF2B5EF4-FFF2-40B4-BE49-F238E27FC236}">
                <a16:creationId xmlns:a16="http://schemas.microsoft.com/office/drawing/2014/main" id="{95326EB9-A550-CB49-F8C9-32020BC42F6E}"/>
              </a:ext>
            </a:extLst>
          </p:cNvPr>
          <p:cNvPicPr/>
          <p:nvPr/>
        </p:nvPicPr>
        <p:blipFill>
          <a:blip r:embed="rId2" cstate="print"/>
          <a:stretch>
            <a:fillRect/>
          </a:stretch>
        </p:blipFill>
        <p:spPr>
          <a:xfrm>
            <a:off x="8093229" y="5124539"/>
            <a:ext cx="4098771" cy="1733461"/>
          </a:xfrm>
          <a:prstGeom prst="rect">
            <a:avLst/>
          </a:prstGeom>
        </p:spPr>
      </p:pic>
    </p:spTree>
    <p:extLst>
      <p:ext uri="{BB962C8B-B14F-4D97-AF65-F5344CB8AC3E}">
        <p14:creationId xmlns:p14="http://schemas.microsoft.com/office/powerpoint/2010/main" val="4092314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984FE7-EE31-3010-38FF-2D6B155CE0B5}"/>
              </a:ext>
            </a:extLst>
          </p:cNvPr>
          <p:cNvSpPr>
            <a:spLocks noGrp="1"/>
          </p:cNvSpPr>
          <p:nvPr>
            <p:ph sz="quarter" idx="10"/>
          </p:nvPr>
        </p:nvSpPr>
        <p:spPr/>
        <p:txBody>
          <a:bodyPr/>
          <a:lstStyle/>
          <a:p>
            <a:r>
              <a:rPr lang="en-AU" dirty="0"/>
              <a:t>When adjacent dentition are not in contact, this results in a space/gap </a:t>
            </a:r>
            <a:r>
              <a:rPr lang="en-AU" dirty="0" err="1"/>
              <a:t>interproximally</a:t>
            </a:r>
            <a:endParaRPr lang="en-AU" dirty="0"/>
          </a:p>
          <a:p>
            <a:pPr marL="285750" indent="-285750">
              <a:buFont typeface="Arial" panose="020B0604020202020204" pitchFamily="34" charset="0"/>
              <a:buChar char="•"/>
            </a:pPr>
            <a:r>
              <a:rPr lang="en-AU" dirty="0"/>
              <a:t>This may occur strategically in the paediatric patient -&gt; allows for space for adult dentition to erupt into</a:t>
            </a:r>
          </a:p>
          <a:p>
            <a:pPr marL="285750" indent="-285750">
              <a:buFont typeface="Arial" panose="020B0604020202020204" pitchFamily="34" charset="0"/>
              <a:buChar char="•"/>
            </a:pPr>
            <a:r>
              <a:rPr lang="en-AU" dirty="0"/>
              <a:t>May occur from malocclusion (improper tooth positioning)</a:t>
            </a:r>
          </a:p>
          <a:p>
            <a:endParaRPr lang="en-AU" dirty="0"/>
          </a:p>
          <a:p>
            <a:r>
              <a:rPr lang="en-AU" dirty="0"/>
              <a:t>Specifically, when the interproximal space is between the maxillary central incisors -&gt; known as diastema</a:t>
            </a:r>
          </a:p>
          <a:p>
            <a:pPr marL="285750" indent="-285750">
              <a:buFont typeface="Arial" panose="020B0604020202020204" pitchFamily="34" charset="0"/>
              <a:buChar char="•"/>
            </a:pPr>
            <a:r>
              <a:rPr lang="en-AU" dirty="0"/>
              <a:t>Results in aesthetic “imperfection” which may impact the patient, especially aesthetically/socially</a:t>
            </a:r>
          </a:p>
        </p:txBody>
      </p:sp>
      <p:sp>
        <p:nvSpPr>
          <p:cNvPr id="3" name="Title 2">
            <a:extLst>
              <a:ext uri="{FF2B5EF4-FFF2-40B4-BE49-F238E27FC236}">
                <a16:creationId xmlns:a16="http://schemas.microsoft.com/office/drawing/2014/main" id="{DFB1AA96-0363-B037-33A1-0F4EDFD2631F}"/>
              </a:ext>
            </a:extLst>
          </p:cNvPr>
          <p:cNvSpPr>
            <a:spLocks noGrp="1"/>
          </p:cNvSpPr>
          <p:nvPr>
            <p:ph type="title"/>
          </p:nvPr>
        </p:nvSpPr>
        <p:spPr/>
        <p:txBody>
          <a:bodyPr/>
          <a:lstStyle/>
          <a:p>
            <a:r>
              <a:rPr lang="en-AU" dirty="0"/>
              <a:t>Interproximal spacing</a:t>
            </a:r>
          </a:p>
        </p:txBody>
      </p:sp>
      <p:sp>
        <p:nvSpPr>
          <p:cNvPr id="4" name="Text Placeholder 3">
            <a:extLst>
              <a:ext uri="{FF2B5EF4-FFF2-40B4-BE49-F238E27FC236}">
                <a16:creationId xmlns:a16="http://schemas.microsoft.com/office/drawing/2014/main" id="{8ABC4491-7B52-A9BB-64C6-0CFD7A3653DC}"/>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5C1D1761-C5F4-37D2-2686-F2A223DF611C}"/>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9313E7CA-73BC-D41E-A65B-B320CA3A5C71}"/>
              </a:ext>
            </a:extLst>
          </p:cNvPr>
          <p:cNvSpPr>
            <a:spLocks noGrp="1"/>
          </p:cNvSpPr>
          <p:nvPr>
            <p:ph type="sldNum" sz="quarter" idx="18"/>
          </p:nvPr>
        </p:nvSpPr>
        <p:spPr/>
        <p:txBody>
          <a:bodyPr/>
          <a:lstStyle/>
          <a:p>
            <a:fld id="{E917DE0E-AFB1-41FD-BC35-27DB61CA125F}" type="slidenum">
              <a:rPr lang="en-AU" smtClean="0"/>
              <a:pPr/>
              <a:t>33</a:t>
            </a:fld>
            <a:endParaRPr lang="en-AU" dirty="0"/>
          </a:p>
        </p:txBody>
      </p:sp>
      <p:sp>
        <p:nvSpPr>
          <p:cNvPr id="7" name="Date Placeholder 6">
            <a:extLst>
              <a:ext uri="{FF2B5EF4-FFF2-40B4-BE49-F238E27FC236}">
                <a16:creationId xmlns:a16="http://schemas.microsoft.com/office/drawing/2014/main" id="{72410931-72BF-E061-7EEB-9E8612467C96}"/>
              </a:ext>
            </a:extLst>
          </p:cNvPr>
          <p:cNvSpPr>
            <a:spLocks noGrp="1"/>
          </p:cNvSpPr>
          <p:nvPr>
            <p:ph type="dt" sz="half" idx="2"/>
          </p:nvPr>
        </p:nvSpPr>
        <p:spPr/>
        <p:txBody>
          <a:bodyPr/>
          <a:lstStyle/>
          <a:p>
            <a:r>
              <a:rPr lang="en-US"/>
              <a:t>[Entity Name]</a:t>
            </a:r>
            <a:endParaRPr lang="en-AU" dirty="0"/>
          </a:p>
        </p:txBody>
      </p:sp>
      <p:pic>
        <p:nvPicPr>
          <p:cNvPr id="8" name="object 8">
            <a:extLst>
              <a:ext uri="{FF2B5EF4-FFF2-40B4-BE49-F238E27FC236}">
                <a16:creationId xmlns:a16="http://schemas.microsoft.com/office/drawing/2014/main" id="{D18FBBE4-CECB-5928-3B01-044851427B92}"/>
              </a:ext>
            </a:extLst>
          </p:cNvPr>
          <p:cNvPicPr/>
          <p:nvPr/>
        </p:nvPicPr>
        <p:blipFill>
          <a:blip r:embed="rId2" cstate="print"/>
          <a:stretch>
            <a:fillRect/>
          </a:stretch>
        </p:blipFill>
        <p:spPr>
          <a:xfrm>
            <a:off x="0" y="5239513"/>
            <a:ext cx="4818929" cy="1618487"/>
          </a:xfrm>
          <a:prstGeom prst="rect">
            <a:avLst/>
          </a:prstGeom>
        </p:spPr>
      </p:pic>
      <p:pic>
        <p:nvPicPr>
          <p:cNvPr id="9" name="object 7">
            <a:extLst>
              <a:ext uri="{FF2B5EF4-FFF2-40B4-BE49-F238E27FC236}">
                <a16:creationId xmlns:a16="http://schemas.microsoft.com/office/drawing/2014/main" id="{4DDFBEC8-DC1D-3AD7-75D5-160A81A8D24D}"/>
              </a:ext>
            </a:extLst>
          </p:cNvPr>
          <p:cNvPicPr/>
          <p:nvPr/>
        </p:nvPicPr>
        <p:blipFill>
          <a:blip r:embed="rId3" cstate="print"/>
          <a:stretch>
            <a:fillRect/>
          </a:stretch>
        </p:blipFill>
        <p:spPr>
          <a:xfrm>
            <a:off x="9023605" y="4558285"/>
            <a:ext cx="3168395" cy="2299715"/>
          </a:xfrm>
          <a:prstGeom prst="rect">
            <a:avLst/>
          </a:prstGeom>
        </p:spPr>
      </p:pic>
    </p:spTree>
    <p:extLst>
      <p:ext uri="{BB962C8B-B14F-4D97-AF65-F5344CB8AC3E}">
        <p14:creationId xmlns:p14="http://schemas.microsoft.com/office/powerpoint/2010/main" val="2860158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9E7174-2066-F08E-E9A3-466D53B23267}"/>
              </a:ext>
            </a:extLst>
          </p:cNvPr>
          <p:cNvSpPr>
            <a:spLocks noGrp="1"/>
          </p:cNvSpPr>
          <p:nvPr>
            <p:ph sz="quarter" idx="10"/>
          </p:nvPr>
        </p:nvSpPr>
        <p:spPr>
          <a:xfrm>
            <a:off x="695326" y="1700213"/>
            <a:ext cx="7712583" cy="4608512"/>
          </a:xfrm>
        </p:spPr>
        <p:txBody>
          <a:bodyPr/>
          <a:lstStyle/>
          <a:p>
            <a:r>
              <a:rPr lang="en-AU" dirty="0"/>
              <a:t>Given the notion of prominences and ridges, we can appreciate that the contact between two dentition results in specific curvatures and “negative space”</a:t>
            </a:r>
          </a:p>
          <a:p>
            <a:pPr marL="285750" indent="-285750">
              <a:buFont typeface="Arial" panose="020B0604020202020204" pitchFamily="34" charset="0"/>
              <a:buChar char="•"/>
            </a:pPr>
            <a:r>
              <a:rPr lang="en-AU" dirty="0"/>
              <a:t>Results in four specific triangularly shaped embrasure spaces</a:t>
            </a:r>
          </a:p>
          <a:p>
            <a:pPr marL="285750" indent="-285750">
              <a:buFont typeface="Arial" panose="020B0604020202020204" pitchFamily="34" charset="0"/>
              <a:buChar char="•"/>
            </a:pPr>
            <a:r>
              <a:rPr lang="en-AU" dirty="0"/>
              <a:t>The shape is triangular as it is narrowest at the contact point, and widest away</a:t>
            </a:r>
          </a:p>
          <a:p>
            <a:pPr marL="285750" indent="-285750">
              <a:buFont typeface="Arial" panose="020B0604020202020204" pitchFamily="34" charset="0"/>
              <a:buChar char="•"/>
            </a:pPr>
            <a:r>
              <a:rPr lang="en-AU" dirty="0"/>
              <a:t>Specifically in the gingival embrasure, the height (location) of the contact point along the tooth is critical such that:</a:t>
            </a:r>
          </a:p>
          <a:p>
            <a:pPr marL="645750" lvl="2" indent="-285750"/>
            <a:r>
              <a:rPr lang="en-AU" dirty="0"/>
              <a:t>There is enough embrasure space for interproximal gingiva to fill in the space</a:t>
            </a:r>
          </a:p>
          <a:p>
            <a:pPr marL="825750" lvl="3" indent="-285750"/>
            <a:r>
              <a:rPr lang="en-AU" dirty="0"/>
              <a:t>No food impaction as the gingiva naturally blocks invasion of debris</a:t>
            </a:r>
          </a:p>
          <a:p>
            <a:pPr marL="645750" lvl="2" indent="-285750"/>
            <a:r>
              <a:rPr lang="en-AU" dirty="0"/>
              <a:t>The contact point is not too high that there is empty space above the interproximal gingiva</a:t>
            </a:r>
          </a:p>
        </p:txBody>
      </p:sp>
      <p:sp>
        <p:nvSpPr>
          <p:cNvPr id="3" name="Title 2">
            <a:extLst>
              <a:ext uri="{FF2B5EF4-FFF2-40B4-BE49-F238E27FC236}">
                <a16:creationId xmlns:a16="http://schemas.microsoft.com/office/drawing/2014/main" id="{5A44FCF8-3F17-191D-D6BB-8004FCE64810}"/>
              </a:ext>
            </a:extLst>
          </p:cNvPr>
          <p:cNvSpPr>
            <a:spLocks noGrp="1"/>
          </p:cNvSpPr>
          <p:nvPr>
            <p:ph type="title"/>
          </p:nvPr>
        </p:nvSpPr>
        <p:spPr/>
        <p:txBody>
          <a:bodyPr/>
          <a:lstStyle/>
          <a:p>
            <a:r>
              <a:rPr lang="en-AU" dirty="0"/>
              <a:t>Embrasure space</a:t>
            </a:r>
          </a:p>
        </p:txBody>
      </p:sp>
      <p:sp>
        <p:nvSpPr>
          <p:cNvPr id="4" name="Text Placeholder 3">
            <a:extLst>
              <a:ext uri="{FF2B5EF4-FFF2-40B4-BE49-F238E27FC236}">
                <a16:creationId xmlns:a16="http://schemas.microsoft.com/office/drawing/2014/main" id="{F930238B-66CD-BA71-3743-3C7DE2093787}"/>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1B2B40AC-7ACA-45ED-8C1D-1B8A43C2AF0C}"/>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F1879474-3F9D-3F94-732B-7D513936FF75}"/>
              </a:ext>
            </a:extLst>
          </p:cNvPr>
          <p:cNvSpPr>
            <a:spLocks noGrp="1"/>
          </p:cNvSpPr>
          <p:nvPr>
            <p:ph type="sldNum" sz="quarter" idx="18"/>
          </p:nvPr>
        </p:nvSpPr>
        <p:spPr/>
        <p:txBody>
          <a:bodyPr/>
          <a:lstStyle/>
          <a:p>
            <a:fld id="{E917DE0E-AFB1-41FD-BC35-27DB61CA125F}" type="slidenum">
              <a:rPr lang="en-AU" smtClean="0"/>
              <a:pPr/>
              <a:t>34</a:t>
            </a:fld>
            <a:endParaRPr lang="en-AU" dirty="0"/>
          </a:p>
        </p:txBody>
      </p:sp>
      <p:sp>
        <p:nvSpPr>
          <p:cNvPr id="7" name="Date Placeholder 6">
            <a:extLst>
              <a:ext uri="{FF2B5EF4-FFF2-40B4-BE49-F238E27FC236}">
                <a16:creationId xmlns:a16="http://schemas.microsoft.com/office/drawing/2014/main" id="{85B264A1-318D-558E-421B-17052EF44304}"/>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AC2AE65F-4A28-F335-A7F9-6217B27DB00A}"/>
              </a:ext>
            </a:extLst>
          </p:cNvPr>
          <p:cNvPicPr/>
          <p:nvPr/>
        </p:nvPicPr>
        <p:blipFill>
          <a:blip r:embed="rId2" cstate="print"/>
          <a:stretch>
            <a:fillRect/>
          </a:stretch>
        </p:blipFill>
        <p:spPr>
          <a:xfrm>
            <a:off x="8407909" y="691910"/>
            <a:ext cx="3782567" cy="2737090"/>
          </a:xfrm>
          <a:prstGeom prst="rect">
            <a:avLst/>
          </a:prstGeom>
        </p:spPr>
      </p:pic>
      <p:pic>
        <p:nvPicPr>
          <p:cNvPr id="9" name="object 5">
            <a:extLst>
              <a:ext uri="{FF2B5EF4-FFF2-40B4-BE49-F238E27FC236}">
                <a16:creationId xmlns:a16="http://schemas.microsoft.com/office/drawing/2014/main" id="{BED8FEE6-C82C-75B4-5C4D-B9AFE2A0210C}"/>
              </a:ext>
            </a:extLst>
          </p:cNvPr>
          <p:cNvPicPr/>
          <p:nvPr/>
        </p:nvPicPr>
        <p:blipFill>
          <a:blip r:embed="rId3" cstate="print"/>
          <a:stretch>
            <a:fillRect/>
          </a:stretch>
        </p:blipFill>
        <p:spPr>
          <a:xfrm>
            <a:off x="8407909" y="4226094"/>
            <a:ext cx="3784091" cy="2639567"/>
          </a:xfrm>
          <a:prstGeom prst="rect">
            <a:avLst/>
          </a:prstGeom>
        </p:spPr>
      </p:pic>
    </p:spTree>
    <p:extLst>
      <p:ext uri="{BB962C8B-B14F-4D97-AF65-F5344CB8AC3E}">
        <p14:creationId xmlns:p14="http://schemas.microsoft.com/office/powerpoint/2010/main" val="252700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7FBDD5-3840-AE67-5E27-A64B1A8258B0}"/>
              </a:ext>
            </a:extLst>
          </p:cNvPr>
          <p:cNvSpPr>
            <a:spLocks noGrp="1"/>
          </p:cNvSpPr>
          <p:nvPr>
            <p:ph sz="quarter" idx="10"/>
          </p:nvPr>
        </p:nvSpPr>
        <p:spPr/>
        <p:txBody>
          <a:bodyPr/>
          <a:lstStyle/>
          <a:p>
            <a:endParaRPr lang="en-AU" dirty="0"/>
          </a:p>
        </p:txBody>
      </p:sp>
      <p:sp>
        <p:nvSpPr>
          <p:cNvPr id="3" name="Title 2">
            <a:extLst>
              <a:ext uri="{FF2B5EF4-FFF2-40B4-BE49-F238E27FC236}">
                <a16:creationId xmlns:a16="http://schemas.microsoft.com/office/drawing/2014/main" id="{612EF591-C104-0B3D-37A0-F209474FFB07}"/>
              </a:ext>
            </a:extLst>
          </p:cNvPr>
          <p:cNvSpPr>
            <a:spLocks noGrp="1"/>
          </p:cNvSpPr>
          <p:nvPr>
            <p:ph type="title"/>
          </p:nvPr>
        </p:nvSpPr>
        <p:spPr/>
        <p:txBody>
          <a:bodyPr/>
          <a:lstStyle/>
          <a:p>
            <a:endParaRPr lang="en-AU"/>
          </a:p>
        </p:txBody>
      </p:sp>
      <p:sp>
        <p:nvSpPr>
          <p:cNvPr id="4" name="Text Placeholder 3">
            <a:extLst>
              <a:ext uri="{FF2B5EF4-FFF2-40B4-BE49-F238E27FC236}">
                <a16:creationId xmlns:a16="http://schemas.microsoft.com/office/drawing/2014/main" id="{71C60CA8-6954-6C84-9AEC-306A13BBBD53}"/>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0D09691F-5768-5E3F-1F37-159AC7602A38}"/>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9A0071B2-B3A5-BE13-675D-CBBE44FD33F1}"/>
              </a:ext>
            </a:extLst>
          </p:cNvPr>
          <p:cNvSpPr>
            <a:spLocks noGrp="1"/>
          </p:cNvSpPr>
          <p:nvPr>
            <p:ph type="sldNum" sz="quarter" idx="18"/>
          </p:nvPr>
        </p:nvSpPr>
        <p:spPr/>
        <p:txBody>
          <a:bodyPr/>
          <a:lstStyle/>
          <a:p>
            <a:fld id="{E917DE0E-AFB1-41FD-BC35-27DB61CA125F}" type="slidenum">
              <a:rPr lang="en-AU" smtClean="0"/>
              <a:pPr/>
              <a:t>35</a:t>
            </a:fld>
            <a:endParaRPr lang="en-AU" dirty="0"/>
          </a:p>
        </p:txBody>
      </p:sp>
      <p:sp>
        <p:nvSpPr>
          <p:cNvPr id="7" name="Date Placeholder 6">
            <a:extLst>
              <a:ext uri="{FF2B5EF4-FFF2-40B4-BE49-F238E27FC236}">
                <a16:creationId xmlns:a16="http://schemas.microsoft.com/office/drawing/2014/main" id="{2ED5D637-0505-9508-C648-8A81FF17F236}"/>
              </a:ext>
            </a:extLst>
          </p:cNvPr>
          <p:cNvSpPr>
            <a:spLocks noGrp="1"/>
          </p:cNvSpPr>
          <p:nvPr>
            <p:ph type="dt" sz="half" idx="2"/>
          </p:nvPr>
        </p:nvSpPr>
        <p:spPr/>
        <p:txBody>
          <a:bodyPr/>
          <a:lstStyle/>
          <a:p>
            <a:r>
              <a:rPr lang="en-US"/>
              <a:t>[Entity Name]</a:t>
            </a:r>
            <a:endParaRPr lang="en-AU" dirty="0"/>
          </a:p>
        </p:txBody>
      </p:sp>
      <p:pic>
        <p:nvPicPr>
          <p:cNvPr id="4098" name="Picture 2">
            <a:extLst>
              <a:ext uri="{FF2B5EF4-FFF2-40B4-BE49-F238E27FC236}">
                <a16:creationId xmlns:a16="http://schemas.microsoft.com/office/drawing/2014/main" id="{5B204E7C-AF27-BAC0-8B64-12B64FD28F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795" y="2132881"/>
            <a:ext cx="5272088" cy="35147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A5CEDB76-A21C-01A7-EED1-2C9AFAFB7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2883" y="2132880"/>
            <a:ext cx="5572125" cy="351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42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52FA3D-4B95-810A-8662-887FCC2E19C0}"/>
              </a:ext>
            </a:extLst>
          </p:cNvPr>
          <p:cNvSpPr>
            <a:spLocks noGrp="1"/>
          </p:cNvSpPr>
          <p:nvPr>
            <p:ph sz="quarter" idx="10"/>
          </p:nvPr>
        </p:nvSpPr>
        <p:spPr>
          <a:xfrm>
            <a:off x="695326" y="1700213"/>
            <a:ext cx="8569026" cy="4608512"/>
          </a:xfrm>
        </p:spPr>
        <p:txBody>
          <a:bodyPr/>
          <a:lstStyle/>
          <a:p>
            <a:r>
              <a:rPr lang="en-AU" dirty="0"/>
              <a:t>Note that, based on the information from previous slides, we can identify the following patterns:</a:t>
            </a:r>
          </a:p>
          <a:p>
            <a:pPr marL="285750" indent="-285750">
              <a:buFont typeface="Arial" panose="020B0604020202020204" pitchFamily="34" charset="0"/>
              <a:buChar char="•"/>
            </a:pPr>
            <a:r>
              <a:rPr lang="en-AU" dirty="0"/>
              <a:t>Crown outline -&gt; the overall outline shape of the crown, from occlusal view</a:t>
            </a:r>
          </a:p>
          <a:p>
            <a:pPr marL="285750" indent="-285750">
              <a:buFont typeface="Arial" panose="020B0604020202020204" pitchFamily="34" charset="0"/>
              <a:buChar char="•"/>
            </a:pPr>
            <a:r>
              <a:rPr lang="en-AU" dirty="0"/>
              <a:t>Occlusal table -&gt; the overall surface of the occlusion, bounded by the marginal ridges and </a:t>
            </a:r>
            <a:r>
              <a:rPr lang="en-AU" dirty="0" err="1"/>
              <a:t>cuspal</a:t>
            </a:r>
            <a:r>
              <a:rPr lang="en-AU" dirty="0"/>
              <a:t> ridges</a:t>
            </a:r>
          </a:p>
          <a:p>
            <a:pPr marL="465750" lvl="1" indent="-285750"/>
            <a:r>
              <a:rPr lang="en-AU" dirty="0"/>
              <a:t>In the ideal occlusion, a patient’s occlusal tables will generally follow a unique curve pattern (Curve of Spee)</a:t>
            </a:r>
          </a:p>
          <a:p>
            <a:pPr marL="285750" indent="-285750">
              <a:buFont typeface="Arial" panose="020B0604020202020204" pitchFamily="34" charset="0"/>
              <a:buChar char="•"/>
            </a:pPr>
            <a:r>
              <a:rPr lang="en-AU" dirty="0"/>
              <a:t>Occlusal sulcus -&gt; all dentition demonstrate an overall, general sulcus being the pit of the </a:t>
            </a:r>
            <a:r>
              <a:rPr lang="en-AU" dirty="0" err="1"/>
              <a:t>anteriors</a:t>
            </a:r>
            <a:r>
              <a:rPr lang="en-AU" dirty="0"/>
              <a:t> and central groove of posteriors</a:t>
            </a:r>
          </a:p>
          <a:p>
            <a:pPr marL="645750" lvl="2" indent="-285750"/>
            <a:r>
              <a:rPr lang="en-AU" dirty="0"/>
              <a:t>In the ideal occlusion, a patient’s occlusal sulcus will generally follow a unique arch pattern (maxillary/mandibular </a:t>
            </a:r>
            <a:r>
              <a:rPr lang="en-AU" dirty="0" err="1"/>
              <a:t>archform</a:t>
            </a:r>
            <a:r>
              <a:rPr lang="en-AU" dirty="0"/>
              <a:t>)</a:t>
            </a:r>
          </a:p>
        </p:txBody>
      </p:sp>
      <p:sp>
        <p:nvSpPr>
          <p:cNvPr id="3" name="Title 2">
            <a:extLst>
              <a:ext uri="{FF2B5EF4-FFF2-40B4-BE49-F238E27FC236}">
                <a16:creationId xmlns:a16="http://schemas.microsoft.com/office/drawing/2014/main" id="{5D09FCE4-7CDD-C4C1-9F2B-108BE4FC4A21}"/>
              </a:ext>
            </a:extLst>
          </p:cNvPr>
          <p:cNvSpPr>
            <a:spLocks noGrp="1"/>
          </p:cNvSpPr>
          <p:nvPr>
            <p:ph type="title"/>
          </p:nvPr>
        </p:nvSpPr>
        <p:spPr/>
        <p:txBody>
          <a:bodyPr/>
          <a:lstStyle/>
          <a:p>
            <a:r>
              <a:rPr lang="en-AU" dirty="0"/>
              <a:t>The overall outline form</a:t>
            </a:r>
          </a:p>
        </p:txBody>
      </p:sp>
      <p:sp>
        <p:nvSpPr>
          <p:cNvPr id="4" name="Text Placeholder 3">
            <a:extLst>
              <a:ext uri="{FF2B5EF4-FFF2-40B4-BE49-F238E27FC236}">
                <a16:creationId xmlns:a16="http://schemas.microsoft.com/office/drawing/2014/main" id="{BC9F79F3-77B6-F977-F671-2EE7D482B211}"/>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7ACE18F0-020B-7EA4-8792-B109CC1192FE}"/>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8B181693-9E57-6F67-7159-62C0039052FA}"/>
              </a:ext>
            </a:extLst>
          </p:cNvPr>
          <p:cNvSpPr>
            <a:spLocks noGrp="1"/>
          </p:cNvSpPr>
          <p:nvPr>
            <p:ph type="sldNum" sz="quarter" idx="18"/>
          </p:nvPr>
        </p:nvSpPr>
        <p:spPr/>
        <p:txBody>
          <a:bodyPr/>
          <a:lstStyle/>
          <a:p>
            <a:fld id="{E917DE0E-AFB1-41FD-BC35-27DB61CA125F}" type="slidenum">
              <a:rPr lang="en-AU" smtClean="0"/>
              <a:pPr/>
              <a:t>36</a:t>
            </a:fld>
            <a:endParaRPr lang="en-AU" dirty="0"/>
          </a:p>
        </p:txBody>
      </p:sp>
      <p:sp>
        <p:nvSpPr>
          <p:cNvPr id="7" name="Date Placeholder 6">
            <a:extLst>
              <a:ext uri="{FF2B5EF4-FFF2-40B4-BE49-F238E27FC236}">
                <a16:creationId xmlns:a16="http://schemas.microsoft.com/office/drawing/2014/main" id="{9F017980-1E3E-389D-4E1E-74B9BBDC891C}"/>
              </a:ext>
            </a:extLst>
          </p:cNvPr>
          <p:cNvSpPr>
            <a:spLocks noGrp="1"/>
          </p:cNvSpPr>
          <p:nvPr>
            <p:ph type="dt" sz="half" idx="2"/>
          </p:nvPr>
        </p:nvSpPr>
        <p:spPr/>
        <p:txBody>
          <a:bodyPr/>
          <a:lstStyle/>
          <a:p>
            <a:r>
              <a:rPr lang="en-US"/>
              <a:t>[Entity Name]</a:t>
            </a:r>
            <a:endParaRPr lang="en-AU" dirty="0"/>
          </a:p>
        </p:txBody>
      </p:sp>
      <p:pic>
        <p:nvPicPr>
          <p:cNvPr id="8" name="object 4">
            <a:extLst>
              <a:ext uri="{FF2B5EF4-FFF2-40B4-BE49-F238E27FC236}">
                <a16:creationId xmlns:a16="http://schemas.microsoft.com/office/drawing/2014/main" id="{527E4DA9-B5AC-9C7D-DD82-91D77070AACB}"/>
              </a:ext>
            </a:extLst>
          </p:cNvPr>
          <p:cNvPicPr/>
          <p:nvPr/>
        </p:nvPicPr>
        <p:blipFill>
          <a:blip r:embed="rId2" cstate="print"/>
          <a:srcRect l="20461" b="5364"/>
          <a:stretch>
            <a:fillRect/>
          </a:stretch>
        </p:blipFill>
        <p:spPr>
          <a:xfrm>
            <a:off x="9120336" y="623512"/>
            <a:ext cx="3071664" cy="3653213"/>
          </a:xfrm>
          <a:prstGeom prst="rect">
            <a:avLst/>
          </a:prstGeom>
        </p:spPr>
      </p:pic>
      <p:pic>
        <p:nvPicPr>
          <p:cNvPr id="2050" name="Picture 2">
            <a:extLst>
              <a:ext uri="{FF2B5EF4-FFF2-40B4-BE49-F238E27FC236}">
                <a16:creationId xmlns:a16="http://schemas.microsoft.com/office/drawing/2014/main" id="{0B8C313E-0DE5-79DC-2561-0C5D12E46B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24"/>
          <a:stretch>
            <a:fillRect/>
          </a:stretch>
        </p:blipFill>
        <p:spPr bwMode="auto">
          <a:xfrm>
            <a:off x="9810750" y="4365104"/>
            <a:ext cx="2381250" cy="2492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273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B6B28C-A863-EDEB-6939-F854D270BB92}"/>
              </a:ext>
            </a:extLst>
          </p:cNvPr>
          <p:cNvSpPr>
            <a:spLocks noGrp="1"/>
          </p:cNvSpPr>
          <p:nvPr>
            <p:ph sz="quarter" idx="10"/>
          </p:nvPr>
        </p:nvSpPr>
        <p:spPr/>
        <p:txBody>
          <a:bodyPr/>
          <a:lstStyle/>
          <a:p>
            <a:endParaRPr lang="en-AU"/>
          </a:p>
        </p:txBody>
      </p:sp>
      <p:sp>
        <p:nvSpPr>
          <p:cNvPr id="3" name="Title 2">
            <a:extLst>
              <a:ext uri="{FF2B5EF4-FFF2-40B4-BE49-F238E27FC236}">
                <a16:creationId xmlns:a16="http://schemas.microsoft.com/office/drawing/2014/main" id="{3304489A-8DC1-DE70-3199-66E839D86854}"/>
              </a:ext>
            </a:extLst>
          </p:cNvPr>
          <p:cNvSpPr>
            <a:spLocks noGrp="1"/>
          </p:cNvSpPr>
          <p:nvPr>
            <p:ph type="title"/>
          </p:nvPr>
        </p:nvSpPr>
        <p:spPr/>
        <p:txBody>
          <a:bodyPr/>
          <a:lstStyle/>
          <a:p>
            <a:r>
              <a:rPr lang="en-AU" dirty="0"/>
              <a:t>Primary dentition eruption timing</a:t>
            </a:r>
          </a:p>
        </p:txBody>
      </p:sp>
      <p:sp>
        <p:nvSpPr>
          <p:cNvPr id="4" name="Text Placeholder 3">
            <a:extLst>
              <a:ext uri="{FF2B5EF4-FFF2-40B4-BE49-F238E27FC236}">
                <a16:creationId xmlns:a16="http://schemas.microsoft.com/office/drawing/2014/main" id="{B140FC08-F5DE-9283-2051-322C077C9771}"/>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CD394590-6176-DA0E-AFC1-56930909B877}"/>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C7E1CC70-1166-1AC0-CFEB-74CA98D98C3D}"/>
              </a:ext>
            </a:extLst>
          </p:cNvPr>
          <p:cNvSpPr>
            <a:spLocks noGrp="1"/>
          </p:cNvSpPr>
          <p:nvPr>
            <p:ph type="sldNum" sz="quarter" idx="18"/>
          </p:nvPr>
        </p:nvSpPr>
        <p:spPr/>
        <p:txBody>
          <a:bodyPr/>
          <a:lstStyle/>
          <a:p>
            <a:fld id="{E917DE0E-AFB1-41FD-BC35-27DB61CA125F}" type="slidenum">
              <a:rPr lang="en-AU" smtClean="0"/>
              <a:pPr/>
              <a:t>37</a:t>
            </a:fld>
            <a:endParaRPr lang="en-AU" dirty="0"/>
          </a:p>
        </p:txBody>
      </p:sp>
      <p:sp>
        <p:nvSpPr>
          <p:cNvPr id="7" name="Date Placeholder 6">
            <a:extLst>
              <a:ext uri="{FF2B5EF4-FFF2-40B4-BE49-F238E27FC236}">
                <a16:creationId xmlns:a16="http://schemas.microsoft.com/office/drawing/2014/main" id="{2044DCF3-36E5-51BF-6039-1C83AAC29317}"/>
              </a:ext>
            </a:extLst>
          </p:cNvPr>
          <p:cNvSpPr>
            <a:spLocks noGrp="1"/>
          </p:cNvSpPr>
          <p:nvPr>
            <p:ph type="dt" sz="half" idx="2"/>
          </p:nvPr>
        </p:nvSpPr>
        <p:spPr/>
        <p:txBody>
          <a:bodyPr/>
          <a:lstStyle/>
          <a:p>
            <a:r>
              <a:rPr lang="en-US"/>
              <a:t>[Entity Name]</a:t>
            </a:r>
            <a:endParaRPr lang="en-AU" dirty="0"/>
          </a:p>
        </p:txBody>
      </p:sp>
      <p:pic>
        <p:nvPicPr>
          <p:cNvPr id="8" name="object 3">
            <a:extLst>
              <a:ext uri="{FF2B5EF4-FFF2-40B4-BE49-F238E27FC236}">
                <a16:creationId xmlns:a16="http://schemas.microsoft.com/office/drawing/2014/main" id="{246EC403-BEBB-9574-F374-0E97D21D20B1}"/>
              </a:ext>
            </a:extLst>
          </p:cNvPr>
          <p:cNvPicPr/>
          <p:nvPr/>
        </p:nvPicPr>
        <p:blipFill>
          <a:blip r:embed="rId2" cstate="print"/>
          <a:stretch>
            <a:fillRect/>
          </a:stretch>
        </p:blipFill>
        <p:spPr>
          <a:xfrm>
            <a:off x="1520889" y="1647748"/>
            <a:ext cx="9143987" cy="5009387"/>
          </a:xfrm>
          <a:prstGeom prst="rect">
            <a:avLst/>
          </a:prstGeom>
        </p:spPr>
      </p:pic>
      <p:sp>
        <p:nvSpPr>
          <p:cNvPr id="9" name="object 4">
            <a:extLst>
              <a:ext uri="{FF2B5EF4-FFF2-40B4-BE49-F238E27FC236}">
                <a16:creationId xmlns:a16="http://schemas.microsoft.com/office/drawing/2014/main" id="{E1B8E301-18D0-3296-DE54-2629C75CEB8B}"/>
              </a:ext>
            </a:extLst>
          </p:cNvPr>
          <p:cNvSpPr txBox="1"/>
          <p:nvPr/>
        </p:nvSpPr>
        <p:spPr>
          <a:xfrm>
            <a:off x="442334" y="705739"/>
            <a:ext cx="11301095" cy="262255"/>
          </a:xfrm>
          <a:prstGeom prst="rect">
            <a:avLst/>
          </a:prstGeom>
        </p:spPr>
        <p:txBody>
          <a:bodyPr vert="horz" wrap="square" lIns="0" tIns="3810" rIns="0" bIns="0" rtlCol="0">
            <a:spAutoFit/>
          </a:bodyPr>
          <a:lstStyle/>
          <a:p>
            <a:pPr marL="12700" marR="5080">
              <a:lnSpc>
                <a:spcPct val="100000"/>
              </a:lnSpc>
              <a:spcBef>
                <a:spcPts val="30"/>
              </a:spcBef>
            </a:pPr>
            <a:r>
              <a:rPr sz="800" dirty="0">
                <a:solidFill>
                  <a:srgbClr val="161412"/>
                </a:solidFill>
                <a:latin typeface="Arial"/>
                <a:cs typeface="Arial"/>
              </a:rPr>
              <a:t>Chart</a:t>
            </a:r>
            <a:r>
              <a:rPr sz="800" spc="-25" dirty="0">
                <a:solidFill>
                  <a:srgbClr val="161412"/>
                </a:solidFill>
                <a:latin typeface="Arial"/>
                <a:cs typeface="Arial"/>
              </a:rPr>
              <a:t> </a:t>
            </a:r>
            <a:r>
              <a:rPr sz="800" dirty="0">
                <a:solidFill>
                  <a:srgbClr val="161412"/>
                </a:solidFill>
                <a:latin typeface="Arial"/>
                <a:cs typeface="Arial"/>
              </a:rPr>
              <a:t>based</a:t>
            </a:r>
            <a:r>
              <a:rPr sz="800" spc="-15" dirty="0">
                <a:solidFill>
                  <a:srgbClr val="161412"/>
                </a:solidFill>
                <a:latin typeface="Arial"/>
                <a:cs typeface="Arial"/>
              </a:rPr>
              <a:t> </a:t>
            </a:r>
            <a:r>
              <a:rPr sz="800" dirty="0">
                <a:solidFill>
                  <a:srgbClr val="161412"/>
                </a:solidFill>
                <a:latin typeface="Arial"/>
                <a:cs typeface="Arial"/>
              </a:rPr>
              <a:t>on</a:t>
            </a:r>
            <a:r>
              <a:rPr sz="800" spc="-15" dirty="0">
                <a:solidFill>
                  <a:srgbClr val="161412"/>
                </a:solidFill>
                <a:latin typeface="Arial"/>
                <a:cs typeface="Arial"/>
              </a:rPr>
              <a:t> </a:t>
            </a:r>
            <a:r>
              <a:rPr sz="800" dirty="0">
                <a:solidFill>
                  <a:srgbClr val="161412"/>
                </a:solidFill>
                <a:latin typeface="Arial"/>
                <a:cs typeface="Arial"/>
              </a:rPr>
              <a:t>Logan</a:t>
            </a:r>
            <a:r>
              <a:rPr sz="800" spc="-5" dirty="0">
                <a:solidFill>
                  <a:srgbClr val="161412"/>
                </a:solidFill>
                <a:latin typeface="Arial"/>
                <a:cs typeface="Arial"/>
              </a:rPr>
              <a:t> </a:t>
            </a:r>
            <a:r>
              <a:rPr sz="800" dirty="0">
                <a:solidFill>
                  <a:srgbClr val="161412"/>
                </a:solidFill>
                <a:latin typeface="Arial"/>
                <a:cs typeface="Arial"/>
              </a:rPr>
              <a:t>WH,</a:t>
            </a:r>
            <a:r>
              <a:rPr sz="800" spc="-55" dirty="0">
                <a:solidFill>
                  <a:srgbClr val="161412"/>
                </a:solidFill>
                <a:latin typeface="Arial"/>
                <a:cs typeface="Arial"/>
              </a:rPr>
              <a:t> </a:t>
            </a:r>
            <a:r>
              <a:rPr sz="800" dirty="0">
                <a:solidFill>
                  <a:srgbClr val="161412"/>
                </a:solidFill>
                <a:latin typeface="Arial"/>
                <a:cs typeface="Arial"/>
              </a:rPr>
              <a:t>Kronfield</a:t>
            </a:r>
            <a:r>
              <a:rPr sz="800" spc="-15" dirty="0">
                <a:solidFill>
                  <a:srgbClr val="161412"/>
                </a:solidFill>
                <a:latin typeface="Arial"/>
                <a:cs typeface="Arial"/>
              </a:rPr>
              <a:t> </a:t>
            </a:r>
            <a:r>
              <a:rPr sz="800" dirty="0">
                <a:solidFill>
                  <a:srgbClr val="161412"/>
                </a:solidFill>
                <a:latin typeface="Arial"/>
                <a:cs typeface="Arial"/>
              </a:rPr>
              <a:t>R.</a:t>
            </a:r>
            <a:r>
              <a:rPr sz="800" spc="-30" dirty="0">
                <a:solidFill>
                  <a:srgbClr val="161412"/>
                </a:solidFill>
                <a:latin typeface="Arial"/>
                <a:cs typeface="Arial"/>
              </a:rPr>
              <a:t> </a:t>
            </a:r>
            <a:r>
              <a:rPr sz="800" dirty="0">
                <a:solidFill>
                  <a:srgbClr val="161412"/>
                </a:solidFill>
                <a:latin typeface="Arial"/>
                <a:cs typeface="Arial"/>
              </a:rPr>
              <a:t>Development</a:t>
            </a:r>
            <a:r>
              <a:rPr sz="800" spc="-5" dirty="0">
                <a:solidFill>
                  <a:srgbClr val="161412"/>
                </a:solidFill>
                <a:latin typeface="Arial"/>
                <a:cs typeface="Arial"/>
              </a:rPr>
              <a:t> </a:t>
            </a:r>
            <a:r>
              <a:rPr sz="800" dirty="0">
                <a:solidFill>
                  <a:srgbClr val="161412"/>
                </a:solidFill>
                <a:latin typeface="Arial"/>
                <a:cs typeface="Arial"/>
              </a:rPr>
              <a:t>of</a:t>
            </a:r>
            <a:r>
              <a:rPr sz="800" spc="-20" dirty="0">
                <a:solidFill>
                  <a:srgbClr val="161412"/>
                </a:solidFill>
                <a:latin typeface="Arial"/>
                <a:cs typeface="Arial"/>
              </a:rPr>
              <a:t> </a:t>
            </a:r>
            <a:r>
              <a:rPr sz="800" dirty="0">
                <a:solidFill>
                  <a:srgbClr val="161412"/>
                </a:solidFill>
                <a:latin typeface="Arial"/>
                <a:cs typeface="Arial"/>
              </a:rPr>
              <a:t>the</a:t>
            </a:r>
            <a:r>
              <a:rPr sz="800" spc="-25" dirty="0">
                <a:solidFill>
                  <a:srgbClr val="161412"/>
                </a:solidFill>
                <a:latin typeface="Arial"/>
                <a:cs typeface="Arial"/>
              </a:rPr>
              <a:t> </a:t>
            </a:r>
            <a:r>
              <a:rPr sz="800" dirty="0">
                <a:solidFill>
                  <a:srgbClr val="161412"/>
                </a:solidFill>
                <a:latin typeface="Arial"/>
                <a:cs typeface="Arial"/>
              </a:rPr>
              <a:t>human</a:t>
            </a:r>
            <a:r>
              <a:rPr sz="800" spc="-25" dirty="0">
                <a:solidFill>
                  <a:srgbClr val="161412"/>
                </a:solidFill>
                <a:latin typeface="Arial"/>
                <a:cs typeface="Arial"/>
              </a:rPr>
              <a:t> </a:t>
            </a:r>
            <a:r>
              <a:rPr sz="800" dirty="0">
                <a:solidFill>
                  <a:srgbClr val="161412"/>
                </a:solidFill>
                <a:latin typeface="Arial"/>
                <a:cs typeface="Arial"/>
              </a:rPr>
              <a:t>jaws</a:t>
            </a:r>
            <a:r>
              <a:rPr sz="800" spc="-15" dirty="0">
                <a:solidFill>
                  <a:srgbClr val="161412"/>
                </a:solidFill>
                <a:latin typeface="Arial"/>
                <a:cs typeface="Arial"/>
              </a:rPr>
              <a:t> </a:t>
            </a:r>
            <a:r>
              <a:rPr sz="800" dirty="0">
                <a:solidFill>
                  <a:srgbClr val="161412"/>
                </a:solidFill>
                <a:latin typeface="Arial"/>
                <a:cs typeface="Arial"/>
              </a:rPr>
              <a:t>and</a:t>
            </a:r>
            <a:r>
              <a:rPr sz="800" spc="-15" dirty="0">
                <a:solidFill>
                  <a:srgbClr val="161412"/>
                </a:solidFill>
                <a:latin typeface="Arial"/>
                <a:cs typeface="Arial"/>
              </a:rPr>
              <a:t> </a:t>
            </a:r>
            <a:r>
              <a:rPr sz="800" dirty="0">
                <a:solidFill>
                  <a:srgbClr val="161412"/>
                </a:solidFill>
                <a:latin typeface="Arial"/>
                <a:cs typeface="Arial"/>
              </a:rPr>
              <a:t>surrounding</a:t>
            </a:r>
            <a:r>
              <a:rPr sz="800" spc="-5" dirty="0">
                <a:solidFill>
                  <a:srgbClr val="161412"/>
                </a:solidFill>
                <a:latin typeface="Arial"/>
                <a:cs typeface="Arial"/>
              </a:rPr>
              <a:t> </a:t>
            </a:r>
            <a:r>
              <a:rPr sz="800" dirty="0">
                <a:solidFill>
                  <a:srgbClr val="161412"/>
                </a:solidFill>
                <a:latin typeface="Arial"/>
                <a:cs typeface="Arial"/>
              </a:rPr>
              <a:t>structures</a:t>
            </a:r>
            <a:r>
              <a:rPr sz="800" spc="-30" dirty="0">
                <a:solidFill>
                  <a:srgbClr val="161412"/>
                </a:solidFill>
                <a:latin typeface="Arial"/>
                <a:cs typeface="Arial"/>
              </a:rPr>
              <a:t> </a:t>
            </a:r>
            <a:r>
              <a:rPr sz="800" dirty="0">
                <a:solidFill>
                  <a:srgbClr val="161412"/>
                </a:solidFill>
                <a:latin typeface="Arial"/>
                <a:cs typeface="Arial"/>
              </a:rPr>
              <a:t>from</a:t>
            </a:r>
            <a:r>
              <a:rPr sz="800" spc="-30" dirty="0">
                <a:solidFill>
                  <a:srgbClr val="161412"/>
                </a:solidFill>
                <a:latin typeface="Arial"/>
                <a:cs typeface="Arial"/>
              </a:rPr>
              <a:t> </a:t>
            </a:r>
            <a:r>
              <a:rPr sz="800" dirty="0">
                <a:solidFill>
                  <a:srgbClr val="161412"/>
                </a:solidFill>
                <a:latin typeface="Arial"/>
                <a:cs typeface="Arial"/>
              </a:rPr>
              <a:t>birth</a:t>
            </a:r>
            <a:r>
              <a:rPr sz="800" spc="-25" dirty="0">
                <a:solidFill>
                  <a:srgbClr val="161412"/>
                </a:solidFill>
                <a:latin typeface="Arial"/>
                <a:cs typeface="Arial"/>
              </a:rPr>
              <a:t> </a:t>
            </a:r>
            <a:r>
              <a:rPr sz="800" dirty="0">
                <a:solidFill>
                  <a:srgbClr val="161412"/>
                </a:solidFill>
                <a:latin typeface="Arial"/>
                <a:cs typeface="Arial"/>
              </a:rPr>
              <a:t>to</a:t>
            </a:r>
            <a:r>
              <a:rPr sz="800" spc="-25" dirty="0">
                <a:solidFill>
                  <a:srgbClr val="161412"/>
                </a:solidFill>
                <a:latin typeface="Arial"/>
                <a:cs typeface="Arial"/>
              </a:rPr>
              <a:t> </a:t>
            </a:r>
            <a:r>
              <a:rPr sz="800" dirty="0">
                <a:solidFill>
                  <a:srgbClr val="161412"/>
                </a:solidFill>
                <a:latin typeface="Arial"/>
                <a:cs typeface="Arial"/>
              </a:rPr>
              <a:t>age</a:t>
            </a:r>
            <a:r>
              <a:rPr sz="800" spc="-15" dirty="0">
                <a:solidFill>
                  <a:srgbClr val="161412"/>
                </a:solidFill>
                <a:latin typeface="Arial"/>
                <a:cs typeface="Arial"/>
              </a:rPr>
              <a:t> </a:t>
            </a:r>
            <a:r>
              <a:rPr sz="800" dirty="0">
                <a:solidFill>
                  <a:srgbClr val="161412"/>
                </a:solidFill>
                <a:latin typeface="Arial"/>
                <a:cs typeface="Arial"/>
              </a:rPr>
              <a:t>fifteen.</a:t>
            </a:r>
            <a:r>
              <a:rPr sz="800" spc="-15" dirty="0">
                <a:solidFill>
                  <a:srgbClr val="161412"/>
                </a:solidFill>
                <a:latin typeface="Arial"/>
                <a:cs typeface="Arial"/>
              </a:rPr>
              <a:t> </a:t>
            </a:r>
            <a:r>
              <a:rPr sz="800" dirty="0">
                <a:solidFill>
                  <a:srgbClr val="161412"/>
                </a:solidFill>
                <a:latin typeface="Arial"/>
                <a:cs typeface="Arial"/>
              </a:rPr>
              <a:t>JADA</a:t>
            </a:r>
            <a:r>
              <a:rPr sz="800" spc="-30" dirty="0">
                <a:solidFill>
                  <a:srgbClr val="161412"/>
                </a:solidFill>
                <a:latin typeface="Arial"/>
                <a:cs typeface="Arial"/>
              </a:rPr>
              <a:t> </a:t>
            </a:r>
            <a:r>
              <a:rPr sz="800" dirty="0">
                <a:solidFill>
                  <a:srgbClr val="161412"/>
                </a:solidFill>
                <a:latin typeface="Arial"/>
                <a:cs typeface="Arial"/>
              </a:rPr>
              <a:t>20:379–424,</a:t>
            </a:r>
            <a:r>
              <a:rPr sz="800" spc="15" dirty="0">
                <a:solidFill>
                  <a:srgbClr val="161412"/>
                </a:solidFill>
                <a:latin typeface="Arial"/>
                <a:cs typeface="Arial"/>
              </a:rPr>
              <a:t> </a:t>
            </a:r>
            <a:r>
              <a:rPr sz="800" dirty="0">
                <a:solidFill>
                  <a:srgbClr val="161412"/>
                </a:solidFill>
                <a:latin typeface="Arial"/>
                <a:cs typeface="Arial"/>
              </a:rPr>
              <a:t>1933/1935.</a:t>
            </a:r>
            <a:r>
              <a:rPr sz="800" spc="25" dirty="0">
                <a:solidFill>
                  <a:srgbClr val="161412"/>
                </a:solidFill>
                <a:latin typeface="Arial"/>
                <a:cs typeface="Arial"/>
              </a:rPr>
              <a:t> </a:t>
            </a:r>
            <a:r>
              <a:rPr sz="800" dirty="0">
                <a:solidFill>
                  <a:srgbClr val="161412"/>
                </a:solidFill>
                <a:latin typeface="Arial"/>
                <a:cs typeface="Arial"/>
              </a:rPr>
              <a:t>Modified</a:t>
            </a:r>
            <a:r>
              <a:rPr sz="800" spc="-25" dirty="0">
                <a:solidFill>
                  <a:srgbClr val="161412"/>
                </a:solidFill>
                <a:latin typeface="Arial"/>
                <a:cs typeface="Arial"/>
              </a:rPr>
              <a:t> </a:t>
            </a:r>
            <a:r>
              <a:rPr sz="800" dirty="0">
                <a:solidFill>
                  <a:srgbClr val="161412"/>
                </a:solidFill>
                <a:latin typeface="Arial"/>
                <a:cs typeface="Arial"/>
              </a:rPr>
              <a:t>by</a:t>
            </a:r>
            <a:r>
              <a:rPr sz="800" spc="-15" dirty="0">
                <a:solidFill>
                  <a:srgbClr val="161412"/>
                </a:solidFill>
                <a:latin typeface="Arial"/>
                <a:cs typeface="Arial"/>
              </a:rPr>
              <a:t> </a:t>
            </a:r>
            <a:r>
              <a:rPr sz="800" dirty="0">
                <a:solidFill>
                  <a:srgbClr val="161412"/>
                </a:solidFill>
                <a:latin typeface="Arial"/>
                <a:cs typeface="Arial"/>
              </a:rPr>
              <a:t>McCall</a:t>
            </a:r>
            <a:r>
              <a:rPr sz="800" spc="-30" dirty="0">
                <a:solidFill>
                  <a:srgbClr val="161412"/>
                </a:solidFill>
                <a:latin typeface="Arial"/>
                <a:cs typeface="Arial"/>
              </a:rPr>
              <a:t> </a:t>
            </a:r>
            <a:r>
              <a:rPr sz="800" dirty="0">
                <a:solidFill>
                  <a:srgbClr val="161412"/>
                </a:solidFill>
                <a:latin typeface="Arial"/>
                <a:cs typeface="Arial"/>
              </a:rPr>
              <a:t>and</a:t>
            </a:r>
            <a:r>
              <a:rPr sz="800" spc="-15" dirty="0">
                <a:solidFill>
                  <a:srgbClr val="161412"/>
                </a:solidFill>
                <a:latin typeface="Arial"/>
                <a:cs typeface="Arial"/>
              </a:rPr>
              <a:t> </a:t>
            </a:r>
            <a:r>
              <a:rPr sz="800" dirty="0">
                <a:solidFill>
                  <a:srgbClr val="161412"/>
                </a:solidFill>
                <a:latin typeface="Arial"/>
                <a:cs typeface="Arial"/>
              </a:rPr>
              <a:t>Schour:</a:t>
            </a:r>
            <a:r>
              <a:rPr sz="800" spc="-15" dirty="0">
                <a:solidFill>
                  <a:srgbClr val="161412"/>
                </a:solidFill>
                <a:latin typeface="Arial"/>
                <a:cs typeface="Arial"/>
              </a:rPr>
              <a:t> </a:t>
            </a:r>
            <a:r>
              <a:rPr sz="800" dirty="0">
                <a:solidFill>
                  <a:srgbClr val="161412"/>
                </a:solidFill>
                <a:latin typeface="Arial"/>
                <a:cs typeface="Arial"/>
              </a:rPr>
              <a:t>Schour</a:t>
            </a:r>
            <a:r>
              <a:rPr sz="800" spc="-25" dirty="0">
                <a:solidFill>
                  <a:srgbClr val="161412"/>
                </a:solidFill>
                <a:latin typeface="Arial"/>
                <a:cs typeface="Arial"/>
              </a:rPr>
              <a:t> </a:t>
            </a:r>
            <a:r>
              <a:rPr sz="800" dirty="0">
                <a:solidFill>
                  <a:srgbClr val="161412"/>
                </a:solidFill>
                <a:latin typeface="Arial"/>
                <a:cs typeface="Arial"/>
              </a:rPr>
              <a:t>I,</a:t>
            </a:r>
            <a:r>
              <a:rPr sz="800" spc="-15" dirty="0">
                <a:solidFill>
                  <a:srgbClr val="161412"/>
                </a:solidFill>
                <a:latin typeface="Arial"/>
                <a:cs typeface="Arial"/>
              </a:rPr>
              <a:t> </a:t>
            </a:r>
            <a:r>
              <a:rPr sz="800" dirty="0">
                <a:solidFill>
                  <a:srgbClr val="161412"/>
                </a:solidFill>
                <a:latin typeface="Arial"/>
                <a:cs typeface="Arial"/>
              </a:rPr>
              <a:t>McCall</a:t>
            </a:r>
            <a:r>
              <a:rPr sz="800" spc="-45" dirty="0">
                <a:solidFill>
                  <a:srgbClr val="161412"/>
                </a:solidFill>
                <a:latin typeface="Arial"/>
                <a:cs typeface="Arial"/>
              </a:rPr>
              <a:t> </a:t>
            </a:r>
            <a:r>
              <a:rPr sz="800" dirty="0">
                <a:solidFill>
                  <a:srgbClr val="161412"/>
                </a:solidFill>
                <a:latin typeface="Arial"/>
                <a:cs typeface="Arial"/>
              </a:rPr>
              <a:t>JO.</a:t>
            </a:r>
            <a:r>
              <a:rPr sz="800" spc="-30" dirty="0">
                <a:solidFill>
                  <a:srgbClr val="161412"/>
                </a:solidFill>
                <a:latin typeface="Arial"/>
                <a:cs typeface="Arial"/>
              </a:rPr>
              <a:t> </a:t>
            </a:r>
            <a:r>
              <a:rPr sz="800" dirty="0">
                <a:solidFill>
                  <a:srgbClr val="161412"/>
                </a:solidFill>
                <a:latin typeface="Arial"/>
                <a:cs typeface="Arial"/>
              </a:rPr>
              <a:t>Chronology</a:t>
            </a:r>
            <a:r>
              <a:rPr sz="800" spc="10" dirty="0">
                <a:solidFill>
                  <a:srgbClr val="161412"/>
                </a:solidFill>
                <a:latin typeface="Arial"/>
                <a:cs typeface="Arial"/>
              </a:rPr>
              <a:t> </a:t>
            </a:r>
            <a:r>
              <a:rPr sz="800" dirty="0">
                <a:solidFill>
                  <a:srgbClr val="161412"/>
                </a:solidFill>
                <a:latin typeface="Arial"/>
                <a:cs typeface="Arial"/>
              </a:rPr>
              <a:t>of</a:t>
            </a:r>
            <a:r>
              <a:rPr sz="800" spc="-20" dirty="0">
                <a:solidFill>
                  <a:srgbClr val="161412"/>
                </a:solidFill>
                <a:latin typeface="Arial"/>
                <a:cs typeface="Arial"/>
              </a:rPr>
              <a:t> </a:t>
            </a:r>
            <a:r>
              <a:rPr sz="800" dirty="0">
                <a:solidFill>
                  <a:srgbClr val="161412"/>
                </a:solidFill>
                <a:latin typeface="Arial"/>
                <a:cs typeface="Arial"/>
              </a:rPr>
              <a:t>the</a:t>
            </a:r>
            <a:r>
              <a:rPr sz="800" spc="-25" dirty="0">
                <a:solidFill>
                  <a:srgbClr val="161412"/>
                </a:solidFill>
                <a:latin typeface="Arial"/>
                <a:cs typeface="Arial"/>
              </a:rPr>
              <a:t> </a:t>
            </a:r>
            <a:r>
              <a:rPr sz="800" dirty="0">
                <a:solidFill>
                  <a:srgbClr val="161412"/>
                </a:solidFill>
                <a:latin typeface="Arial"/>
                <a:cs typeface="Arial"/>
              </a:rPr>
              <a:t>human</a:t>
            </a:r>
            <a:r>
              <a:rPr sz="800" spc="-25" dirty="0">
                <a:solidFill>
                  <a:srgbClr val="161412"/>
                </a:solidFill>
                <a:latin typeface="Arial"/>
                <a:cs typeface="Arial"/>
              </a:rPr>
              <a:t> </a:t>
            </a:r>
            <a:r>
              <a:rPr sz="800" dirty="0">
                <a:solidFill>
                  <a:srgbClr val="161412"/>
                </a:solidFill>
                <a:latin typeface="Arial"/>
                <a:cs typeface="Arial"/>
              </a:rPr>
              <a:t>dentition.</a:t>
            </a:r>
            <a:r>
              <a:rPr sz="800" spc="-5" dirty="0">
                <a:solidFill>
                  <a:srgbClr val="161412"/>
                </a:solidFill>
                <a:latin typeface="Arial"/>
                <a:cs typeface="Arial"/>
              </a:rPr>
              <a:t> </a:t>
            </a:r>
            <a:r>
              <a:rPr sz="800" spc="-60" dirty="0">
                <a:solidFill>
                  <a:srgbClr val="161412"/>
                </a:solidFill>
                <a:latin typeface="Arial"/>
                <a:cs typeface="Arial"/>
              </a:rPr>
              <a:t>I</a:t>
            </a:r>
            <a:r>
              <a:rPr sz="800" spc="-60" dirty="0">
                <a:solidFill>
                  <a:srgbClr val="2B1D37"/>
                </a:solidFill>
                <a:latin typeface="Arial"/>
                <a:cs typeface="Arial"/>
              </a:rPr>
              <a:t>4</a:t>
            </a:r>
            <a:r>
              <a:rPr sz="800" spc="-60" dirty="0">
                <a:solidFill>
                  <a:srgbClr val="161412"/>
                </a:solidFill>
                <a:latin typeface="Arial"/>
                <a:cs typeface="Arial"/>
              </a:rPr>
              <a:t>n</a:t>
            </a:r>
            <a:r>
              <a:rPr sz="800" spc="-60" dirty="0">
                <a:solidFill>
                  <a:srgbClr val="2B1D37"/>
                </a:solidFill>
                <a:latin typeface="Arial"/>
                <a:cs typeface="Arial"/>
              </a:rPr>
              <a:t>3</a:t>
            </a:r>
            <a:r>
              <a:rPr sz="800" spc="-60" dirty="0">
                <a:solidFill>
                  <a:srgbClr val="161412"/>
                </a:solidFill>
                <a:latin typeface="Arial"/>
                <a:cs typeface="Arial"/>
              </a:rPr>
              <a:t>:</a:t>
            </a:r>
            <a:r>
              <a:rPr sz="800" dirty="0">
                <a:solidFill>
                  <a:srgbClr val="161412"/>
                </a:solidFill>
                <a:latin typeface="Arial"/>
                <a:cs typeface="Arial"/>
              </a:rPr>
              <a:t> Orban</a:t>
            </a:r>
            <a:r>
              <a:rPr sz="800" spc="-10" dirty="0">
                <a:solidFill>
                  <a:srgbClr val="161412"/>
                </a:solidFill>
                <a:latin typeface="Arial"/>
                <a:cs typeface="Arial"/>
              </a:rPr>
              <a:t> </a:t>
            </a:r>
            <a:r>
              <a:rPr sz="800" dirty="0">
                <a:solidFill>
                  <a:srgbClr val="161412"/>
                </a:solidFill>
                <a:latin typeface="Arial"/>
                <a:cs typeface="Arial"/>
              </a:rPr>
              <a:t>B,</a:t>
            </a:r>
            <a:r>
              <a:rPr sz="800" spc="-30" dirty="0">
                <a:solidFill>
                  <a:srgbClr val="161412"/>
                </a:solidFill>
                <a:latin typeface="Arial"/>
                <a:cs typeface="Arial"/>
              </a:rPr>
              <a:t> </a:t>
            </a:r>
            <a:r>
              <a:rPr sz="800" dirty="0">
                <a:solidFill>
                  <a:srgbClr val="161412"/>
                </a:solidFill>
                <a:latin typeface="Arial"/>
                <a:cs typeface="Arial"/>
              </a:rPr>
              <a:t>ed.</a:t>
            </a:r>
            <a:r>
              <a:rPr sz="800" spc="-5" dirty="0">
                <a:solidFill>
                  <a:srgbClr val="161412"/>
                </a:solidFill>
                <a:latin typeface="Arial"/>
                <a:cs typeface="Arial"/>
              </a:rPr>
              <a:t> </a:t>
            </a:r>
            <a:r>
              <a:rPr sz="800" dirty="0">
                <a:solidFill>
                  <a:srgbClr val="161412"/>
                </a:solidFill>
                <a:latin typeface="Arial"/>
                <a:cs typeface="Arial"/>
              </a:rPr>
              <a:t>Oral</a:t>
            </a:r>
            <a:r>
              <a:rPr sz="800" spc="-15" dirty="0">
                <a:solidFill>
                  <a:srgbClr val="161412"/>
                </a:solidFill>
                <a:latin typeface="Arial"/>
                <a:cs typeface="Arial"/>
              </a:rPr>
              <a:t> </a:t>
            </a:r>
            <a:r>
              <a:rPr sz="800" dirty="0">
                <a:solidFill>
                  <a:srgbClr val="161412"/>
                </a:solidFill>
                <a:latin typeface="Arial"/>
                <a:cs typeface="Arial"/>
              </a:rPr>
              <a:t>histology</a:t>
            </a:r>
            <a:r>
              <a:rPr sz="800" spc="-30" dirty="0">
                <a:solidFill>
                  <a:srgbClr val="161412"/>
                </a:solidFill>
                <a:latin typeface="Arial"/>
                <a:cs typeface="Arial"/>
              </a:rPr>
              <a:t> </a:t>
            </a:r>
            <a:r>
              <a:rPr sz="800" dirty="0">
                <a:solidFill>
                  <a:srgbClr val="161412"/>
                </a:solidFill>
                <a:latin typeface="Arial"/>
                <a:cs typeface="Arial"/>
              </a:rPr>
              <a:t>and</a:t>
            </a:r>
            <a:r>
              <a:rPr sz="800" spc="-15" dirty="0">
                <a:solidFill>
                  <a:srgbClr val="161412"/>
                </a:solidFill>
                <a:latin typeface="Arial"/>
                <a:cs typeface="Arial"/>
              </a:rPr>
              <a:t> </a:t>
            </a:r>
            <a:r>
              <a:rPr sz="800" dirty="0">
                <a:solidFill>
                  <a:srgbClr val="161412"/>
                </a:solidFill>
                <a:latin typeface="Arial"/>
                <a:cs typeface="Arial"/>
              </a:rPr>
              <a:t>embryology.</a:t>
            </a:r>
            <a:r>
              <a:rPr sz="800" spc="-5" dirty="0">
                <a:solidFill>
                  <a:srgbClr val="161412"/>
                </a:solidFill>
                <a:latin typeface="Arial"/>
                <a:cs typeface="Arial"/>
              </a:rPr>
              <a:t> </a:t>
            </a:r>
            <a:r>
              <a:rPr sz="800" dirty="0">
                <a:solidFill>
                  <a:srgbClr val="161412"/>
                </a:solidFill>
                <a:latin typeface="Arial"/>
                <a:cs typeface="Arial"/>
              </a:rPr>
              <a:t>St.</a:t>
            </a:r>
            <a:r>
              <a:rPr sz="800" spc="-25" dirty="0">
                <a:solidFill>
                  <a:srgbClr val="161412"/>
                </a:solidFill>
                <a:latin typeface="Arial"/>
                <a:cs typeface="Arial"/>
              </a:rPr>
              <a:t> </a:t>
            </a:r>
            <a:r>
              <a:rPr sz="800" dirty="0">
                <a:solidFill>
                  <a:srgbClr val="161412"/>
                </a:solidFill>
                <a:latin typeface="Arial"/>
                <a:cs typeface="Arial"/>
              </a:rPr>
              <a:t>Louis,</a:t>
            </a:r>
            <a:r>
              <a:rPr sz="800" spc="-15" dirty="0">
                <a:solidFill>
                  <a:srgbClr val="161412"/>
                </a:solidFill>
                <a:latin typeface="Arial"/>
                <a:cs typeface="Arial"/>
              </a:rPr>
              <a:t> </a:t>
            </a:r>
            <a:r>
              <a:rPr sz="800" dirty="0">
                <a:solidFill>
                  <a:srgbClr val="161412"/>
                </a:solidFill>
                <a:latin typeface="Arial"/>
                <a:cs typeface="Arial"/>
              </a:rPr>
              <a:t>MO:</a:t>
            </a:r>
            <a:r>
              <a:rPr sz="800" spc="-25" dirty="0">
                <a:solidFill>
                  <a:srgbClr val="161412"/>
                </a:solidFill>
                <a:latin typeface="Arial"/>
                <a:cs typeface="Arial"/>
              </a:rPr>
              <a:t> </a:t>
            </a:r>
            <a:r>
              <a:rPr sz="800" dirty="0">
                <a:solidFill>
                  <a:srgbClr val="161412"/>
                </a:solidFill>
                <a:latin typeface="Arial"/>
                <a:cs typeface="Arial"/>
              </a:rPr>
              <a:t>C.V.</a:t>
            </a:r>
            <a:r>
              <a:rPr sz="800" spc="-30" dirty="0">
                <a:solidFill>
                  <a:srgbClr val="161412"/>
                </a:solidFill>
                <a:latin typeface="Arial"/>
                <a:cs typeface="Arial"/>
              </a:rPr>
              <a:t> </a:t>
            </a:r>
            <a:r>
              <a:rPr sz="800" dirty="0">
                <a:solidFill>
                  <a:srgbClr val="161412"/>
                </a:solidFill>
                <a:latin typeface="Arial"/>
                <a:cs typeface="Arial"/>
              </a:rPr>
              <a:t>Mosby,</a:t>
            </a:r>
            <a:r>
              <a:rPr sz="800" spc="-5" dirty="0">
                <a:solidFill>
                  <a:srgbClr val="161412"/>
                </a:solidFill>
                <a:latin typeface="Arial"/>
                <a:cs typeface="Arial"/>
              </a:rPr>
              <a:t> </a:t>
            </a:r>
            <a:r>
              <a:rPr sz="800" spc="-10" dirty="0">
                <a:solidFill>
                  <a:srgbClr val="161412"/>
                </a:solidFill>
                <a:latin typeface="Arial"/>
                <a:cs typeface="Arial"/>
              </a:rPr>
              <a:t>1944:240.</a:t>
            </a:r>
            <a:endParaRPr sz="800" dirty="0">
              <a:latin typeface="Arial"/>
              <a:cs typeface="Arial"/>
            </a:endParaRPr>
          </a:p>
        </p:txBody>
      </p:sp>
    </p:spTree>
    <p:extLst>
      <p:ext uri="{BB962C8B-B14F-4D97-AF65-F5344CB8AC3E}">
        <p14:creationId xmlns:p14="http://schemas.microsoft.com/office/powerpoint/2010/main" val="3374107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C5C4D3-8806-95E2-DD8A-8D18D9FF305C}"/>
              </a:ext>
            </a:extLst>
          </p:cNvPr>
          <p:cNvSpPr>
            <a:spLocks noGrp="1"/>
          </p:cNvSpPr>
          <p:nvPr>
            <p:ph sz="quarter" idx="10"/>
          </p:nvPr>
        </p:nvSpPr>
        <p:spPr/>
        <p:txBody>
          <a:bodyPr/>
          <a:lstStyle/>
          <a:p>
            <a:endParaRPr lang="en-AU"/>
          </a:p>
        </p:txBody>
      </p:sp>
      <p:sp>
        <p:nvSpPr>
          <p:cNvPr id="3" name="Title 2">
            <a:extLst>
              <a:ext uri="{FF2B5EF4-FFF2-40B4-BE49-F238E27FC236}">
                <a16:creationId xmlns:a16="http://schemas.microsoft.com/office/drawing/2014/main" id="{E9FA1AF2-345D-930B-FF94-0D84FC968C50}"/>
              </a:ext>
            </a:extLst>
          </p:cNvPr>
          <p:cNvSpPr>
            <a:spLocks noGrp="1"/>
          </p:cNvSpPr>
          <p:nvPr>
            <p:ph type="title"/>
          </p:nvPr>
        </p:nvSpPr>
        <p:spPr/>
        <p:txBody>
          <a:bodyPr/>
          <a:lstStyle/>
          <a:p>
            <a:r>
              <a:rPr lang="en-AU" dirty="0"/>
              <a:t>Permanent dentition eruption timing</a:t>
            </a:r>
          </a:p>
        </p:txBody>
      </p:sp>
      <p:sp>
        <p:nvSpPr>
          <p:cNvPr id="4" name="Text Placeholder 3">
            <a:extLst>
              <a:ext uri="{FF2B5EF4-FFF2-40B4-BE49-F238E27FC236}">
                <a16:creationId xmlns:a16="http://schemas.microsoft.com/office/drawing/2014/main" id="{C372DD58-7E09-8684-D5C5-5B9954B8BC03}"/>
              </a:ext>
            </a:extLst>
          </p:cNvPr>
          <p:cNvSpPr>
            <a:spLocks noGrp="1"/>
          </p:cNvSpPr>
          <p:nvPr>
            <p:ph type="body" sz="quarter" idx="15"/>
          </p:nvPr>
        </p:nvSpPr>
        <p:spPr/>
        <p:txBody>
          <a:bodyPr/>
          <a:lstStyle/>
          <a:p>
            <a:endParaRPr lang="en-AU"/>
          </a:p>
        </p:txBody>
      </p:sp>
      <p:sp>
        <p:nvSpPr>
          <p:cNvPr id="5" name="Footer Placeholder 4">
            <a:extLst>
              <a:ext uri="{FF2B5EF4-FFF2-40B4-BE49-F238E27FC236}">
                <a16:creationId xmlns:a16="http://schemas.microsoft.com/office/drawing/2014/main" id="{F80F9D6E-2550-71F6-0F77-F9ED3E2B2270}"/>
              </a:ext>
            </a:extLst>
          </p:cNvPr>
          <p:cNvSpPr>
            <a:spLocks noGrp="1"/>
          </p:cNvSpPr>
          <p:nvPr>
            <p:ph type="ftr" sz="quarter" idx="17"/>
          </p:nvPr>
        </p:nvSpPr>
        <p:spPr/>
        <p:txBody>
          <a:bodyPr/>
          <a:lstStyle/>
          <a:p>
            <a:r>
              <a:rPr lang="en-AU"/>
              <a:t>[Presentation Title] | [Date]</a:t>
            </a:r>
            <a:endParaRPr lang="en-AU" dirty="0"/>
          </a:p>
        </p:txBody>
      </p:sp>
      <p:sp>
        <p:nvSpPr>
          <p:cNvPr id="6" name="Slide Number Placeholder 5">
            <a:extLst>
              <a:ext uri="{FF2B5EF4-FFF2-40B4-BE49-F238E27FC236}">
                <a16:creationId xmlns:a16="http://schemas.microsoft.com/office/drawing/2014/main" id="{517B0153-6D1F-7D06-8C08-7A27DB19F282}"/>
              </a:ext>
            </a:extLst>
          </p:cNvPr>
          <p:cNvSpPr>
            <a:spLocks noGrp="1"/>
          </p:cNvSpPr>
          <p:nvPr>
            <p:ph type="sldNum" sz="quarter" idx="18"/>
          </p:nvPr>
        </p:nvSpPr>
        <p:spPr/>
        <p:txBody>
          <a:bodyPr/>
          <a:lstStyle/>
          <a:p>
            <a:fld id="{E917DE0E-AFB1-41FD-BC35-27DB61CA125F}" type="slidenum">
              <a:rPr lang="en-AU" smtClean="0"/>
              <a:pPr/>
              <a:t>38</a:t>
            </a:fld>
            <a:endParaRPr lang="en-AU" dirty="0"/>
          </a:p>
        </p:txBody>
      </p:sp>
      <p:sp>
        <p:nvSpPr>
          <p:cNvPr id="7" name="Date Placeholder 6">
            <a:extLst>
              <a:ext uri="{FF2B5EF4-FFF2-40B4-BE49-F238E27FC236}">
                <a16:creationId xmlns:a16="http://schemas.microsoft.com/office/drawing/2014/main" id="{BEB628DE-5A0D-5FC2-A8B1-EAC3BB16FC8A}"/>
              </a:ext>
            </a:extLst>
          </p:cNvPr>
          <p:cNvSpPr>
            <a:spLocks noGrp="1"/>
          </p:cNvSpPr>
          <p:nvPr>
            <p:ph type="dt" sz="half" idx="2"/>
          </p:nvPr>
        </p:nvSpPr>
        <p:spPr/>
        <p:txBody>
          <a:bodyPr/>
          <a:lstStyle/>
          <a:p>
            <a:r>
              <a:rPr lang="en-US"/>
              <a:t>[Entity Name]</a:t>
            </a:r>
            <a:endParaRPr lang="en-AU" dirty="0"/>
          </a:p>
        </p:txBody>
      </p:sp>
      <p:pic>
        <p:nvPicPr>
          <p:cNvPr id="8" name="object 3">
            <a:extLst>
              <a:ext uri="{FF2B5EF4-FFF2-40B4-BE49-F238E27FC236}">
                <a16:creationId xmlns:a16="http://schemas.microsoft.com/office/drawing/2014/main" id="{82CD99CF-8894-9E30-6B23-76C4109867D1}"/>
              </a:ext>
            </a:extLst>
          </p:cNvPr>
          <p:cNvPicPr/>
          <p:nvPr/>
        </p:nvPicPr>
        <p:blipFill>
          <a:blip r:embed="rId2" cstate="print"/>
          <a:stretch>
            <a:fillRect/>
          </a:stretch>
        </p:blipFill>
        <p:spPr>
          <a:xfrm>
            <a:off x="2703507" y="1684778"/>
            <a:ext cx="6778751" cy="4800599"/>
          </a:xfrm>
          <a:prstGeom prst="rect">
            <a:avLst/>
          </a:prstGeom>
        </p:spPr>
      </p:pic>
    </p:spTree>
    <p:extLst>
      <p:ext uri="{BB962C8B-B14F-4D97-AF65-F5344CB8AC3E}">
        <p14:creationId xmlns:p14="http://schemas.microsoft.com/office/powerpoint/2010/main" val="221680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ysClr val="windowText" lastClr="000000"/>
      </a:dk1>
      <a:lt1>
        <a:sysClr val="window" lastClr="FFFFFF"/>
      </a:lt1>
      <a:dk2>
        <a:srgbClr val="44546A"/>
      </a:dk2>
      <a:lt2>
        <a:srgbClr val="E7E6E6"/>
      </a:lt2>
      <a:accent1>
        <a:srgbClr val="51247A"/>
      </a:accent1>
      <a:accent2>
        <a:srgbClr val="E62645"/>
      </a:accent2>
      <a:accent3>
        <a:srgbClr val="00A2C7"/>
      </a:accent3>
      <a:accent4>
        <a:srgbClr val="EB602B"/>
      </a:accent4>
      <a:accent5>
        <a:srgbClr val="4085C6"/>
      </a:accent5>
      <a:accent6>
        <a:srgbClr val="2EA836"/>
      </a:accent6>
      <a:hlink>
        <a:srgbClr val="51247A"/>
      </a:hlink>
      <a:folHlink>
        <a:srgbClr val="51247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2562</TotalTime>
  <Words>3160</Words>
  <Application>Microsoft Office PowerPoint</Application>
  <PresentationFormat>Widescreen</PresentationFormat>
  <Paragraphs>374</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Wingdings</vt:lpstr>
      <vt:lpstr>University of Queensland</vt:lpstr>
      <vt:lpstr>Tooth morphology I, eruption timings</vt:lpstr>
      <vt:lpstr>Learning objectives</vt:lpstr>
      <vt:lpstr>UQ anatomy resources</vt:lpstr>
      <vt:lpstr>The dentition</vt:lpstr>
      <vt:lpstr>PowerPoint Presentation</vt:lpstr>
      <vt:lpstr>Functions of the dentition</vt:lpstr>
      <vt:lpstr>Anatomy of the dentition</vt:lpstr>
      <vt:lpstr>Layers of the tooth</vt:lpstr>
      <vt:lpstr>Types of teeth</vt:lpstr>
      <vt:lpstr>Directional terminology of the dentition</vt:lpstr>
      <vt:lpstr>Functions of teeth by type</vt:lpstr>
      <vt:lpstr>PowerPoint Presentation</vt:lpstr>
      <vt:lpstr>Tooth numbering system</vt:lpstr>
      <vt:lpstr>Characteristics of teeth</vt:lpstr>
      <vt:lpstr>Cusps</vt:lpstr>
      <vt:lpstr>The canine has an incisal surface, but a cusp tip</vt:lpstr>
      <vt:lpstr>Ridge</vt:lpstr>
      <vt:lpstr>Triangular ridge</vt:lpstr>
      <vt:lpstr>Transverse ridge</vt:lpstr>
      <vt:lpstr>Oblique ridge</vt:lpstr>
      <vt:lpstr>Marginal ridge</vt:lpstr>
      <vt:lpstr>Cusp ridge</vt:lpstr>
      <vt:lpstr>Occlusal contact</vt:lpstr>
      <vt:lpstr>Cervical ridge</vt:lpstr>
      <vt:lpstr>Back to anteriors, elevation</vt:lpstr>
      <vt:lpstr>Elevations 2</vt:lpstr>
      <vt:lpstr>Developmental lobes</vt:lpstr>
      <vt:lpstr>Back to posteriors, grooves &amp; fossae</vt:lpstr>
      <vt:lpstr>Naming of grooves and fossa</vt:lpstr>
      <vt:lpstr>Pits and fissures</vt:lpstr>
      <vt:lpstr>Height of contour</vt:lpstr>
      <vt:lpstr>Contact point</vt:lpstr>
      <vt:lpstr>Interproximal spacing</vt:lpstr>
      <vt:lpstr>Embrasure space</vt:lpstr>
      <vt:lpstr>PowerPoint Presentation</vt:lpstr>
      <vt:lpstr>The overall outline form</vt:lpstr>
      <vt:lpstr>Primary dentition eruption timing</vt:lpstr>
      <vt:lpstr>Permanent dentition eruption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tim lee</cp:lastModifiedBy>
  <cp:revision>103</cp:revision>
  <dcterms:created xsi:type="dcterms:W3CDTF">2018-09-28T01:38:30Z</dcterms:created>
  <dcterms:modified xsi:type="dcterms:W3CDTF">2026-02-11T03:07:13Z</dcterms:modified>
</cp:coreProperties>
</file>